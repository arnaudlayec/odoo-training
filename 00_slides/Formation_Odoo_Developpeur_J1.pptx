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</p:sldIdLst>
  <p:sldSz cy="6858000" cx="9906000"/>
  <p:notesSz cx="6858000" cy="9144000"/>
  <p:embeddedFontLst>
    <p:embeddedFont>
      <p:font typeface="Tahoma"/>
      <p:regular r:id="rId67"/>
      <p:bold r:id="rId68"/>
    </p:embeddedFont>
    <p:embeddedFont>
      <p:font typeface="Roboto Mono"/>
      <p:regular r:id="rId69"/>
      <p:bold r:id="rId70"/>
      <p:italic r:id="rId71"/>
      <p:boldItalic r:id="rId7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73" roundtripDataSignature="AMtx7mgwbepLxC39F4PwvaAxsg3M1Kuw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EDB087D-598B-4024-8A61-DCB6C5ED28FB}">
  <a:tblStyle styleId="{3EDB087D-598B-4024-8A61-DCB6C5ED28F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96AE6E51-4A5E-41A3-BEF3-BEBD5F100DF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customschemas.google.com/relationships/presentationmetadata" Target="metadata"/><Relationship Id="rId72" Type="http://schemas.openxmlformats.org/officeDocument/2006/relationships/font" Target="fonts/RobotoMono-boldItalic.fntdata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font" Target="fonts/RobotoMono-italic.fntdata"/><Relationship Id="rId70" Type="http://schemas.openxmlformats.org/officeDocument/2006/relationships/font" Target="fonts/RobotoMono-bold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font" Target="fonts/Tahoma-bold.fntdata"/><Relationship Id="rId23" Type="http://schemas.openxmlformats.org/officeDocument/2006/relationships/slide" Target="slides/slide18.xml"/><Relationship Id="rId67" Type="http://schemas.openxmlformats.org/officeDocument/2006/relationships/font" Target="fonts/Tahoma-regular.fntdata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RobotoMono-regular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fr-F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2" name="Google Shape;232;p2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f83e393ca9_0_1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g3f83e393ca9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apprenants</a:t>
            </a:r>
            <a:endParaRPr/>
          </a:p>
        </p:txBody>
      </p:sp>
      <p:sp>
        <p:nvSpPr>
          <p:cNvPr id="239" name="Google Shape;239;g3f83e393ca9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f83fd878ef_0_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8" name="Google Shape;248;g3f83fd878ef_0_51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f83fd878ef_0_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9" name="Google Shape;259;g3f83fd878ef_0_77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f8a5c5757b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2" name="Google Shape;292;g3f8a5c5757b_0_4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7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Poser le cadre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8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Séance 1 _ introduction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8a5c5757b_0_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8" name="Google Shape;328;g3f8a5c5757b_0_89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f8a5c5757b_0_1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4" name="Google Shape;334;g3f8a5c5757b_0_105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f8a5c5757b_0_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1" name="Google Shape;341;g3f8a5c5757b_0_67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f83fd878ef_0_2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3" name="Google Shape;353;g3f83fd878ef_0_215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f8a5c5757b_0_1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9" name="Google Shape;359;g3f8a5c5757b_0_141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f8a5c5757b_0_1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7" name="Google Shape;367;g3f8a5c5757b_0_151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f8a5c5757b_0_239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g3f8a5c5757b_0_2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Partage des flux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f8a5c5757b_0_47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9" name="Google Shape;379;g3f8a5c5757b_0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10h30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f83fd878ef_0_196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g3f83fd878ef_0_1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Séance 1 _ introduction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f83fd878ef_0_1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1" name="Google Shape;391;g3f83fd878ef_0_180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7" name="Google Shape;397;p9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4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Démonstrative – 1 heure pas à pas – prendre le temps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f8a5c5757b_0_168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" name="Google Shape;411;g3f8a5c5757b_0_1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Démonstrative – 1 heure pas à pas – prendre le temps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f8a5c5757b_0_199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g3f8a5c5757b_0_1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Démonstrative – 1 heure pas à pas – prendre le temps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f8a5c5757b_0_2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5" name="Google Shape;425;g3f8a5c5757b_0_224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f8a5c5757b_0_251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6" name="Google Shape;436;g3f8a5c5757b_0_2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Partage des flux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2" name="Google Shape;442;p13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9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90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f83fd878ef_0_2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4" name="Google Shape;454;g3f83fd878ef_0_262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f8a5c5757b_0_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4" name="Google Shape;464;g3f8a5c5757b_0_52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7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0" name="Google Shape;470;p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Partage des flux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6" name="Google Shape;476;p18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9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1" name="Google Shape;48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Déjeuner 12h30 – emargement matin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7" name="Google Shape;487;p20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f83fd878ef_0_294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" name="Google Shape;493;g3f83fd878ef_0_2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Des questions, des outils à revoir 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f83fd878ef_0_300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0" name="Google Shape;500;g3f83fd878ef_0_3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Des questions, des outils à revoir 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f83fd878ef_0_3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7" name="Google Shape;507;g3f83fd878ef_0_315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f8a5c5757b_0_257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7" name="Google Shape;517;g3f8a5c5757b_0_2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Partage des flux</a:t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f83fd878ef_0_3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3" name="Google Shape;523;g3f83fd878ef_0_328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f83fd878ef_0_3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g3f83fd878ef_0_362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f83fd878ef_0_4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g3f83fd878ef_0_400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9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91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f83fd878ef_0_3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g3f83fd878ef_0_382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f83fd878ef_0_4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4" name="Google Shape;564;g3f83fd878ef_0_417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f8a5c5757b_0_266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4" name="Google Shape;574;g3f8a5c5757b_0_2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Partage des flux</a:t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24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0" name="Google Shape;580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10h30</a:t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6" name="Google Shape;586;p25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2" name="Google Shape;592;p26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3f83fd878ef_0_4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3" name="Google Shape;603;g3f83fd878ef_0_434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f83fd878ef_0_4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8" name="Google Shape;618;g3f83fd878ef_0_450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f8a5c5757b_0_274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8" name="Google Shape;628;g3f8a5c5757b_0_2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Partage des flux</a:t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f83fd878ef_0_3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4" name="Google Shape;634;g3f83fd878ef_0_341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3f8a5c5757b_0_2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g3f8a5c5757b_0_299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3f8a5c5757b_0_3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g3f8a5c5757b_0_318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f8a5c5757b_0_3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g3f8a5c5757b_0_360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f8a5c5757b_0_3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g3f8a5c5757b_0_376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f8a5c5757b_0_3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g3f8a5c5757b_0_395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3f8a5c5757b_0_4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g3f8a5c5757b_0_412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3f8a5c5757b_0_4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g3f8a5c5757b_0_426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3f8a5c5757b_0_3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g3f8a5c5757b_0_336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3f8a5c5757b_0_4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1" name="Google Shape;701;g3f8a5c5757b_0_440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29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2" name="Google Shape;712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Tour de table</a:t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3f83fd878ef_0_3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8" name="Google Shape;718;g3f83fd878ef_0_346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6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2.jpg"/><Relationship Id="rId4" Type="http://schemas.openxmlformats.org/officeDocument/2006/relationships/hyperlink" Target="mailto:formation@ambient-it.net" TargetMode="Externa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Titre">
  <p:cSld name="3 Titr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3"/>
          <p:cNvSpPr txBox="1"/>
          <p:nvPr>
            <p:ph type="title"/>
          </p:nvPr>
        </p:nvSpPr>
        <p:spPr>
          <a:xfrm>
            <a:off x="4953000" y="2851152"/>
            <a:ext cx="4822480" cy="577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3"/>
          <p:cNvSpPr/>
          <p:nvPr/>
        </p:nvSpPr>
        <p:spPr>
          <a:xfrm>
            <a:off x="4953000" y="3519487"/>
            <a:ext cx="904875" cy="0"/>
          </a:xfrm>
          <a:custGeom>
            <a:rect b="b" l="l" r="r" t="t"/>
            <a:pathLst>
              <a:path extrusionOk="0" h="120000" w="904875">
                <a:moveTo>
                  <a:pt x="0" y="0"/>
                </a:moveTo>
                <a:lnTo>
                  <a:pt x="904874" y="0"/>
                </a:lnTo>
              </a:path>
            </a:pathLst>
          </a:custGeom>
          <a:noFill/>
          <a:ln cap="flat" cmpd="sng" w="38075">
            <a:solidFill>
              <a:srgbClr val="F1E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" name="Google Shape;18;p63"/>
          <p:cNvSpPr txBox="1"/>
          <p:nvPr>
            <p:ph idx="1" type="body"/>
          </p:nvPr>
        </p:nvSpPr>
        <p:spPr>
          <a:xfrm>
            <a:off x="5019675" y="3648075"/>
            <a:ext cx="4713288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9" name="Google Shape;19;p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1"/>
            <a:ext cx="4514850" cy="6857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286" y="836963"/>
            <a:ext cx="3819524" cy="704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ilosophie">
  <p:cSld name="philosophi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4"/>
          <p:cNvSpPr/>
          <p:nvPr/>
        </p:nvSpPr>
        <p:spPr>
          <a:xfrm>
            <a:off x="9555161" y="6531391"/>
            <a:ext cx="268288" cy="244952"/>
          </a:xfrm>
          <a:custGeom>
            <a:rect b="b" l="l" r="r" t="t"/>
            <a:pathLst>
              <a:path extrusionOk="0" h="228600" w="247650">
                <a:moveTo>
                  <a:pt x="247649" y="228599"/>
                </a:moveTo>
                <a:lnTo>
                  <a:pt x="0" y="228599"/>
                </a:lnTo>
                <a:lnTo>
                  <a:pt x="0" y="0"/>
                </a:lnTo>
                <a:lnTo>
                  <a:pt x="247649" y="0"/>
                </a:lnTo>
                <a:lnTo>
                  <a:pt x="247649" y="228599"/>
                </a:lnTo>
                <a:close/>
              </a:path>
            </a:pathLst>
          </a:custGeom>
          <a:solidFill>
            <a:srgbClr val="FFFFFF">
              <a:alpha val="30196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3" name="Google Shape;23;p64"/>
          <p:cNvGrpSpPr/>
          <p:nvPr/>
        </p:nvGrpSpPr>
        <p:grpSpPr>
          <a:xfrm>
            <a:off x="10296" y="-1"/>
            <a:ext cx="9751178" cy="6875999"/>
            <a:chOff x="10296" y="0"/>
            <a:chExt cx="9133703" cy="6657974"/>
          </a:xfrm>
        </p:grpSpPr>
        <p:pic>
          <p:nvPicPr>
            <p:cNvPr id="24" name="Google Shape;24;p6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0296" y="0"/>
              <a:ext cx="4448174" cy="66579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" name="Google Shape;25;p64"/>
            <p:cNvSpPr/>
            <p:nvPr/>
          </p:nvSpPr>
          <p:spPr>
            <a:xfrm>
              <a:off x="3809999" y="190499"/>
              <a:ext cx="5334000" cy="5810250"/>
            </a:xfrm>
            <a:custGeom>
              <a:rect b="b" l="l" r="r" t="t"/>
              <a:pathLst>
                <a:path extrusionOk="0" h="5810250" w="5334000">
                  <a:moveTo>
                    <a:pt x="5333999" y="5810249"/>
                  </a:moveTo>
                  <a:lnTo>
                    <a:pt x="0" y="5810249"/>
                  </a:lnTo>
                  <a:lnTo>
                    <a:pt x="0" y="0"/>
                  </a:lnTo>
                  <a:lnTo>
                    <a:pt x="5333999" y="0"/>
                  </a:lnTo>
                  <a:lnTo>
                    <a:pt x="5333999" y="5810249"/>
                  </a:lnTo>
                  <a:close/>
                </a:path>
              </a:pathLst>
            </a:custGeom>
            <a:solidFill>
              <a:srgbClr val="F1EC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6" name="Google Shape;26;p64"/>
            <p:cNvSpPr/>
            <p:nvPr/>
          </p:nvSpPr>
          <p:spPr>
            <a:xfrm>
              <a:off x="3809999" y="190499"/>
              <a:ext cx="5334000" cy="5810250"/>
            </a:xfrm>
            <a:custGeom>
              <a:rect b="b" l="l" r="r" t="t"/>
              <a:pathLst>
                <a:path extrusionOk="0" h="5810250" w="5334000">
                  <a:moveTo>
                    <a:pt x="0" y="0"/>
                  </a:moveTo>
                  <a:lnTo>
                    <a:pt x="5333999" y="0"/>
                  </a:lnTo>
                  <a:lnTo>
                    <a:pt x="5333999" y="5810249"/>
                  </a:lnTo>
                  <a:lnTo>
                    <a:pt x="0" y="581024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76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7" name="Google Shape;27;p64"/>
            <p:cNvSpPr/>
            <p:nvPr/>
          </p:nvSpPr>
          <p:spPr>
            <a:xfrm>
              <a:off x="4298746" y="1409699"/>
              <a:ext cx="952500" cy="0"/>
            </a:xfrm>
            <a:custGeom>
              <a:rect b="b" l="l" r="r" t="t"/>
              <a:pathLst>
                <a:path extrusionOk="0" h="120000" w="952500">
                  <a:moveTo>
                    <a:pt x="0" y="0"/>
                  </a:moveTo>
                  <a:lnTo>
                    <a:pt x="952499" y="0"/>
                  </a:lnTo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28" name="Google Shape;28;p64"/>
          <p:cNvSpPr txBox="1"/>
          <p:nvPr>
            <p:ph type="title"/>
          </p:nvPr>
        </p:nvSpPr>
        <p:spPr>
          <a:xfrm>
            <a:off x="4588662" y="803277"/>
            <a:ext cx="4822480" cy="577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4"/>
          <p:cNvSpPr txBox="1"/>
          <p:nvPr>
            <p:ph idx="1" type="body"/>
          </p:nvPr>
        </p:nvSpPr>
        <p:spPr>
          <a:xfrm>
            <a:off x="4655337" y="1600200"/>
            <a:ext cx="4713288" cy="4267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5"/>
          <p:cNvSpPr txBox="1"/>
          <p:nvPr>
            <p:ph type="title"/>
          </p:nvPr>
        </p:nvSpPr>
        <p:spPr>
          <a:xfrm>
            <a:off x="681038" y="307978"/>
            <a:ext cx="8543925" cy="577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5"/>
          <p:cNvSpPr txBox="1"/>
          <p:nvPr>
            <p:ph idx="1" type="body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5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5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5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36" name="Google Shape;36;p65"/>
          <p:cNvSpPr/>
          <p:nvPr/>
        </p:nvSpPr>
        <p:spPr>
          <a:xfrm>
            <a:off x="4543425" y="909637"/>
            <a:ext cx="904875" cy="0"/>
          </a:xfrm>
          <a:custGeom>
            <a:rect b="b" l="l" r="r" t="t"/>
            <a:pathLst>
              <a:path extrusionOk="0" h="120000" w="904875">
                <a:moveTo>
                  <a:pt x="0" y="0"/>
                </a:moveTo>
                <a:lnTo>
                  <a:pt x="904874" y="0"/>
                </a:lnTo>
              </a:path>
            </a:pathLst>
          </a:custGeom>
          <a:noFill/>
          <a:ln cap="flat" cmpd="sng" w="38075">
            <a:solidFill>
              <a:srgbClr val="F1E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 feuille titre">
  <p:cSld name="5 feuille titre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2271" y="885826"/>
            <a:ext cx="6233729" cy="5972174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66"/>
          <p:cNvSpPr txBox="1"/>
          <p:nvPr>
            <p:ph type="title"/>
          </p:nvPr>
        </p:nvSpPr>
        <p:spPr>
          <a:xfrm>
            <a:off x="681038" y="307978"/>
            <a:ext cx="8543925" cy="577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6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6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6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43" name="Google Shape;43;p66"/>
          <p:cNvSpPr/>
          <p:nvPr/>
        </p:nvSpPr>
        <p:spPr>
          <a:xfrm>
            <a:off x="4543425" y="909637"/>
            <a:ext cx="904875" cy="0"/>
          </a:xfrm>
          <a:custGeom>
            <a:rect b="b" l="l" r="r" t="t"/>
            <a:pathLst>
              <a:path extrusionOk="0" h="120000" w="904875">
                <a:moveTo>
                  <a:pt x="0" y="0"/>
                </a:moveTo>
                <a:lnTo>
                  <a:pt x="904874" y="0"/>
                </a:lnTo>
              </a:path>
            </a:pathLst>
          </a:custGeom>
          <a:noFill/>
          <a:ln cap="flat" cmpd="sng" w="38075">
            <a:solidFill>
              <a:srgbClr val="F1E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titre section">
  <p:cSld name="4 titre sec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11136" y="0"/>
            <a:ext cx="5394864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7"/>
          <p:cNvSpPr/>
          <p:nvPr/>
        </p:nvSpPr>
        <p:spPr>
          <a:xfrm>
            <a:off x="41105" y="1599218"/>
            <a:ext cx="5754523" cy="3669373"/>
          </a:xfrm>
          <a:custGeom>
            <a:rect b="b" l="l" r="r" t="t"/>
            <a:pathLst>
              <a:path extrusionOk="0" h="3562350" w="5334000">
                <a:moveTo>
                  <a:pt x="5333999" y="3562349"/>
                </a:moveTo>
                <a:lnTo>
                  <a:pt x="0" y="3562349"/>
                </a:lnTo>
                <a:lnTo>
                  <a:pt x="0" y="0"/>
                </a:lnTo>
                <a:lnTo>
                  <a:pt x="5333999" y="0"/>
                </a:lnTo>
                <a:lnTo>
                  <a:pt x="5333999" y="3562349"/>
                </a:lnTo>
                <a:close/>
              </a:path>
            </a:pathLst>
          </a:custGeom>
          <a:solidFill>
            <a:srgbClr val="F1EC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7" name="Google Shape;47;p67"/>
          <p:cNvSpPr/>
          <p:nvPr/>
        </p:nvSpPr>
        <p:spPr>
          <a:xfrm>
            <a:off x="41105" y="1599218"/>
            <a:ext cx="5754523" cy="3669373"/>
          </a:xfrm>
          <a:custGeom>
            <a:rect b="b" l="l" r="r" t="t"/>
            <a:pathLst>
              <a:path extrusionOk="0" h="3562350" w="5334000">
                <a:moveTo>
                  <a:pt x="0" y="0"/>
                </a:moveTo>
                <a:lnTo>
                  <a:pt x="5333999" y="0"/>
                </a:lnTo>
                <a:lnTo>
                  <a:pt x="5333999" y="3562349"/>
                </a:lnTo>
                <a:lnTo>
                  <a:pt x="0" y="3562349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76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8" name="Google Shape;48;p67"/>
          <p:cNvSpPr txBox="1"/>
          <p:nvPr>
            <p:ph type="title"/>
          </p:nvPr>
        </p:nvSpPr>
        <p:spPr>
          <a:xfrm>
            <a:off x="285750" y="2334723"/>
            <a:ext cx="4822480" cy="577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7"/>
          <p:cNvSpPr txBox="1"/>
          <p:nvPr>
            <p:ph idx="1" type="body"/>
          </p:nvPr>
        </p:nvSpPr>
        <p:spPr>
          <a:xfrm>
            <a:off x="285750" y="3192955"/>
            <a:ext cx="4713288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67"/>
          <p:cNvSpPr/>
          <p:nvPr/>
        </p:nvSpPr>
        <p:spPr>
          <a:xfrm>
            <a:off x="285750" y="2986087"/>
            <a:ext cx="904875" cy="0"/>
          </a:xfrm>
          <a:custGeom>
            <a:rect b="b" l="l" r="r" t="t"/>
            <a:pathLst>
              <a:path extrusionOk="0" h="120000" w="904875">
                <a:moveTo>
                  <a:pt x="0" y="0"/>
                </a:moveTo>
                <a:lnTo>
                  <a:pt x="904874" y="0"/>
                </a:lnTo>
              </a:path>
            </a:pathLst>
          </a:custGeom>
          <a:noFill/>
          <a:ln cap="flat" cmpd="sng" w="380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mparaison">
  <p:cSld name="4 comparaison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2271" y="885826"/>
            <a:ext cx="6233729" cy="5972174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8"/>
          <p:cNvSpPr txBox="1"/>
          <p:nvPr>
            <p:ph type="title"/>
          </p:nvPr>
        </p:nvSpPr>
        <p:spPr>
          <a:xfrm>
            <a:off x="681038" y="307978"/>
            <a:ext cx="8543925" cy="577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68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8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8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57" name="Google Shape;57;p68"/>
          <p:cNvSpPr/>
          <p:nvPr/>
        </p:nvSpPr>
        <p:spPr>
          <a:xfrm>
            <a:off x="4543425" y="909637"/>
            <a:ext cx="904875" cy="0"/>
          </a:xfrm>
          <a:custGeom>
            <a:rect b="b" l="l" r="r" t="t"/>
            <a:pathLst>
              <a:path extrusionOk="0" h="120000" w="904875">
                <a:moveTo>
                  <a:pt x="0" y="0"/>
                </a:moveTo>
                <a:lnTo>
                  <a:pt x="904874" y="0"/>
                </a:lnTo>
              </a:path>
            </a:pathLst>
          </a:custGeom>
          <a:noFill/>
          <a:ln cap="flat" cmpd="sng" w="38075">
            <a:solidFill>
              <a:srgbClr val="F1E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8" name="Google Shape;58;p68"/>
          <p:cNvSpPr/>
          <p:nvPr/>
        </p:nvSpPr>
        <p:spPr>
          <a:xfrm>
            <a:off x="5124449" y="1243025"/>
            <a:ext cx="4140000" cy="4716000"/>
          </a:xfrm>
          <a:custGeom>
            <a:rect b="b" l="l" r="r" t="t"/>
            <a:pathLst>
              <a:path extrusionOk="0" h="3453129" w="3590925">
                <a:moveTo>
                  <a:pt x="3590340" y="3452786"/>
                </a:moveTo>
                <a:lnTo>
                  <a:pt x="0" y="3452786"/>
                </a:lnTo>
                <a:lnTo>
                  <a:pt x="0" y="0"/>
                </a:lnTo>
                <a:lnTo>
                  <a:pt x="3590340" y="0"/>
                </a:lnTo>
                <a:lnTo>
                  <a:pt x="3590340" y="34527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9" name="Google Shape;59;p68"/>
          <p:cNvSpPr/>
          <p:nvPr/>
        </p:nvSpPr>
        <p:spPr>
          <a:xfrm>
            <a:off x="5124450" y="1243025"/>
            <a:ext cx="4100513" cy="4729148"/>
          </a:xfrm>
          <a:custGeom>
            <a:rect b="b" l="l" r="r" t="t"/>
            <a:pathLst>
              <a:path extrusionOk="0" h="3453129" w="3590925">
                <a:moveTo>
                  <a:pt x="0" y="0"/>
                </a:moveTo>
                <a:lnTo>
                  <a:pt x="3590340" y="0"/>
                </a:lnTo>
                <a:lnTo>
                  <a:pt x="3590340" y="3452786"/>
                </a:lnTo>
                <a:lnTo>
                  <a:pt x="0" y="3452786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76175">
            <a:solidFill>
              <a:srgbClr val="F1E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0" name="Google Shape;60;p68"/>
          <p:cNvSpPr/>
          <p:nvPr/>
        </p:nvSpPr>
        <p:spPr>
          <a:xfrm>
            <a:off x="5124449" y="1985962"/>
            <a:ext cx="4100513" cy="38100"/>
          </a:xfrm>
          <a:custGeom>
            <a:rect b="b" l="l" r="r" t="t"/>
            <a:pathLst>
              <a:path extrusionOk="0" h="38100" w="3590925">
                <a:moveTo>
                  <a:pt x="0" y="0"/>
                </a:moveTo>
                <a:lnTo>
                  <a:pt x="3590924" y="0"/>
                </a:lnTo>
                <a:lnTo>
                  <a:pt x="3590924" y="38099"/>
                </a:lnTo>
                <a:lnTo>
                  <a:pt x="0" y="38099"/>
                </a:lnTo>
                <a:lnTo>
                  <a:pt x="0" y="0"/>
                </a:lnTo>
                <a:close/>
              </a:path>
            </a:pathLst>
          </a:custGeom>
          <a:solidFill>
            <a:srgbClr val="F1EC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1" name="Google Shape;61;p68"/>
          <p:cNvSpPr/>
          <p:nvPr/>
        </p:nvSpPr>
        <p:spPr>
          <a:xfrm>
            <a:off x="3773551" y="1790699"/>
            <a:ext cx="400050" cy="381000"/>
          </a:xfrm>
          <a:custGeom>
            <a:rect b="b" l="l" r="r" t="t"/>
            <a:pathLst>
              <a:path extrusionOk="0" h="381000" w="400050">
                <a:moveTo>
                  <a:pt x="400050" y="190500"/>
                </a:moveTo>
                <a:lnTo>
                  <a:pt x="394766" y="146824"/>
                </a:lnTo>
                <a:lnTo>
                  <a:pt x="379717" y="106730"/>
                </a:lnTo>
                <a:lnTo>
                  <a:pt x="356108" y="71361"/>
                </a:lnTo>
                <a:lnTo>
                  <a:pt x="325132" y="41859"/>
                </a:lnTo>
                <a:lnTo>
                  <a:pt x="300037" y="26670"/>
                </a:lnTo>
                <a:lnTo>
                  <a:pt x="300037" y="166687"/>
                </a:lnTo>
                <a:lnTo>
                  <a:pt x="300037" y="214312"/>
                </a:lnTo>
                <a:lnTo>
                  <a:pt x="225031" y="214312"/>
                </a:lnTo>
                <a:lnTo>
                  <a:pt x="225031" y="285750"/>
                </a:lnTo>
                <a:lnTo>
                  <a:pt x="175018" y="285750"/>
                </a:lnTo>
                <a:lnTo>
                  <a:pt x="175018" y="214312"/>
                </a:lnTo>
                <a:lnTo>
                  <a:pt x="100012" y="214312"/>
                </a:lnTo>
                <a:lnTo>
                  <a:pt x="100012" y="166687"/>
                </a:lnTo>
                <a:lnTo>
                  <a:pt x="175018" y="166687"/>
                </a:lnTo>
                <a:lnTo>
                  <a:pt x="175018" y="95250"/>
                </a:lnTo>
                <a:lnTo>
                  <a:pt x="225031" y="95250"/>
                </a:lnTo>
                <a:lnTo>
                  <a:pt x="225031" y="166687"/>
                </a:lnTo>
                <a:lnTo>
                  <a:pt x="300037" y="166687"/>
                </a:lnTo>
                <a:lnTo>
                  <a:pt x="300037" y="26670"/>
                </a:lnTo>
                <a:lnTo>
                  <a:pt x="245884" y="5041"/>
                </a:lnTo>
                <a:lnTo>
                  <a:pt x="200025" y="0"/>
                </a:lnTo>
                <a:lnTo>
                  <a:pt x="154165" y="5041"/>
                </a:lnTo>
                <a:lnTo>
                  <a:pt x="112064" y="19367"/>
                </a:lnTo>
                <a:lnTo>
                  <a:pt x="74917" y="41859"/>
                </a:lnTo>
                <a:lnTo>
                  <a:pt x="43942" y="71361"/>
                </a:lnTo>
                <a:lnTo>
                  <a:pt x="20332" y="106730"/>
                </a:lnTo>
                <a:lnTo>
                  <a:pt x="5283" y="146824"/>
                </a:lnTo>
                <a:lnTo>
                  <a:pt x="0" y="190500"/>
                </a:lnTo>
                <a:lnTo>
                  <a:pt x="5283" y="234188"/>
                </a:lnTo>
                <a:lnTo>
                  <a:pt x="20332" y="274281"/>
                </a:lnTo>
                <a:lnTo>
                  <a:pt x="43942" y="309651"/>
                </a:lnTo>
                <a:lnTo>
                  <a:pt x="74917" y="339153"/>
                </a:lnTo>
                <a:lnTo>
                  <a:pt x="112064" y="361645"/>
                </a:lnTo>
                <a:lnTo>
                  <a:pt x="154165" y="375970"/>
                </a:lnTo>
                <a:lnTo>
                  <a:pt x="200025" y="381000"/>
                </a:lnTo>
                <a:lnTo>
                  <a:pt x="245884" y="375970"/>
                </a:lnTo>
                <a:lnTo>
                  <a:pt x="287985" y="361645"/>
                </a:lnTo>
                <a:lnTo>
                  <a:pt x="325132" y="339153"/>
                </a:lnTo>
                <a:lnTo>
                  <a:pt x="356108" y="309651"/>
                </a:lnTo>
                <a:lnTo>
                  <a:pt x="372059" y="285750"/>
                </a:lnTo>
                <a:lnTo>
                  <a:pt x="379717" y="274281"/>
                </a:lnTo>
                <a:lnTo>
                  <a:pt x="394766" y="234188"/>
                </a:lnTo>
                <a:lnTo>
                  <a:pt x="400050" y="1905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2" name="Google Shape;62;p68"/>
          <p:cNvSpPr/>
          <p:nvPr/>
        </p:nvSpPr>
        <p:spPr>
          <a:xfrm>
            <a:off x="8659800" y="1426363"/>
            <a:ext cx="400050" cy="381000"/>
          </a:xfrm>
          <a:custGeom>
            <a:rect b="b" l="l" r="r" t="t"/>
            <a:pathLst>
              <a:path extrusionOk="0" h="381000" w="400050">
                <a:moveTo>
                  <a:pt x="399999" y="190500"/>
                </a:moveTo>
                <a:lnTo>
                  <a:pt x="397116" y="166687"/>
                </a:lnTo>
                <a:lnTo>
                  <a:pt x="394716" y="146824"/>
                </a:lnTo>
                <a:lnTo>
                  <a:pt x="379666" y="106730"/>
                </a:lnTo>
                <a:lnTo>
                  <a:pt x="356057" y="71361"/>
                </a:lnTo>
                <a:lnTo>
                  <a:pt x="325081" y="41859"/>
                </a:lnTo>
                <a:lnTo>
                  <a:pt x="299999" y="26670"/>
                </a:lnTo>
                <a:lnTo>
                  <a:pt x="299999" y="166687"/>
                </a:lnTo>
                <a:lnTo>
                  <a:pt x="299999" y="214312"/>
                </a:lnTo>
                <a:lnTo>
                  <a:pt x="99999" y="214312"/>
                </a:lnTo>
                <a:lnTo>
                  <a:pt x="99999" y="166687"/>
                </a:lnTo>
                <a:lnTo>
                  <a:pt x="299999" y="166687"/>
                </a:lnTo>
                <a:lnTo>
                  <a:pt x="299999" y="26670"/>
                </a:lnTo>
                <a:lnTo>
                  <a:pt x="287947" y="19367"/>
                </a:lnTo>
                <a:lnTo>
                  <a:pt x="245846" y="5041"/>
                </a:lnTo>
                <a:lnTo>
                  <a:pt x="199999" y="0"/>
                </a:lnTo>
                <a:lnTo>
                  <a:pt x="154139" y="5041"/>
                </a:lnTo>
                <a:lnTo>
                  <a:pt x="112039" y="19367"/>
                </a:lnTo>
                <a:lnTo>
                  <a:pt x="74904" y="41859"/>
                </a:lnTo>
                <a:lnTo>
                  <a:pt x="43942" y="71361"/>
                </a:lnTo>
                <a:lnTo>
                  <a:pt x="20332" y="106730"/>
                </a:lnTo>
                <a:lnTo>
                  <a:pt x="5283" y="146824"/>
                </a:lnTo>
                <a:lnTo>
                  <a:pt x="0" y="190500"/>
                </a:lnTo>
                <a:lnTo>
                  <a:pt x="5283" y="234188"/>
                </a:lnTo>
                <a:lnTo>
                  <a:pt x="20332" y="274281"/>
                </a:lnTo>
                <a:lnTo>
                  <a:pt x="43942" y="309651"/>
                </a:lnTo>
                <a:lnTo>
                  <a:pt x="74904" y="339153"/>
                </a:lnTo>
                <a:lnTo>
                  <a:pt x="112039" y="361645"/>
                </a:lnTo>
                <a:lnTo>
                  <a:pt x="154139" y="375970"/>
                </a:lnTo>
                <a:lnTo>
                  <a:pt x="199999" y="381000"/>
                </a:lnTo>
                <a:lnTo>
                  <a:pt x="245846" y="375970"/>
                </a:lnTo>
                <a:lnTo>
                  <a:pt x="287947" y="361645"/>
                </a:lnTo>
                <a:lnTo>
                  <a:pt x="325081" y="339153"/>
                </a:lnTo>
                <a:lnTo>
                  <a:pt x="356057" y="309651"/>
                </a:lnTo>
                <a:lnTo>
                  <a:pt x="379666" y="274281"/>
                </a:lnTo>
                <a:lnTo>
                  <a:pt x="394716" y="234188"/>
                </a:lnTo>
                <a:lnTo>
                  <a:pt x="397116" y="214312"/>
                </a:lnTo>
                <a:lnTo>
                  <a:pt x="399999" y="1905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3" name="Google Shape;63;p68"/>
          <p:cNvSpPr/>
          <p:nvPr/>
        </p:nvSpPr>
        <p:spPr>
          <a:xfrm>
            <a:off x="693301" y="1208550"/>
            <a:ext cx="4140000" cy="4716000"/>
          </a:xfrm>
          <a:prstGeom prst="rect">
            <a:avLst/>
          </a:prstGeom>
          <a:solidFill>
            <a:srgbClr val="F1E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4" name="Google Shape;64;p68"/>
          <p:cNvSpPr/>
          <p:nvPr/>
        </p:nvSpPr>
        <p:spPr>
          <a:xfrm>
            <a:off x="708977" y="2005012"/>
            <a:ext cx="4176000" cy="38100"/>
          </a:xfrm>
          <a:custGeom>
            <a:rect b="b" l="l" r="r" t="t"/>
            <a:pathLst>
              <a:path extrusionOk="0" h="38100" w="3600450">
                <a:moveTo>
                  <a:pt x="0" y="0"/>
                </a:moveTo>
                <a:lnTo>
                  <a:pt x="3600449" y="0"/>
                </a:lnTo>
                <a:lnTo>
                  <a:pt x="3600449" y="38099"/>
                </a:lnTo>
                <a:lnTo>
                  <a:pt x="0" y="380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5" name="Google Shape;65;p68"/>
          <p:cNvSpPr/>
          <p:nvPr/>
        </p:nvSpPr>
        <p:spPr>
          <a:xfrm>
            <a:off x="4262918" y="1426363"/>
            <a:ext cx="400050" cy="381000"/>
          </a:xfrm>
          <a:custGeom>
            <a:rect b="b" l="l" r="r" t="t"/>
            <a:pathLst>
              <a:path extrusionOk="0" h="381000" w="400050">
                <a:moveTo>
                  <a:pt x="400050" y="190500"/>
                </a:moveTo>
                <a:lnTo>
                  <a:pt x="394766" y="146824"/>
                </a:lnTo>
                <a:lnTo>
                  <a:pt x="379717" y="106730"/>
                </a:lnTo>
                <a:lnTo>
                  <a:pt x="356108" y="71361"/>
                </a:lnTo>
                <a:lnTo>
                  <a:pt x="325132" y="41859"/>
                </a:lnTo>
                <a:lnTo>
                  <a:pt x="300037" y="26670"/>
                </a:lnTo>
                <a:lnTo>
                  <a:pt x="300037" y="166687"/>
                </a:lnTo>
                <a:lnTo>
                  <a:pt x="300037" y="214312"/>
                </a:lnTo>
                <a:lnTo>
                  <a:pt x="225031" y="214312"/>
                </a:lnTo>
                <a:lnTo>
                  <a:pt x="225031" y="285750"/>
                </a:lnTo>
                <a:lnTo>
                  <a:pt x="175018" y="285750"/>
                </a:lnTo>
                <a:lnTo>
                  <a:pt x="175018" y="214312"/>
                </a:lnTo>
                <a:lnTo>
                  <a:pt x="100012" y="214312"/>
                </a:lnTo>
                <a:lnTo>
                  <a:pt x="100012" y="166687"/>
                </a:lnTo>
                <a:lnTo>
                  <a:pt x="175018" y="166687"/>
                </a:lnTo>
                <a:lnTo>
                  <a:pt x="175018" y="95250"/>
                </a:lnTo>
                <a:lnTo>
                  <a:pt x="225031" y="95250"/>
                </a:lnTo>
                <a:lnTo>
                  <a:pt x="225031" y="166687"/>
                </a:lnTo>
                <a:lnTo>
                  <a:pt x="300037" y="166687"/>
                </a:lnTo>
                <a:lnTo>
                  <a:pt x="300037" y="26670"/>
                </a:lnTo>
                <a:lnTo>
                  <a:pt x="245884" y="5041"/>
                </a:lnTo>
                <a:lnTo>
                  <a:pt x="200025" y="0"/>
                </a:lnTo>
                <a:lnTo>
                  <a:pt x="154165" y="5041"/>
                </a:lnTo>
                <a:lnTo>
                  <a:pt x="112064" y="19367"/>
                </a:lnTo>
                <a:lnTo>
                  <a:pt x="74917" y="41859"/>
                </a:lnTo>
                <a:lnTo>
                  <a:pt x="43942" y="71361"/>
                </a:lnTo>
                <a:lnTo>
                  <a:pt x="20332" y="106730"/>
                </a:lnTo>
                <a:lnTo>
                  <a:pt x="5283" y="146824"/>
                </a:lnTo>
                <a:lnTo>
                  <a:pt x="0" y="190500"/>
                </a:lnTo>
                <a:lnTo>
                  <a:pt x="5283" y="234188"/>
                </a:lnTo>
                <a:lnTo>
                  <a:pt x="20332" y="274281"/>
                </a:lnTo>
                <a:lnTo>
                  <a:pt x="43942" y="309651"/>
                </a:lnTo>
                <a:lnTo>
                  <a:pt x="74917" y="339153"/>
                </a:lnTo>
                <a:lnTo>
                  <a:pt x="112064" y="361645"/>
                </a:lnTo>
                <a:lnTo>
                  <a:pt x="154165" y="375970"/>
                </a:lnTo>
                <a:lnTo>
                  <a:pt x="200025" y="381000"/>
                </a:lnTo>
                <a:lnTo>
                  <a:pt x="245884" y="375970"/>
                </a:lnTo>
                <a:lnTo>
                  <a:pt x="287985" y="361645"/>
                </a:lnTo>
                <a:lnTo>
                  <a:pt x="325132" y="339153"/>
                </a:lnTo>
                <a:lnTo>
                  <a:pt x="356108" y="309651"/>
                </a:lnTo>
                <a:lnTo>
                  <a:pt x="372059" y="285750"/>
                </a:lnTo>
                <a:lnTo>
                  <a:pt x="379717" y="274281"/>
                </a:lnTo>
                <a:lnTo>
                  <a:pt x="394766" y="234188"/>
                </a:lnTo>
                <a:lnTo>
                  <a:pt x="400050" y="1905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6" name="Google Shape;66;p68"/>
          <p:cNvSpPr txBox="1"/>
          <p:nvPr>
            <p:ph idx="1" type="body"/>
          </p:nvPr>
        </p:nvSpPr>
        <p:spPr>
          <a:xfrm>
            <a:off x="766251" y="1286867"/>
            <a:ext cx="3407350" cy="6943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7" name="Google Shape;67;p68"/>
          <p:cNvSpPr txBox="1"/>
          <p:nvPr>
            <p:ph idx="2" type="body"/>
          </p:nvPr>
        </p:nvSpPr>
        <p:spPr>
          <a:xfrm>
            <a:off x="904875" y="2143125"/>
            <a:ext cx="3758093" cy="3781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68"/>
          <p:cNvSpPr txBox="1"/>
          <p:nvPr>
            <p:ph idx="3" type="body"/>
          </p:nvPr>
        </p:nvSpPr>
        <p:spPr>
          <a:xfrm>
            <a:off x="5162646" y="1283494"/>
            <a:ext cx="3332041" cy="689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9" name="Google Shape;69;p68"/>
          <p:cNvSpPr txBox="1"/>
          <p:nvPr>
            <p:ph idx="4" type="body"/>
          </p:nvPr>
        </p:nvSpPr>
        <p:spPr>
          <a:xfrm>
            <a:off x="5381625" y="2162174"/>
            <a:ext cx="3678225" cy="3762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use matin" showMasterSp="0">
  <p:cSld name="Pause matin"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69"/>
          <p:cNvPicPr preferRelativeResize="0"/>
          <p:nvPr/>
        </p:nvPicPr>
        <p:blipFill rotWithShape="1">
          <a:blip r:embed="rId2">
            <a:alphaModFix/>
          </a:blip>
          <a:srcRect b="8055" l="26528" r="10470" t="12361"/>
          <a:stretch/>
        </p:blipFill>
        <p:spPr>
          <a:xfrm>
            <a:off x="4467224" y="11754"/>
            <a:ext cx="542903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69"/>
          <p:cNvSpPr/>
          <p:nvPr/>
        </p:nvSpPr>
        <p:spPr>
          <a:xfrm>
            <a:off x="41105" y="1599218"/>
            <a:ext cx="5754523" cy="3669373"/>
          </a:xfrm>
          <a:custGeom>
            <a:rect b="b" l="l" r="r" t="t"/>
            <a:pathLst>
              <a:path extrusionOk="0" h="3562350" w="5334000">
                <a:moveTo>
                  <a:pt x="5333999" y="3562349"/>
                </a:moveTo>
                <a:lnTo>
                  <a:pt x="0" y="3562349"/>
                </a:lnTo>
                <a:lnTo>
                  <a:pt x="0" y="0"/>
                </a:lnTo>
                <a:lnTo>
                  <a:pt x="5333999" y="0"/>
                </a:lnTo>
                <a:lnTo>
                  <a:pt x="5333999" y="3562349"/>
                </a:lnTo>
                <a:close/>
              </a:path>
            </a:pathLst>
          </a:custGeom>
          <a:solidFill>
            <a:srgbClr val="F1EC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3" name="Google Shape;73;p69"/>
          <p:cNvSpPr/>
          <p:nvPr/>
        </p:nvSpPr>
        <p:spPr>
          <a:xfrm>
            <a:off x="41105" y="1599218"/>
            <a:ext cx="5754523" cy="3669373"/>
          </a:xfrm>
          <a:custGeom>
            <a:rect b="b" l="l" r="r" t="t"/>
            <a:pathLst>
              <a:path extrusionOk="0" h="3562350" w="5334000">
                <a:moveTo>
                  <a:pt x="0" y="0"/>
                </a:moveTo>
                <a:lnTo>
                  <a:pt x="5333999" y="0"/>
                </a:lnTo>
                <a:lnTo>
                  <a:pt x="5333999" y="3562349"/>
                </a:lnTo>
                <a:lnTo>
                  <a:pt x="0" y="3562349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76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4" name="Google Shape;74;p69"/>
          <p:cNvSpPr txBox="1"/>
          <p:nvPr>
            <p:ph type="title"/>
          </p:nvPr>
        </p:nvSpPr>
        <p:spPr>
          <a:xfrm>
            <a:off x="285750" y="2334723"/>
            <a:ext cx="4822480" cy="577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69"/>
          <p:cNvSpPr/>
          <p:nvPr/>
        </p:nvSpPr>
        <p:spPr>
          <a:xfrm>
            <a:off x="285750" y="2986087"/>
            <a:ext cx="904875" cy="0"/>
          </a:xfrm>
          <a:custGeom>
            <a:rect b="b" l="l" r="r" t="t"/>
            <a:pathLst>
              <a:path extrusionOk="0" h="120000" w="904875">
                <a:moveTo>
                  <a:pt x="0" y="0"/>
                </a:moveTo>
                <a:lnTo>
                  <a:pt x="904874" y="0"/>
                </a:lnTo>
              </a:path>
            </a:pathLst>
          </a:custGeom>
          <a:noFill/>
          <a:ln cap="flat" cmpd="sng" w="380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6" name="Google Shape;76;p69"/>
          <p:cNvSpPr txBox="1"/>
          <p:nvPr/>
        </p:nvSpPr>
        <p:spPr>
          <a:xfrm>
            <a:off x="4528931" y="6488668"/>
            <a:ext cx="156164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fr-FR" sz="11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Image générée par 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 action">
  <p:cSld name="2. action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0"/>
          <p:cNvSpPr txBox="1"/>
          <p:nvPr>
            <p:ph type="title"/>
          </p:nvPr>
        </p:nvSpPr>
        <p:spPr>
          <a:xfrm>
            <a:off x="4953000" y="2851152"/>
            <a:ext cx="4822480" cy="577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9" name="Google Shape;79;p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471294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70"/>
          <p:cNvSpPr/>
          <p:nvPr/>
        </p:nvSpPr>
        <p:spPr>
          <a:xfrm>
            <a:off x="4953000" y="3519487"/>
            <a:ext cx="904875" cy="0"/>
          </a:xfrm>
          <a:custGeom>
            <a:rect b="b" l="l" r="r" t="t"/>
            <a:pathLst>
              <a:path extrusionOk="0" h="120000" w="904875">
                <a:moveTo>
                  <a:pt x="0" y="0"/>
                </a:moveTo>
                <a:lnTo>
                  <a:pt x="904874" y="0"/>
                </a:lnTo>
              </a:path>
            </a:pathLst>
          </a:custGeom>
          <a:noFill/>
          <a:ln cap="flat" cmpd="sng" w="38075">
            <a:solidFill>
              <a:srgbClr val="F1E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1" name="Google Shape;81;p70"/>
          <p:cNvSpPr txBox="1"/>
          <p:nvPr>
            <p:ph idx="1" type="body"/>
          </p:nvPr>
        </p:nvSpPr>
        <p:spPr>
          <a:xfrm>
            <a:off x="5019675" y="3648075"/>
            <a:ext cx="4713288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texte images">
  <p:cSld name="2 texte images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1"/>
          <p:cNvSpPr/>
          <p:nvPr/>
        </p:nvSpPr>
        <p:spPr>
          <a:xfrm>
            <a:off x="9555161" y="6531391"/>
            <a:ext cx="268288" cy="244952"/>
          </a:xfrm>
          <a:custGeom>
            <a:rect b="b" l="l" r="r" t="t"/>
            <a:pathLst>
              <a:path extrusionOk="0" h="228600" w="247650">
                <a:moveTo>
                  <a:pt x="247649" y="228599"/>
                </a:moveTo>
                <a:lnTo>
                  <a:pt x="0" y="228599"/>
                </a:lnTo>
                <a:lnTo>
                  <a:pt x="0" y="0"/>
                </a:lnTo>
                <a:lnTo>
                  <a:pt x="247649" y="0"/>
                </a:lnTo>
                <a:lnTo>
                  <a:pt x="247649" y="228599"/>
                </a:lnTo>
                <a:close/>
              </a:path>
            </a:pathLst>
          </a:custGeom>
          <a:solidFill>
            <a:srgbClr val="FFFFFF">
              <a:alpha val="30196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84" name="Google Shape;84;p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555790"/>
            <a:ext cx="5690303" cy="3337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8146" y="3185"/>
            <a:ext cx="5680805" cy="3333941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71"/>
          <p:cNvSpPr/>
          <p:nvPr/>
        </p:nvSpPr>
        <p:spPr>
          <a:xfrm>
            <a:off x="85726" y="598193"/>
            <a:ext cx="4573268" cy="2160000"/>
          </a:xfrm>
          <a:custGeom>
            <a:rect b="b" l="l" r="r" t="t"/>
            <a:pathLst>
              <a:path extrusionOk="0" h="2095500" w="4201795">
                <a:moveTo>
                  <a:pt x="4201720" y="2095499"/>
                </a:moveTo>
                <a:lnTo>
                  <a:pt x="0" y="2095499"/>
                </a:lnTo>
                <a:lnTo>
                  <a:pt x="0" y="0"/>
                </a:lnTo>
                <a:lnTo>
                  <a:pt x="4201720" y="0"/>
                </a:lnTo>
                <a:lnTo>
                  <a:pt x="4201720" y="2095499"/>
                </a:lnTo>
                <a:close/>
              </a:path>
            </a:pathLst>
          </a:custGeom>
          <a:solidFill>
            <a:srgbClr val="F1ECE7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87" name="Google Shape;87;p71"/>
          <p:cNvGrpSpPr/>
          <p:nvPr/>
        </p:nvGrpSpPr>
        <p:grpSpPr>
          <a:xfrm>
            <a:off x="5292167" y="4168605"/>
            <a:ext cx="4490563" cy="2092235"/>
            <a:chOff x="4942281" y="3852862"/>
            <a:chExt cx="4201795" cy="2352675"/>
          </a:xfrm>
        </p:grpSpPr>
        <p:sp>
          <p:nvSpPr>
            <p:cNvPr id="88" name="Google Shape;88;p71"/>
            <p:cNvSpPr/>
            <p:nvPr/>
          </p:nvSpPr>
          <p:spPr>
            <a:xfrm>
              <a:off x="4942281" y="3852862"/>
              <a:ext cx="4201795" cy="2352675"/>
            </a:xfrm>
            <a:custGeom>
              <a:rect b="b" l="l" r="r" t="t"/>
              <a:pathLst>
                <a:path extrusionOk="0" h="2352675" w="4201795">
                  <a:moveTo>
                    <a:pt x="4201720" y="2352674"/>
                  </a:moveTo>
                  <a:lnTo>
                    <a:pt x="0" y="2352674"/>
                  </a:lnTo>
                  <a:lnTo>
                    <a:pt x="0" y="0"/>
                  </a:lnTo>
                  <a:lnTo>
                    <a:pt x="4201720" y="0"/>
                  </a:lnTo>
                  <a:lnTo>
                    <a:pt x="4201720" y="2352674"/>
                  </a:lnTo>
                  <a:close/>
                </a:path>
              </a:pathLst>
            </a:custGeom>
            <a:solidFill>
              <a:srgbClr val="F1EC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9" name="Google Shape;89;p71"/>
            <p:cNvSpPr/>
            <p:nvPr/>
          </p:nvSpPr>
          <p:spPr>
            <a:xfrm>
              <a:off x="4942281" y="3852862"/>
              <a:ext cx="4201795" cy="2352675"/>
            </a:xfrm>
            <a:custGeom>
              <a:rect b="b" l="l" r="r" t="t"/>
              <a:pathLst>
                <a:path extrusionOk="0" h="2352675" w="4201795">
                  <a:moveTo>
                    <a:pt x="0" y="0"/>
                  </a:moveTo>
                  <a:lnTo>
                    <a:pt x="4201720" y="0"/>
                  </a:lnTo>
                  <a:lnTo>
                    <a:pt x="4201720" y="2352674"/>
                  </a:lnTo>
                  <a:lnTo>
                    <a:pt x="0" y="235267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762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90" name="Google Shape;90;p71"/>
          <p:cNvSpPr txBox="1"/>
          <p:nvPr>
            <p:ph idx="1" type="body"/>
          </p:nvPr>
        </p:nvSpPr>
        <p:spPr>
          <a:xfrm>
            <a:off x="209040" y="809625"/>
            <a:ext cx="4277235" cy="1733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71"/>
          <p:cNvSpPr txBox="1"/>
          <p:nvPr>
            <p:ph idx="2" type="body"/>
          </p:nvPr>
        </p:nvSpPr>
        <p:spPr>
          <a:xfrm>
            <a:off x="5398830" y="4357578"/>
            <a:ext cx="4277235" cy="1733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use dej" showMasterSp="0">
  <p:cSld name="pause dej">
    <p:bg>
      <p:bgPr>
        <a:solidFill>
          <a:schemeClr val="lt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72"/>
          <p:cNvPicPr preferRelativeResize="0"/>
          <p:nvPr/>
        </p:nvPicPr>
        <p:blipFill rotWithShape="1">
          <a:blip r:embed="rId2">
            <a:alphaModFix/>
          </a:blip>
          <a:srcRect b="0" l="0" r="21593" t="0"/>
          <a:stretch/>
        </p:blipFill>
        <p:spPr>
          <a:xfrm>
            <a:off x="4528931" y="0"/>
            <a:ext cx="537706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72"/>
          <p:cNvSpPr/>
          <p:nvPr/>
        </p:nvSpPr>
        <p:spPr>
          <a:xfrm>
            <a:off x="41105" y="1599218"/>
            <a:ext cx="5754523" cy="3669373"/>
          </a:xfrm>
          <a:custGeom>
            <a:rect b="b" l="l" r="r" t="t"/>
            <a:pathLst>
              <a:path extrusionOk="0" h="3562350" w="5334000">
                <a:moveTo>
                  <a:pt x="5333999" y="3562349"/>
                </a:moveTo>
                <a:lnTo>
                  <a:pt x="0" y="3562349"/>
                </a:lnTo>
                <a:lnTo>
                  <a:pt x="0" y="0"/>
                </a:lnTo>
                <a:lnTo>
                  <a:pt x="5333999" y="0"/>
                </a:lnTo>
                <a:lnTo>
                  <a:pt x="5333999" y="3562349"/>
                </a:lnTo>
                <a:close/>
              </a:path>
            </a:pathLst>
          </a:custGeom>
          <a:solidFill>
            <a:srgbClr val="F1EC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5" name="Google Shape;95;p72"/>
          <p:cNvSpPr/>
          <p:nvPr/>
        </p:nvSpPr>
        <p:spPr>
          <a:xfrm>
            <a:off x="41105" y="1599218"/>
            <a:ext cx="5754523" cy="3669373"/>
          </a:xfrm>
          <a:custGeom>
            <a:rect b="b" l="l" r="r" t="t"/>
            <a:pathLst>
              <a:path extrusionOk="0" h="3562350" w="5334000">
                <a:moveTo>
                  <a:pt x="0" y="0"/>
                </a:moveTo>
                <a:lnTo>
                  <a:pt x="5333999" y="0"/>
                </a:lnTo>
                <a:lnTo>
                  <a:pt x="5333999" y="3562349"/>
                </a:lnTo>
                <a:lnTo>
                  <a:pt x="0" y="3562349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76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6" name="Google Shape;96;p72"/>
          <p:cNvSpPr txBox="1"/>
          <p:nvPr>
            <p:ph type="title"/>
          </p:nvPr>
        </p:nvSpPr>
        <p:spPr>
          <a:xfrm>
            <a:off x="285750" y="2334723"/>
            <a:ext cx="4822480" cy="577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72"/>
          <p:cNvSpPr/>
          <p:nvPr/>
        </p:nvSpPr>
        <p:spPr>
          <a:xfrm>
            <a:off x="285750" y="2986087"/>
            <a:ext cx="904875" cy="0"/>
          </a:xfrm>
          <a:custGeom>
            <a:rect b="b" l="l" r="r" t="t"/>
            <a:pathLst>
              <a:path extrusionOk="0" h="120000" w="904875">
                <a:moveTo>
                  <a:pt x="0" y="0"/>
                </a:moveTo>
                <a:lnTo>
                  <a:pt x="904874" y="0"/>
                </a:lnTo>
              </a:path>
            </a:pathLst>
          </a:custGeom>
          <a:noFill/>
          <a:ln cap="flat" cmpd="sng" w="380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8" name="Google Shape;98;p72"/>
          <p:cNvSpPr txBox="1"/>
          <p:nvPr/>
        </p:nvSpPr>
        <p:spPr>
          <a:xfrm>
            <a:off x="4528931" y="6488668"/>
            <a:ext cx="156164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fr-FR" sz="11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Image générée par 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use am" showMasterSp="0">
  <p:cSld name="pause am">
    <p:bg>
      <p:bgPr>
        <a:solidFill>
          <a:schemeClr val="lt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73"/>
          <p:cNvPicPr preferRelativeResize="0"/>
          <p:nvPr/>
        </p:nvPicPr>
        <p:blipFill rotWithShape="1">
          <a:blip r:embed="rId2">
            <a:alphaModFix/>
          </a:blip>
          <a:srcRect b="0" l="21111" r="0" t="0"/>
          <a:stretch/>
        </p:blipFill>
        <p:spPr>
          <a:xfrm>
            <a:off x="4495800" y="0"/>
            <a:ext cx="54102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73"/>
          <p:cNvSpPr/>
          <p:nvPr/>
        </p:nvSpPr>
        <p:spPr>
          <a:xfrm>
            <a:off x="41105" y="1599218"/>
            <a:ext cx="5754523" cy="3669373"/>
          </a:xfrm>
          <a:custGeom>
            <a:rect b="b" l="l" r="r" t="t"/>
            <a:pathLst>
              <a:path extrusionOk="0" h="3562350" w="5334000">
                <a:moveTo>
                  <a:pt x="5333999" y="3562349"/>
                </a:moveTo>
                <a:lnTo>
                  <a:pt x="0" y="3562349"/>
                </a:lnTo>
                <a:lnTo>
                  <a:pt x="0" y="0"/>
                </a:lnTo>
                <a:lnTo>
                  <a:pt x="5333999" y="0"/>
                </a:lnTo>
                <a:lnTo>
                  <a:pt x="5333999" y="3562349"/>
                </a:lnTo>
                <a:close/>
              </a:path>
            </a:pathLst>
          </a:custGeom>
          <a:solidFill>
            <a:srgbClr val="F1EC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2" name="Google Shape;102;p73"/>
          <p:cNvSpPr/>
          <p:nvPr/>
        </p:nvSpPr>
        <p:spPr>
          <a:xfrm>
            <a:off x="41105" y="1599218"/>
            <a:ext cx="5754523" cy="3669373"/>
          </a:xfrm>
          <a:custGeom>
            <a:rect b="b" l="l" r="r" t="t"/>
            <a:pathLst>
              <a:path extrusionOk="0" h="3562350" w="5334000">
                <a:moveTo>
                  <a:pt x="0" y="0"/>
                </a:moveTo>
                <a:lnTo>
                  <a:pt x="5333999" y="0"/>
                </a:lnTo>
                <a:lnTo>
                  <a:pt x="5333999" y="3562349"/>
                </a:lnTo>
                <a:lnTo>
                  <a:pt x="0" y="3562349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76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3" name="Google Shape;103;p73"/>
          <p:cNvSpPr txBox="1"/>
          <p:nvPr>
            <p:ph type="title"/>
          </p:nvPr>
        </p:nvSpPr>
        <p:spPr>
          <a:xfrm>
            <a:off x="285750" y="2334723"/>
            <a:ext cx="4822480" cy="577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73"/>
          <p:cNvSpPr/>
          <p:nvPr/>
        </p:nvSpPr>
        <p:spPr>
          <a:xfrm>
            <a:off x="285750" y="2986087"/>
            <a:ext cx="904875" cy="0"/>
          </a:xfrm>
          <a:custGeom>
            <a:rect b="b" l="l" r="r" t="t"/>
            <a:pathLst>
              <a:path extrusionOk="0" h="120000" w="904875">
                <a:moveTo>
                  <a:pt x="0" y="0"/>
                </a:moveTo>
                <a:lnTo>
                  <a:pt x="904874" y="0"/>
                </a:lnTo>
              </a:path>
            </a:pathLst>
          </a:custGeom>
          <a:noFill/>
          <a:ln cap="flat" cmpd="sng" w="380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5" name="Google Shape;105;p73"/>
          <p:cNvSpPr txBox="1"/>
          <p:nvPr/>
        </p:nvSpPr>
        <p:spPr>
          <a:xfrm>
            <a:off x="4528931" y="6488668"/>
            <a:ext cx="156164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fr-FR" sz="11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Image générée par 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En-tête de section" showMasterSp="0">
  <p:cSld name="5_En-tête de section"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74"/>
          <p:cNvPicPr preferRelativeResize="0"/>
          <p:nvPr/>
        </p:nvPicPr>
        <p:blipFill rotWithShape="1">
          <a:blip r:embed="rId2">
            <a:alphaModFix/>
          </a:blip>
          <a:srcRect b="30972" l="23673" r="22553" t="0"/>
          <a:stretch/>
        </p:blipFill>
        <p:spPr>
          <a:xfrm>
            <a:off x="4514851" y="0"/>
            <a:ext cx="5391150" cy="6920276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74"/>
          <p:cNvSpPr/>
          <p:nvPr/>
        </p:nvSpPr>
        <p:spPr>
          <a:xfrm>
            <a:off x="41105" y="1599218"/>
            <a:ext cx="5754523" cy="3669373"/>
          </a:xfrm>
          <a:custGeom>
            <a:rect b="b" l="l" r="r" t="t"/>
            <a:pathLst>
              <a:path extrusionOk="0" h="3562350" w="5334000">
                <a:moveTo>
                  <a:pt x="5333999" y="3562349"/>
                </a:moveTo>
                <a:lnTo>
                  <a:pt x="0" y="3562349"/>
                </a:lnTo>
                <a:lnTo>
                  <a:pt x="0" y="0"/>
                </a:lnTo>
                <a:lnTo>
                  <a:pt x="5333999" y="0"/>
                </a:lnTo>
                <a:lnTo>
                  <a:pt x="5333999" y="3562349"/>
                </a:lnTo>
                <a:close/>
              </a:path>
            </a:pathLst>
          </a:custGeom>
          <a:solidFill>
            <a:srgbClr val="F1EC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9" name="Google Shape;109;p74"/>
          <p:cNvSpPr/>
          <p:nvPr/>
        </p:nvSpPr>
        <p:spPr>
          <a:xfrm>
            <a:off x="41105" y="1599218"/>
            <a:ext cx="5754523" cy="3669373"/>
          </a:xfrm>
          <a:custGeom>
            <a:rect b="b" l="l" r="r" t="t"/>
            <a:pathLst>
              <a:path extrusionOk="0" h="3562350" w="5334000">
                <a:moveTo>
                  <a:pt x="0" y="0"/>
                </a:moveTo>
                <a:lnTo>
                  <a:pt x="5333999" y="0"/>
                </a:lnTo>
                <a:lnTo>
                  <a:pt x="5333999" y="3562349"/>
                </a:lnTo>
                <a:lnTo>
                  <a:pt x="0" y="3562349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76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0" name="Google Shape;110;p74"/>
          <p:cNvSpPr txBox="1"/>
          <p:nvPr>
            <p:ph type="title"/>
          </p:nvPr>
        </p:nvSpPr>
        <p:spPr>
          <a:xfrm>
            <a:off x="285750" y="2334723"/>
            <a:ext cx="4822480" cy="577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74"/>
          <p:cNvSpPr/>
          <p:nvPr/>
        </p:nvSpPr>
        <p:spPr>
          <a:xfrm>
            <a:off x="285750" y="2986087"/>
            <a:ext cx="904875" cy="0"/>
          </a:xfrm>
          <a:custGeom>
            <a:rect b="b" l="l" r="r" t="t"/>
            <a:pathLst>
              <a:path extrusionOk="0" h="120000" w="904875">
                <a:moveTo>
                  <a:pt x="0" y="0"/>
                </a:moveTo>
                <a:lnTo>
                  <a:pt x="904874" y="0"/>
                </a:lnTo>
              </a:path>
            </a:pathLst>
          </a:custGeom>
          <a:noFill/>
          <a:ln cap="flat" cmpd="sng" w="380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2" name="Google Shape;112;p74"/>
          <p:cNvSpPr txBox="1"/>
          <p:nvPr/>
        </p:nvSpPr>
        <p:spPr>
          <a:xfrm>
            <a:off x="4528931" y="6488668"/>
            <a:ext cx="156164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fr-FR" sz="11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Image générée par 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">
  <p:cSld name="fin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5"/>
          <p:cNvSpPr/>
          <p:nvPr/>
        </p:nvSpPr>
        <p:spPr>
          <a:xfrm>
            <a:off x="9555161" y="6531391"/>
            <a:ext cx="268288" cy="244952"/>
          </a:xfrm>
          <a:custGeom>
            <a:rect b="b" l="l" r="r" t="t"/>
            <a:pathLst>
              <a:path extrusionOk="0" h="228600" w="247650">
                <a:moveTo>
                  <a:pt x="247649" y="228599"/>
                </a:moveTo>
                <a:lnTo>
                  <a:pt x="0" y="228599"/>
                </a:lnTo>
                <a:lnTo>
                  <a:pt x="0" y="0"/>
                </a:lnTo>
                <a:lnTo>
                  <a:pt x="247649" y="0"/>
                </a:lnTo>
                <a:lnTo>
                  <a:pt x="247649" y="228599"/>
                </a:lnTo>
                <a:close/>
              </a:path>
            </a:pathLst>
          </a:custGeom>
          <a:solidFill>
            <a:srgbClr val="FFFFFF">
              <a:alpha val="30196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15" name="Google Shape;115;p7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05428" y="-441048"/>
            <a:ext cx="10011428" cy="7299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esentations">
  <p:cSld name="presentations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6"/>
          <p:cNvSpPr txBox="1"/>
          <p:nvPr/>
        </p:nvSpPr>
        <p:spPr>
          <a:xfrm>
            <a:off x="523974" y="2982577"/>
            <a:ext cx="4895850" cy="33493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390525" lvl="0" marL="12700" marR="5080" rtl="0" algn="ctr">
              <a:lnSpc>
                <a:spcPct val="153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0" i="0" lang="fr-FR" sz="175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Nous sommes disponibles </a:t>
            </a:r>
            <a:br>
              <a:rPr b="0" i="0" lang="fr-FR" sz="175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fr-FR" sz="175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par mail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390525" lvl="0" marL="12700" marR="5080" rtl="0" algn="ctr">
              <a:lnSpc>
                <a:spcPct val="153600"/>
              </a:lnSpc>
              <a:spcBef>
                <a:spcPts val="95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t/>
            </a:r>
            <a:endParaRPr b="0" i="0" sz="175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390525" lvl="0" marL="12700" marR="5080" rtl="0" algn="ctr">
              <a:lnSpc>
                <a:spcPct val="153600"/>
              </a:lnSpc>
              <a:spcBef>
                <a:spcPts val="95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t/>
            </a:r>
            <a:endParaRPr b="0" i="0" sz="175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390525" lvl="0" marL="12700" marR="5080" rtl="0" algn="ctr">
              <a:lnSpc>
                <a:spcPct val="153600"/>
              </a:lnSpc>
              <a:spcBef>
                <a:spcPts val="95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0" i="0" lang="fr-FR" sz="175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ou par  téléphone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390525" lvl="0" marL="12700" marR="5080" rtl="0" algn="ctr">
              <a:lnSpc>
                <a:spcPct val="153600"/>
              </a:lnSpc>
              <a:spcBef>
                <a:spcPts val="95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t/>
            </a:r>
            <a:endParaRPr b="0" i="0" sz="175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390525" lvl="0" marL="12700" marR="5080" rtl="0" algn="ctr">
              <a:lnSpc>
                <a:spcPct val="153600"/>
              </a:lnSpc>
              <a:spcBef>
                <a:spcPts val="95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t/>
            </a:r>
            <a:endParaRPr b="0" i="0" sz="175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390525" lvl="0" marL="12700" marR="5080" rtl="0" algn="ctr">
              <a:lnSpc>
                <a:spcPct val="153600"/>
              </a:lnSpc>
              <a:spcBef>
                <a:spcPts val="95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0" i="0" lang="fr-FR" sz="175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avant, pendant et après vos formations</a:t>
            </a:r>
            <a:endParaRPr b="0" i="0" sz="175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18" name="Google Shape;118;p7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3375" y="348638"/>
            <a:ext cx="5335938" cy="1371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24551" y="0"/>
            <a:ext cx="39814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76"/>
          <p:cNvSpPr txBox="1"/>
          <p:nvPr>
            <p:ph type="title"/>
          </p:nvPr>
        </p:nvSpPr>
        <p:spPr>
          <a:xfrm>
            <a:off x="704353" y="2176145"/>
            <a:ext cx="4406900" cy="4737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777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76"/>
          <p:cNvSpPr/>
          <p:nvPr/>
        </p:nvSpPr>
        <p:spPr>
          <a:xfrm>
            <a:off x="1504664" y="2895599"/>
            <a:ext cx="2990850" cy="0"/>
          </a:xfrm>
          <a:custGeom>
            <a:rect b="b" l="l" r="r" t="t"/>
            <a:pathLst>
              <a:path extrusionOk="0" h="120000" w="2990850">
                <a:moveTo>
                  <a:pt x="0" y="0"/>
                </a:moveTo>
                <a:lnTo>
                  <a:pt x="2990849" y="0"/>
                </a:lnTo>
              </a:path>
            </a:pathLst>
          </a:custGeom>
          <a:noFill/>
          <a:ln cap="flat" cmpd="sng" w="380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22" name="Google Shape;122;p76"/>
          <p:cNvGrpSpPr/>
          <p:nvPr/>
        </p:nvGrpSpPr>
        <p:grpSpPr>
          <a:xfrm>
            <a:off x="1028557" y="3890637"/>
            <a:ext cx="4181475" cy="647700"/>
            <a:chOff x="615019" y="4667249"/>
            <a:chExt cx="4181475" cy="647700"/>
          </a:xfrm>
        </p:grpSpPr>
        <p:sp>
          <p:nvSpPr>
            <p:cNvPr id="123" name="Google Shape;123;p76"/>
            <p:cNvSpPr/>
            <p:nvPr/>
          </p:nvSpPr>
          <p:spPr>
            <a:xfrm>
              <a:off x="615019" y="4667249"/>
              <a:ext cx="4181475" cy="647700"/>
            </a:xfrm>
            <a:custGeom>
              <a:rect b="b" l="l" r="r" t="t"/>
              <a:pathLst>
                <a:path extrusionOk="0" h="647700" w="4181475">
                  <a:moveTo>
                    <a:pt x="4181474" y="647699"/>
                  </a:moveTo>
                  <a:lnTo>
                    <a:pt x="0" y="647699"/>
                  </a:lnTo>
                  <a:lnTo>
                    <a:pt x="0" y="0"/>
                  </a:lnTo>
                  <a:lnTo>
                    <a:pt x="4181474" y="0"/>
                  </a:lnTo>
                  <a:lnTo>
                    <a:pt x="4181474" y="647699"/>
                  </a:lnTo>
                  <a:close/>
                </a:path>
              </a:pathLst>
            </a:custGeom>
            <a:solidFill>
              <a:srgbClr val="E7E6E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4" name="Google Shape;124;p76"/>
            <p:cNvSpPr/>
            <p:nvPr/>
          </p:nvSpPr>
          <p:spPr>
            <a:xfrm>
              <a:off x="634069" y="4686299"/>
              <a:ext cx="4143375" cy="609600"/>
            </a:xfrm>
            <a:custGeom>
              <a:rect b="b" l="l" r="r" t="t"/>
              <a:pathLst>
                <a:path extrusionOk="0" h="609600" w="4143375">
                  <a:moveTo>
                    <a:pt x="0" y="0"/>
                  </a:moveTo>
                  <a:lnTo>
                    <a:pt x="4143374" y="0"/>
                  </a:lnTo>
                  <a:lnTo>
                    <a:pt x="4143374" y="609599"/>
                  </a:lnTo>
                  <a:lnTo>
                    <a:pt x="0" y="6095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38075">
              <a:solidFill>
                <a:srgbClr val="E7E6E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125" name="Google Shape;125;p76"/>
          <p:cNvSpPr txBox="1"/>
          <p:nvPr/>
        </p:nvSpPr>
        <p:spPr>
          <a:xfrm>
            <a:off x="1028557" y="3890637"/>
            <a:ext cx="4181475" cy="4821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0">
            <a:spAutoFit/>
          </a:bodyPr>
          <a:lstStyle/>
          <a:p>
            <a:pPr indent="0" lvl="0" marL="1517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fr-FR" sz="2300" u="sng" cap="none" strike="noStrike">
                <a:solidFill>
                  <a:schemeClr val="accent6"/>
                </a:solidFill>
                <a:latin typeface="Tahoma"/>
                <a:ea typeface="Tahoma"/>
                <a:cs typeface="Tahoma"/>
                <a:sym typeface="Tahom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formation@ambient-it.net</a:t>
            </a:r>
            <a:endParaRPr b="0" i="0" sz="2300" u="none" cap="none" strike="noStrike">
              <a:solidFill>
                <a:schemeClr val="accent6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6" name="Google Shape;126;p76"/>
          <p:cNvSpPr/>
          <p:nvPr/>
        </p:nvSpPr>
        <p:spPr>
          <a:xfrm>
            <a:off x="4712846" y="4107331"/>
            <a:ext cx="285750" cy="214629"/>
          </a:xfrm>
          <a:custGeom>
            <a:rect b="b" l="l" r="r" t="t"/>
            <a:pathLst>
              <a:path extrusionOk="0" h="214629" w="285750">
                <a:moveTo>
                  <a:pt x="142839" y="102307"/>
                </a:moveTo>
                <a:lnTo>
                  <a:pt x="0" y="34879"/>
                </a:lnTo>
                <a:lnTo>
                  <a:pt x="0" y="0"/>
                </a:lnTo>
                <a:lnTo>
                  <a:pt x="285750" y="0"/>
                </a:lnTo>
                <a:lnTo>
                  <a:pt x="285750" y="34986"/>
                </a:lnTo>
                <a:lnTo>
                  <a:pt x="142839" y="102307"/>
                </a:lnTo>
                <a:close/>
              </a:path>
              <a:path extrusionOk="0" h="214629" w="285750">
                <a:moveTo>
                  <a:pt x="285750" y="214312"/>
                </a:moveTo>
                <a:lnTo>
                  <a:pt x="0" y="214312"/>
                </a:lnTo>
                <a:lnTo>
                  <a:pt x="0" y="74295"/>
                </a:lnTo>
                <a:lnTo>
                  <a:pt x="142910" y="141794"/>
                </a:lnTo>
                <a:lnTo>
                  <a:pt x="285750" y="141794"/>
                </a:lnTo>
                <a:lnTo>
                  <a:pt x="285750" y="214312"/>
                </a:lnTo>
                <a:close/>
              </a:path>
              <a:path extrusionOk="0" h="214629" w="285750">
                <a:moveTo>
                  <a:pt x="285750" y="141794"/>
                </a:moveTo>
                <a:lnTo>
                  <a:pt x="142910" y="141794"/>
                </a:lnTo>
                <a:lnTo>
                  <a:pt x="285750" y="74509"/>
                </a:lnTo>
                <a:lnTo>
                  <a:pt x="285750" y="14179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7" name="Google Shape;127;p76"/>
          <p:cNvSpPr txBox="1"/>
          <p:nvPr/>
        </p:nvSpPr>
        <p:spPr>
          <a:xfrm>
            <a:off x="1047608" y="5184150"/>
            <a:ext cx="4143374" cy="587441"/>
          </a:xfrm>
          <a:prstGeom prst="rect">
            <a:avLst/>
          </a:prstGeom>
          <a:noFill/>
          <a:ln cap="flat" cmpd="sng" w="38075">
            <a:solidFill>
              <a:srgbClr val="E7E6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8000" lIns="0" spcFirstLastPara="1" rIns="0" wrap="square" tIns="108000">
            <a:spAutoFit/>
          </a:bodyPr>
          <a:lstStyle/>
          <a:p>
            <a:pPr indent="0" lvl="0" marL="1327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01 48 10 09 46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76"/>
          <p:cNvSpPr/>
          <p:nvPr/>
        </p:nvSpPr>
        <p:spPr>
          <a:xfrm>
            <a:off x="4783967" y="5334994"/>
            <a:ext cx="214629" cy="285750"/>
          </a:xfrm>
          <a:custGeom>
            <a:rect b="b" l="l" r="r" t="t"/>
            <a:pathLst>
              <a:path extrusionOk="0" h="285750" w="214629">
                <a:moveTo>
                  <a:pt x="142875" y="285750"/>
                </a:moveTo>
                <a:lnTo>
                  <a:pt x="71437" y="285750"/>
                </a:lnTo>
                <a:lnTo>
                  <a:pt x="43631" y="280135"/>
                </a:lnTo>
                <a:lnTo>
                  <a:pt x="20924" y="264825"/>
                </a:lnTo>
                <a:lnTo>
                  <a:pt x="5614" y="242118"/>
                </a:lnTo>
                <a:lnTo>
                  <a:pt x="0" y="214312"/>
                </a:lnTo>
                <a:lnTo>
                  <a:pt x="0" y="71437"/>
                </a:lnTo>
                <a:lnTo>
                  <a:pt x="5614" y="43631"/>
                </a:lnTo>
                <a:lnTo>
                  <a:pt x="20924" y="20924"/>
                </a:lnTo>
                <a:lnTo>
                  <a:pt x="43631" y="5614"/>
                </a:lnTo>
                <a:lnTo>
                  <a:pt x="71437" y="0"/>
                </a:lnTo>
                <a:lnTo>
                  <a:pt x="142875" y="0"/>
                </a:lnTo>
                <a:lnTo>
                  <a:pt x="170680" y="5614"/>
                </a:lnTo>
                <a:lnTo>
                  <a:pt x="193388" y="20924"/>
                </a:lnTo>
                <a:lnTo>
                  <a:pt x="203362" y="35718"/>
                </a:lnTo>
                <a:lnTo>
                  <a:pt x="71437" y="35718"/>
                </a:lnTo>
                <a:lnTo>
                  <a:pt x="57549" y="38533"/>
                </a:lnTo>
                <a:lnTo>
                  <a:pt x="46194" y="46201"/>
                </a:lnTo>
                <a:lnTo>
                  <a:pt x="38530" y="57557"/>
                </a:lnTo>
                <a:lnTo>
                  <a:pt x="35718" y="71437"/>
                </a:lnTo>
                <a:lnTo>
                  <a:pt x="35718" y="214312"/>
                </a:lnTo>
                <a:lnTo>
                  <a:pt x="214312" y="214312"/>
                </a:lnTo>
                <a:lnTo>
                  <a:pt x="210818" y="231618"/>
                </a:lnTo>
                <a:lnTo>
                  <a:pt x="107156" y="231618"/>
                </a:lnTo>
                <a:lnTo>
                  <a:pt x="99992" y="233063"/>
                </a:lnTo>
                <a:lnTo>
                  <a:pt x="94138" y="237007"/>
                </a:lnTo>
                <a:lnTo>
                  <a:pt x="90191" y="242859"/>
                </a:lnTo>
                <a:lnTo>
                  <a:pt x="88743" y="250031"/>
                </a:lnTo>
                <a:lnTo>
                  <a:pt x="90189" y="257202"/>
                </a:lnTo>
                <a:lnTo>
                  <a:pt x="94135" y="263055"/>
                </a:lnTo>
                <a:lnTo>
                  <a:pt x="99988" y="266998"/>
                </a:lnTo>
                <a:lnTo>
                  <a:pt x="107156" y="268444"/>
                </a:lnTo>
                <a:lnTo>
                  <a:pt x="188020" y="268444"/>
                </a:lnTo>
                <a:lnTo>
                  <a:pt x="170680" y="280135"/>
                </a:lnTo>
                <a:lnTo>
                  <a:pt x="142875" y="285750"/>
                </a:lnTo>
                <a:close/>
              </a:path>
              <a:path extrusionOk="0" h="285750" w="214629">
                <a:moveTo>
                  <a:pt x="214312" y="214312"/>
                </a:moveTo>
                <a:lnTo>
                  <a:pt x="178593" y="214312"/>
                </a:lnTo>
                <a:lnTo>
                  <a:pt x="178593" y="71437"/>
                </a:lnTo>
                <a:lnTo>
                  <a:pt x="175779" y="57557"/>
                </a:lnTo>
                <a:lnTo>
                  <a:pt x="168111" y="46201"/>
                </a:lnTo>
                <a:lnTo>
                  <a:pt x="156755" y="38533"/>
                </a:lnTo>
                <a:lnTo>
                  <a:pt x="142875" y="35718"/>
                </a:lnTo>
                <a:lnTo>
                  <a:pt x="203362" y="35718"/>
                </a:lnTo>
                <a:lnTo>
                  <a:pt x="208698" y="43631"/>
                </a:lnTo>
                <a:lnTo>
                  <a:pt x="214312" y="71437"/>
                </a:lnTo>
                <a:lnTo>
                  <a:pt x="214312" y="214312"/>
                </a:lnTo>
                <a:close/>
              </a:path>
              <a:path extrusionOk="0" h="285750" w="214629">
                <a:moveTo>
                  <a:pt x="188020" y="268444"/>
                </a:moveTo>
                <a:lnTo>
                  <a:pt x="107156" y="268444"/>
                </a:lnTo>
                <a:lnTo>
                  <a:pt x="114324" y="266998"/>
                </a:lnTo>
                <a:lnTo>
                  <a:pt x="120176" y="263055"/>
                </a:lnTo>
                <a:lnTo>
                  <a:pt x="124122" y="257202"/>
                </a:lnTo>
                <a:lnTo>
                  <a:pt x="125569" y="250031"/>
                </a:lnTo>
                <a:lnTo>
                  <a:pt x="124121" y="242859"/>
                </a:lnTo>
                <a:lnTo>
                  <a:pt x="120173" y="237007"/>
                </a:lnTo>
                <a:lnTo>
                  <a:pt x="114320" y="233063"/>
                </a:lnTo>
                <a:lnTo>
                  <a:pt x="107156" y="231618"/>
                </a:lnTo>
                <a:lnTo>
                  <a:pt x="210818" y="231618"/>
                </a:lnTo>
                <a:lnTo>
                  <a:pt x="208698" y="242118"/>
                </a:lnTo>
                <a:lnTo>
                  <a:pt x="193388" y="264825"/>
                </a:lnTo>
                <a:lnTo>
                  <a:pt x="188020" y="26844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 titre">
  <p:cSld name="1. titre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7"/>
          <p:cNvSpPr txBox="1"/>
          <p:nvPr>
            <p:ph type="title"/>
          </p:nvPr>
        </p:nvSpPr>
        <p:spPr>
          <a:xfrm>
            <a:off x="681038" y="307978"/>
            <a:ext cx="8543925" cy="577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77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77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77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34" name="Google Shape;134;p77"/>
          <p:cNvSpPr/>
          <p:nvPr/>
        </p:nvSpPr>
        <p:spPr>
          <a:xfrm>
            <a:off x="4543425" y="909637"/>
            <a:ext cx="904875" cy="0"/>
          </a:xfrm>
          <a:custGeom>
            <a:rect b="b" l="l" r="r" t="t"/>
            <a:pathLst>
              <a:path extrusionOk="0" h="120000" w="904875">
                <a:moveTo>
                  <a:pt x="0" y="0"/>
                </a:moveTo>
                <a:lnTo>
                  <a:pt x="904874" y="0"/>
                </a:lnTo>
              </a:path>
            </a:pathLst>
          </a:custGeom>
          <a:noFill/>
          <a:ln cap="flat" cmpd="sng" w="38075">
            <a:solidFill>
              <a:srgbClr val="F1E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onnes icones">
  <p:cSld name="3 colonnes icones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8"/>
          <p:cNvSpPr txBox="1"/>
          <p:nvPr>
            <p:ph type="title"/>
          </p:nvPr>
        </p:nvSpPr>
        <p:spPr>
          <a:xfrm>
            <a:off x="681038" y="307978"/>
            <a:ext cx="8543925" cy="577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78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78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78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40" name="Google Shape;140;p78"/>
          <p:cNvSpPr/>
          <p:nvPr/>
        </p:nvSpPr>
        <p:spPr>
          <a:xfrm>
            <a:off x="4543425" y="909637"/>
            <a:ext cx="904875" cy="0"/>
          </a:xfrm>
          <a:custGeom>
            <a:rect b="b" l="l" r="r" t="t"/>
            <a:pathLst>
              <a:path extrusionOk="0" h="120000" w="904875">
                <a:moveTo>
                  <a:pt x="0" y="0"/>
                </a:moveTo>
                <a:lnTo>
                  <a:pt x="904874" y="0"/>
                </a:lnTo>
              </a:path>
            </a:pathLst>
          </a:custGeom>
          <a:noFill/>
          <a:ln cap="flat" cmpd="sng" w="38075">
            <a:solidFill>
              <a:srgbClr val="F1E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1" name="Google Shape;141;p78"/>
          <p:cNvSpPr/>
          <p:nvPr/>
        </p:nvSpPr>
        <p:spPr>
          <a:xfrm>
            <a:off x="681038" y="1954214"/>
            <a:ext cx="2340000" cy="3384000"/>
          </a:xfrm>
          <a:custGeom>
            <a:rect b="b" l="l" r="r" t="t"/>
            <a:pathLst>
              <a:path extrusionOk="0" h="3333750" w="2133600">
                <a:moveTo>
                  <a:pt x="2133599" y="3333749"/>
                </a:moveTo>
                <a:lnTo>
                  <a:pt x="0" y="3333749"/>
                </a:lnTo>
                <a:lnTo>
                  <a:pt x="0" y="0"/>
                </a:lnTo>
                <a:lnTo>
                  <a:pt x="2133599" y="0"/>
                </a:lnTo>
                <a:lnTo>
                  <a:pt x="2133599" y="3333749"/>
                </a:lnTo>
                <a:close/>
              </a:path>
            </a:pathLst>
          </a:custGeom>
          <a:solidFill>
            <a:srgbClr val="F1EC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2" name="Google Shape;142;p78"/>
          <p:cNvSpPr/>
          <p:nvPr/>
        </p:nvSpPr>
        <p:spPr>
          <a:xfrm>
            <a:off x="3838576" y="1954214"/>
            <a:ext cx="2340000" cy="3384000"/>
          </a:xfrm>
          <a:custGeom>
            <a:rect b="b" l="l" r="r" t="t"/>
            <a:pathLst>
              <a:path extrusionOk="0" h="3333750" w="2133600">
                <a:moveTo>
                  <a:pt x="2133599" y="3333749"/>
                </a:moveTo>
                <a:lnTo>
                  <a:pt x="0" y="3333749"/>
                </a:lnTo>
                <a:lnTo>
                  <a:pt x="0" y="0"/>
                </a:lnTo>
                <a:lnTo>
                  <a:pt x="2133599" y="0"/>
                </a:lnTo>
                <a:lnTo>
                  <a:pt x="2133599" y="3333749"/>
                </a:lnTo>
                <a:close/>
              </a:path>
            </a:pathLst>
          </a:custGeom>
          <a:solidFill>
            <a:srgbClr val="F1EC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3" name="Google Shape;143;p78"/>
          <p:cNvSpPr/>
          <p:nvPr/>
        </p:nvSpPr>
        <p:spPr>
          <a:xfrm>
            <a:off x="6996113" y="1954214"/>
            <a:ext cx="2340000" cy="3384000"/>
          </a:xfrm>
          <a:custGeom>
            <a:rect b="b" l="l" r="r" t="t"/>
            <a:pathLst>
              <a:path extrusionOk="0" h="3333750" w="2133600">
                <a:moveTo>
                  <a:pt x="2133599" y="3333749"/>
                </a:moveTo>
                <a:lnTo>
                  <a:pt x="0" y="3333749"/>
                </a:lnTo>
                <a:lnTo>
                  <a:pt x="0" y="0"/>
                </a:lnTo>
                <a:lnTo>
                  <a:pt x="2133599" y="0"/>
                </a:lnTo>
                <a:lnTo>
                  <a:pt x="2133599" y="3333749"/>
                </a:lnTo>
                <a:close/>
              </a:path>
            </a:pathLst>
          </a:custGeom>
          <a:solidFill>
            <a:srgbClr val="F1EC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4" name="Google Shape;144;p78"/>
          <p:cNvSpPr/>
          <p:nvPr/>
        </p:nvSpPr>
        <p:spPr>
          <a:xfrm>
            <a:off x="4591049" y="3194446"/>
            <a:ext cx="809625" cy="0"/>
          </a:xfrm>
          <a:custGeom>
            <a:rect b="b" l="l" r="r" t="t"/>
            <a:pathLst>
              <a:path extrusionOk="0" h="120000" w="809625">
                <a:moveTo>
                  <a:pt x="0" y="0"/>
                </a:moveTo>
                <a:lnTo>
                  <a:pt x="809624" y="0"/>
                </a:lnTo>
              </a:path>
            </a:pathLst>
          </a:custGeom>
          <a:noFill/>
          <a:ln cap="flat" cmpd="sng" w="285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5" name="Google Shape;145;p78"/>
          <p:cNvSpPr/>
          <p:nvPr/>
        </p:nvSpPr>
        <p:spPr>
          <a:xfrm>
            <a:off x="7761300" y="3194446"/>
            <a:ext cx="809625" cy="0"/>
          </a:xfrm>
          <a:custGeom>
            <a:rect b="b" l="l" r="r" t="t"/>
            <a:pathLst>
              <a:path extrusionOk="0" h="120000" w="809625">
                <a:moveTo>
                  <a:pt x="0" y="0"/>
                </a:moveTo>
                <a:lnTo>
                  <a:pt x="809624" y="0"/>
                </a:lnTo>
              </a:path>
            </a:pathLst>
          </a:custGeom>
          <a:noFill/>
          <a:ln cap="flat" cmpd="sng" w="285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6" name="Google Shape;146;p78"/>
          <p:cNvSpPr/>
          <p:nvPr/>
        </p:nvSpPr>
        <p:spPr>
          <a:xfrm>
            <a:off x="1308113" y="3217067"/>
            <a:ext cx="809625" cy="0"/>
          </a:xfrm>
          <a:custGeom>
            <a:rect b="b" l="l" r="r" t="t"/>
            <a:pathLst>
              <a:path extrusionOk="0" h="120000" w="809625">
                <a:moveTo>
                  <a:pt x="0" y="0"/>
                </a:moveTo>
                <a:lnTo>
                  <a:pt x="809624" y="0"/>
                </a:lnTo>
              </a:path>
            </a:pathLst>
          </a:custGeom>
          <a:noFill/>
          <a:ln cap="flat" cmpd="sng" w="285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7" name="Google Shape;147;p78"/>
          <p:cNvSpPr txBox="1"/>
          <p:nvPr>
            <p:ph idx="1" type="body"/>
          </p:nvPr>
        </p:nvSpPr>
        <p:spPr>
          <a:xfrm>
            <a:off x="681038" y="3360343"/>
            <a:ext cx="2340000" cy="52149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48" name="Google Shape;148;p78"/>
          <p:cNvSpPr txBox="1"/>
          <p:nvPr>
            <p:ph idx="2" type="body"/>
          </p:nvPr>
        </p:nvSpPr>
        <p:spPr>
          <a:xfrm>
            <a:off x="3838576" y="3360343"/>
            <a:ext cx="2340000" cy="52149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49" name="Google Shape;149;p78"/>
          <p:cNvSpPr txBox="1"/>
          <p:nvPr>
            <p:ph idx="3" type="body"/>
          </p:nvPr>
        </p:nvSpPr>
        <p:spPr>
          <a:xfrm>
            <a:off x="6996112" y="3360342"/>
            <a:ext cx="2340000" cy="52149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0" name="Google Shape;150;p78"/>
          <p:cNvSpPr txBox="1"/>
          <p:nvPr>
            <p:ph idx="4" type="body"/>
          </p:nvPr>
        </p:nvSpPr>
        <p:spPr>
          <a:xfrm>
            <a:off x="681038" y="4047729"/>
            <a:ext cx="2340000" cy="12402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1" name="Google Shape;151;p78"/>
          <p:cNvSpPr txBox="1"/>
          <p:nvPr>
            <p:ph idx="5" type="body"/>
          </p:nvPr>
        </p:nvSpPr>
        <p:spPr>
          <a:xfrm>
            <a:off x="3838576" y="4047729"/>
            <a:ext cx="2340000" cy="12402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2" name="Google Shape;152;p78"/>
          <p:cNvSpPr txBox="1"/>
          <p:nvPr>
            <p:ph idx="6" type="body"/>
          </p:nvPr>
        </p:nvSpPr>
        <p:spPr>
          <a:xfrm>
            <a:off x="6996112" y="4047728"/>
            <a:ext cx="2340000" cy="12402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3" name="Google Shape;153;p78"/>
          <p:cNvSpPr/>
          <p:nvPr/>
        </p:nvSpPr>
        <p:spPr>
          <a:xfrm>
            <a:off x="7806112" y="2300252"/>
            <a:ext cx="720000" cy="720000"/>
          </a:xfrm>
          <a:custGeom>
            <a:rect b="b" l="l" r="r" t="t"/>
            <a:pathLst>
              <a:path extrusionOk="0" h="666750" w="666750">
                <a:moveTo>
                  <a:pt x="333374" y="666749"/>
                </a:moveTo>
                <a:lnTo>
                  <a:pt x="292563" y="664242"/>
                </a:lnTo>
                <a:lnTo>
                  <a:pt x="252371" y="656759"/>
                </a:lnTo>
                <a:lnTo>
                  <a:pt x="213397" y="644412"/>
                </a:lnTo>
                <a:lnTo>
                  <a:pt x="176223" y="627385"/>
                </a:lnTo>
                <a:lnTo>
                  <a:pt x="141412" y="605935"/>
                </a:lnTo>
                <a:lnTo>
                  <a:pt x="109493" y="580389"/>
                </a:lnTo>
                <a:lnTo>
                  <a:pt x="80941" y="551128"/>
                </a:lnTo>
                <a:lnTo>
                  <a:pt x="56183" y="518588"/>
                </a:lnTo>
                <a:lnTo>
                  <a:pt x="35595" y="483261"/>
                </a:lnTo>
                <a:lnTo>
                  <a:pt x="19487" y="445685"/>
                </a:lnTo>
                <a:lnTo>
                  <a:pt x="8100" y="406420"/>
                </a:lnTo>
                <a:lnTo>
                  <a:pt x="1605" y="366051"/>
                </a:lnTo>
                <a:lnTo>
                  <a:pt x="0" y="333374"/>
                </a:lnTo>
                <a:lnTo>
                  <a:pt x="100" y="325191"/>
                </a:lnTo>
                <a:lnTo>
                  <a:pt x="3608" y="284458"/>
                </a:lnTo>
                <a:lnTo>
                  <a:pt x="12075" y="244461"/>
                </a:lnTo>
                <a:lnTo>
                  <a:pt x="25376" y="205797"/>
                </a:lnTo>
                <a:lnTo>
                  <a:pt x="43310" y="169052"/>
                </a:lnTo>
                <a:lnTo>
                  <a:pt x="65605" y="134783"/>
                </a:lnTo>
                <a:lnTo>
                  <a:pt x="91927" y="103501"/>
                </a:lnTo>
                <a:lnTo>
                  <a:pt x="121884" y="75672"/>
                </a:lnTo>
                <a:lnTo>
                  <a:pt x="155022" y="51720"/>
                </a:lnTo>
                <a:lnTo>
                  <a:pt x="190838" y="32007"/>
                </a:lnTo>
                <a:lnTo>
                  <a:pt x="228798" y="16826"/>
                </a:lnTo>
                <a:lnTo>
                  <a:pt x="268336" y="6405"/>
                </a:lnTo>
                <a:lnTo>
                  <a:pt x="308852" y="902"/>
                </a:lnTo>
                <a:lnTo>
                  <a:pt x="333374" y="0"/>
                </a:lnTo>
                <a:lnTo>
                  <a:pt x="341558" y="100"/>
                </a:lnTo>
                <a:lnTo>
                  <a:pt x="382291" y="3608"/>
                </a:lnTo>
                <a:lnTo>
                  <a:pt x="422287" y="12075"/>
                </a:lnTo>
                <a:lnTo>
                  <a:pt x="460951" y="25376"/>
                </a:lnTo>
                <a:lnTo>
                  <a:pt x="497697" y="43310"/>
                </a:lnTo>
                <a:lnTo>
                  <a:pt x="531966" y="65605"/>
                </a:lnTo>
                <a:lnTo>
                  <a:pt x="563248" y="91927"/>
                </a:lnTo>
                <a:lnTo>
                  <a:pt x="591077" y="121884"/>
                </a:lnTo>
                <a:lnTo>
                  <a:pt x="615029" y="155022"/>
                </a:lnTo>
                <a:lnTo>
                  <a:pt x="634742" y="190838"/>
                </a:lnTo>
                <a:lnTo>
                  <a:pt x="649923" y="228798"/>
                </a:lnTo>
                <a:lnTo>
                  <a:pt x="660344" y="268336"/>
                </a:lnTo>
                <a:lnTo>
                  <a:pt x="665847" y="308852"/>
                </a:lnTo>
                <a:lnTo>
                  <a:pt x="666749" y="333374"/>
                </a:lnTo>
                <a:lnTo>
                  <a:pt x="666649" y="341558"/>
                </a:lnTo>
                <a:lnTo>
                  <a:pt x="663141" y="382291"/>
                </a:lnTo>
                <a:lnTo>
                  <a:pt x="654674" y="422287"/>
                </a:lnTo>
                <a:lnTo>
                  <a:pt x="641373" y="460951"/>
                </a:lnTo>
                <a:lnTo>
                  <a:pt x="623439" y="497697"/>
                </a:lnTo>
                <a:lnTo>
                  <a:pt x="601144" y="531966"/>
                </a:lnTo>
                <a:lnTo>
                  <a:pt x="574822" y="563248"/>
                </a:lnTo>
                <a:lnTo>
                  <a:pt x="544865" y="591077"/>
                </a:lnTo>
                <a:lnTo>
                  <a:pt x="511727" y="615029"/>
                </a:lnTo>
                <a:lnTo>
                  <a:pt x="475911" y="634742"/>
                </a:lnTo>
                <a:lnTo>
                  <a:pt x="437950" y="649923"/>
                </a:lnTo>
                <a:lnTo>
                  <a:pt x="398413" y="660344"/>
                </a:lnTo>
                <a:lnTo>
                  <a:pt x="357897" y="665847"/>
                </a:lnTo>
                <a:lnTo>
                  <a:pt x="333374" y="66674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4" name="Google Shape;154;p78"/>
          <p:cNvSpPr/>
          <p:nvPr/>
        </p:nvSpPr>
        <p:spPr>
          <a:xfrm>
            <a:off x="4648576" y="2300252"/>
            <a:ext cx="720000" cy="720000"/>
          </a:xfrm>
          <a:custGeom>
            <a:rect b="b" l="l" r="r" t="t"/>
            <a:pathLst>
              <a:path extrusionOk="0" h="666750" w="666750">
                <a:moveTo>
                  <a:pt x="333374" y="666749"/>
                </a:moveTo>
                <a:lnTo>
                  <a:pt x="292563" y="664242"/>
                </a:lnTo>
                <a:lnTo>
                  <a:pt x="252371" y="656759"/>
                </a:lnTo>
                <a:lnTo>
                  <a:pt x="213397" y="644412"/>
                </a:lnTo>
                <a:lnTo>
                  <a:pt x="176223" y="627385"/>
                </a:lnTo>
                <a:lnTo>
                  <a:pt x="141412" y="605935"/>
                </a:lnTo>
                <a:lnTo>
                  <a:pt x="109493" y="580389"/>
                </a:lnTo>
                <a:lnTo>
                  <a:pt x="80941" y="551128"/>
                </a:lnTo>
                <a:lnTo>
                  <a:pt x="56183" y="518588"/>
                </a:lnTo>
                <a:lnTo>
                  <a:pt x="35595" y="483261"/>
                </a:lnTo>
                <a:lnTo>
                  <a:pt x="19487" y="445685"/>
                </a:lnTo>
                <a:lnTo>
                  <a:pt x="8100" y="406420"/>
                </a:lnTo>
                <a:lnTo>
                  <a:pt x="1605" y="366051"/>
                </a:lnTo>
                <a:lnTo>
                  <a:pt x="0" y="333374"/>
                </a:lnTo>
                <a:lnTo>
                  <a:pt x="100" y="325191"/>
                </a:lnTo>
                <a:lnTo>
                  <a:pt x="3608" y="284458"/>
                </a:lnTo>
                <a:lnTo>
                  <a:pt x="12075" y="244461"/>
                </a:lnTo>
                <a:lnTo>
                  <a:pt x="25376" y="205797"/>
                </a:lnTo>
                <a:lnTo>
                  <a:pt x="43310" y="169052"/>
                </a:lnTo>
                <a:lnTo>
                  <a:pt x="65605" y="134783"/>
                </a:lnTo>
                <a:lnTo>
                  <a:pt x="91927" y="103501"/>
                </a:lnTo>
                <a:lnTo>
                  <a:pt x="121884" y="75672"/>
                </a:lnTo>
                <a:lnTo>
                  <a:pt x="155022" y="51720"/>
                </a:lnTo>
                <a:lnTo>
                  <a:pt x="190838" y="32007"/>
                </a:lnTo>
                <a:lnTo>
                  <a:pt x="228798" y="16826"/>
                </a:lnTo>
                <a:lnTo>
                  <a:pt x="268336" y="6405"/>
                </a:lnTo>
                <a:lnTo>
                  <a:pt x="308852" y="902"/>
                </a:lnTo>
                <a:lnTo>
                  <a:pt x="333374" y="0"/>
                </a:lnTo>
                <a:lnTo>
                  <a:pt x="341558" y="100"/>
                </a:lnTo>
                <a:lnTo>
                  <a:pt x="382291" y="3608"/>
                </a:lnTo>
                <a:lnTo>
                  <a:pt x="422287" y="12075"/>
                </a:lnTo>
                <a:lnTo>
                  <a:pt x="460951" y="25376"/>
                </a:lnTo>
                <a:lnTo>
                  <a:pt x="497697" y="43310"/>
                </a:lnTo>
                <a:lnTo>
                  <a:pt x="531966" y="65605"/>
                </a:lnTo>
                <a:lnTo>
                  <a:pt x="563248" y="91927"/>
                </a:lnTo>
                <a:lnTo>
                  <a:pt x="591077" y="121884"/>
                </a:lnTo>
                <a:lnTo>
                  <a:pt x="615029" y="155022"/>
                </a:lnTo>
                <a:lnTo>
                  <a:pt x="634742" y="190838"/>
                </a:lnTo>
                <a:lnTo>
                  <a:pt x="649923" y="228798"/>
                </a:lnTo>
                <a:lnTo>
                  <a:pt x="660344" y="268336"/>
                </a:lnTo>
                <a:lnTo>
                  <a:pt x="665847" y="308852"/>
                </a:lnTo>
                <a:lnTo>
                  <a:pt x="666749" y="333374"/>
                </a:lnTo>
                <a:lnTo>
                  <a:pt x="666649" y="341558"/>
                </a:lnTo>
                <a:lnTo>
                  <a:pt x="663141" y="382291"/>
                </a:lnTo>
                <a:lnTo>
                  <a:pt x="654674" y="422287"/>
                </a:lnTo>
                <a:lnTo>
                  <a:pt x="641373" y="460951"/>
                </a:lnTo>
                <a:lnTo>
                  <a:pt x="623439" y="497697"/>
                </a:lnTo>
                <a:lnTo>
                  <a:pt x="601144" y="531966"/>
                </a:lnTo>
                <a:lnTo>
                  <a:pt x="574822" y="563248"/>
                </a:lnTo>
                <a:lnTo>
                  <a:pt x="544865" y="591077"/>
                </a:lnTo>
                <a:lnTo>
                  <a:pt x="511727" y="615029"/>
                </a:lnTo>
                <a:lnTo>
                  <a:pt x="475911" y="634742"/>
                </a:lnTo>
                <a:lnTo>
                  <a:pt x="437950" y="649923"/>
                </a:lnTo>
                <a:lnTo>
                  <a:pt x="398413" y="660344"/>
                </a:lnTo>
                <a:lnTo>
                  <a:pt x="357897" y="665847"/>
                </a:lnTo>
                <a:lnTo>
                  <a:pt x="333374" y="66674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5" name="Google Shape;155;p78"/>
          <p:cNvSpPr/>
          <p:nvPr/>
        </p:nvSpPr>
        <p:spPr>
          <a:xfrm>
            <a:off x="1491038" y="2300252"/>
            <a:ext cx="720000" cy="720000"/>
          </a:xfrm>
          <a:custGeom>
            <a:rect b="b" l="l" r="r" t="t"/>
            <a:pathLst>
              <a:path extrusionOk="0" h="666750" w="666750">
                <a:moveTo>
                  <a:pt x="333374" y="666749"/>
                </a:moveTo>
                <a:lnTo>
                  <a:pt x="292563" y="664242"/>
                </a:lnTo>
                <a:lnTo>
                  <a:pt x="252371" y="656759"/>
                </a:lnTo>
                <a:lnTo>
                  <a:pt x="213397" y="644412"/>
                </a:lnTo>
                <a:lnTo>
                  <a:pt x="176223" y="627385"/>
                </a:lnTo>
                <a:lnTo>
                  <a:pt x="141412" y="605935"/>
                </a:lnTo>
                <a:lnTo>
                  <a:pt x="109493" y="580389"/>
                </a:lnTo>
                <a:lnTo>
                  <a:pt x="80941" y="551128"/>
                </a:lnTo>
                <a:lnTo>
                  <a:pt x="56183" y="518588"/>
                </a:lnTo>
                <a:lnTo>
                  <a:pt x="35595" y="483261"/>
                </a:lnTo>
                <a:lnTo>
                  <a:pt x="19487" y="445685"/>
                </a:lnTo>
                <a:lnTo>
                  <a:pt x="8100" y="406420"/>
                </a:lnTo>
                <a:lnTo>
                  <a:pt x="1605" y="366051"/>
                </a:lnTo>
                <a:lnTo>
                  <a:pt x="0" y="333374"/>
                </a:lnTo>
                <a:lnTo>
                  <a:pt x="100" y="325191"/>
                </a:lnTo>
                <a:lnTo>
                  <a:pt x="3608" y="284458"/>
                </a:lnTo>
                <a:lnTo>
                  <a:pt x="12075" y="244461"/>
                </a:lnTo>
                <a:lnTo>
                  <a:pt x="25376" y="205797"/>
                </a:lnTo>
                <a:lnTo>
                  <a:pt x="43310" y="169052"/>
                </a:lnTo>
                <a:lnTo>
                  <a:pt x="65605" y="134783"/>
                </a:lnTo>
                <a:lnTo>
                  <a:pt x="91927" y="103501"/>
                </a:lnTo>
                <a:lnTo>
                  <a:pt x="121884" y="75672"/>
                </a:lnTo>
                <a:lnTo>
                  <a:pt x="155022" y="51720"/>
                </a:lnTo>
                <a:lnTo>
                  <a:pt x="190838" y="32007"/>
                </a:lnTo>
                <a:lnTo>
                  <a:pt x="228798" y="16826"/>
                </a:lnTo>
                <a:lnTo>
                  <a:pt x="268336" y="6405"/>
                </a:lnTo>
                <a:lnTo>
                  <a:pt x="308852" y="902"/>
                </a:lnTo>
                <a:lnTo>
                  <a:pt x="333374" y="0"/>
                </a:lnTo>
                <a:lnTo>
                  <a:pt x="341558" y="100"/>
                </a:lnTo>
                <a:lnTo>
                  <a:pt x="382291" y="3608"/>
                </a:lnTo>
                <a:lnTo>
                  <a:pt x="422287" y="12075"/>
                </a:lnTo>
                <a:lnTo>
                  <a:pt x="460951" y="25376"/>
                </a:lnTo>
                <a:lnTo>
                  <a:pt x="497697" y="43310"/>
                </a:lnTo>
                <a:lnTo>
                  <a:pt x="531966" y="65605"/>
                </a:lnTo>
                <a:lnTo>
                  <a:pt x="563248" y="91927"/>
                </a:lnTo>
                <a:lnTo>
                  <a:pt x="591077" y="121884"/>
                </a:lnTo>
                <a:lnTo>
                  <a:pt x="615029" y="155022"/>
                </a:lnTo>
                <a:lnTo>
                  <a:pt x="634742" y="190838"/>
                </a:lnTo>
                <a:lnTo>
                  <a:pt x="649923" y="228798"/>
                </a:lnTo>
                <a:lnTo>
                  <a:pt x="660344" y="268336"/>
                </a:lnTo>
                <a:lnTo>
                  <a:pt x="665847" y="308852"/>
                </a:lnTo>
                <a:lnTo>
                  <a:pt x="666749" y="333374"/>
                </a:lnTo>
                <a:lnTo>
                  <a:pt x="666649" y="341558"/>
                </a:lnTo>
                <a:lnTo>
                  <a:pt x="663141" y="382291"/>
                </a:lnTo>
                <a:lnTo>
                  <a:pt x="654674" y="422287"/>
                </a:lnTo>
                <a:lnTo>
                  <a:pt x="641373" y="460951"/>
                </a:lnTo>
                <a:lnTo>
                  <a:pt x="623439" y="497697"/>
                </a:lnTo>
                <a:lnTo>
                  <a:pt x="601144" y="531966"/>
                </a:lnTo>
                <a:lnTo>
                  <a:pt x="574822" y="563248"/>
                </a:lnTo>
                <a:lnTo>
                  <a:pt x="544865" y="591077"/>
                </a:lnTo>
                <a:lnTo>
                  <a:pt x="511727" y="615029"/>
                </a:lnTo>
                <a:lnTo>
                  <a:pt x="475911" y="634742"/>
                </a:lnTo>
                <a:lnTo>
                  <a:pt x="437950" y="649923"/>
                </a:lnTo>
                <a:lnTo>
                  <a:pt x="398413" y="660344"/>
                </a:lnTo>
                <a:lnTo>
                  <a:pt x="357897" y="665847"/>
                </a:lnTo>
                <a:lnTo>
                  <a:pt x="333374" y="66674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9"/>
          <p:cNvSpPr txBox="1"/>
          <p:nvPr>
            <p:ph type="ctrTitle"/>
          </p:nvPr>
        </p:nvSpPr>
        <p:spPr>
          <a:xfrm>
            <a:off x="742950" y="1122363"/>
            <a:ext cx="84201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79"/>
          <p:cNvSpPr txBox="1"/>
          <p:nvPr>
            <p:ph idx="1" type="subTitle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59" name="Google Shape;159;p79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79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79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position personnalisée">
  <p:cSld name="Disposition personnalisée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0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80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80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1"/>
          <p:cNvSpPr txBox="1"/>
          <p:nvPr>
            <p:ph type="title"/>
          </p:nvPr>
        </p:nvSpPr>
        <p:spPr>
          <a:xfrm>
            <a:off x="675879" y="1709740"/>
            <a:ext cx="8543925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81"/>
          <p:cNvSpPr txBox="1"/>
          <p:nvPr>
            <p:ph idx="1" type="body"/>
          </p:nvPr>
        </p:nvSpPr>
        <p:spPr>
          <a:xfrm>
            <a:off x="675879" y="4589465"/>
            <a:ext cx="8543925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9" name="Google Shape;169;p81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81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81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2"/>
          <p:cNvSpPr txBox="1"/>
          <p:nvPr>
            <p:ph type="title"/>
          </p:nvPr>
        </p:nvSpPr>
        <p:spPr>
          <a:xfrm>
            <a:off x="681038" y="307978"/>
            <a:ext cx="8543925" cy="577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82"/>
          <p:cNvSpPr txBox="1"/>
          <p:nvPr>
            <p:ph idx="1" type="body"/>
          </p:nvPr>
        </p:nvSpPr>
        <p:spPr>
          <a:xfrm>
            <a:off x="681038" y="1825625"/>
            <a:ext cx="421005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5" name="Google Shape;175;p82"/>
          <p:cNvSpPr txBox="1"/>
          <p:nvPr>
            <p:ph idx="2" type="body"/>
          </p:nvPr>
        </p:nvSpPr>
        <p:spPr>
          <a:xfrm>
            <a:off x="5014913" y="1825625"/>
            <a:ext cx="421005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6" name="Google Shape;176;p82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82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82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3"/>
          <p:cNvSpPr txBox="1"/>
          <p:nvPr>
            <p:ph type="title"/>
          </p:nvPr>
        </p:nvSpPr>
        <p:spPr>
          <a:xfrm>
            <a:off x="682328" y="365127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83"/>
          <p:cNvSpPr txBox="1"/>
          <p:nvPr>
            <p:ph idx="1" type="body"/>
          </p:nvPr>
        </p:nvSpPr>
        <p:spPr>
          <a:xfrm>
            <a:off x="682329" y="1681163"/>
            <a:ext cx="4190702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82" name="Google Shape;182;p83"/>
          <p:cNvSpPr txBox="1"/>
          <p:nvPr>
            <p:ph idx="2" type="body"/>
          </p:nvPr>
        </p:nvSpPr>
        <p:spPr>
          <a:xfrm>
            <a:off x="682329" y="2505075"/>
            <a:ext cx="4190702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3" name="Google Shape;183;p83"/>
          <p:cNvSpPr txBox="1"/>
          <p:nvPr>
            <p:ph idx="3" type="body"/>
          </p:nvPr>
        </p:nvSpPr>
        <p:spPr>
          <a:xfrm>
            <a:off x="5014913" y="1681163"/>
            <a:ext cx="4211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84" name="Google Shape;184;p83"/>
          <p:cNvSpPr txBox="1"/>
          <p:nvPr>
            <p:ph idx="4" type="body"/>
          </p:nvPr>
        </p:nvSpPr>
        <p:spPr>
          <a:xfrm>
            <a:off x="5014913" y="2505075"/>
            <a:ext cx="4211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5" name="Google Shape;185;p83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83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83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4"/>
          <p:cNvSpPr txBox="1"/>
          <p:nvPr>
            <p:ph type="title"/>
          </p:nvPr>
        </p:nvSpPr>
        <p:spPr>
          <a:xfrm>
            <a:off x="681038" y="307978"/>
            <a:ext cx="8543925" cy="577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84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84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84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5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85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85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6"/>
          <p:cNvSpPr txBox="1"/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86"/>
          <p:cNvSpPr txBox="1"/>
          <p:nvPr>
            <p:ph idx="1" type="body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00" name="Google Shape;200;p86"/>
          <p:cNvSpPr txBox="1"/>
          <p:nvPr>
            <p:ph idx="2" type="body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01" name="Google Shape;201;p86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86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86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7"/>
          <p:cNvSpPr txBox="1"/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87"/>
          <p:cNvSpPr/>
          <p:nvPr>
            <p:ph idx="2" type="pic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07" name="Google Shape;207;p87"/>
          <p:cNvSpPr txBox="1"/>
          <p:nvPr>
            <p:ph idx="1" type="body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08" name="Google Shape;208;p87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87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87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8"/>
          <p:cNvSpPr txBox="1"/>
          <p:nvPr>
            <p:ph type="title"/>
          </p:nvPr>
        </p:nvSpPr>
        <p:spPr>
          <a:xfrm>
            <a:off x="681038" y="307978"/>
            <a:ext cx="8543925" cy="577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88"/>
          <p:cNvSpPr txBox="1"/>
          <p:nvPr>
            <p:ph idx="1" type="body"/>
          </p:nvPr>
        </p:nvSpPr>
        <p:spPr>
          <a:xfrm rot="5400000">
            <a:off x="2777332" y="-270668"/>
            <a:ext cx="4351338" cy="8543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4" name="Google Shape;214;p88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88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88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9"/>
          <p:cNvSpPr txBox="1"/>
          <p:nvPr>
            <p:ph type="title"/>
          </p:nvPr>
        </p:nvSpPr>
        <p:spPr>
          <a:xfrm rot="5400000">
            <a:off x="5251054" y="2203054"/>
            <a:ext cx="5811838" cy="21359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89"/>
          <p:cNvSpPr txBox="1"/>
          <p:nvPr>
            <p:ph idx="1" type="body"/>
          </p:nvPr>
        </p:nvSpPr>
        <p:spPr>
          <a:xfrm rot="5400000">
            <a:off x="917179" y="128984"/>
            <a:ext cx="5811838" cy="62841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0" name="Google Shape;220;p89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89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89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theme" Target="../theme/theme2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2"/>
          <p:cNvSpPr txBox="1"/>
          <p:nvPr>
            <p:ph type="title"/>
          </p:nvPr>
        </p:nvSpPr>
        <p:spPr>
          <a:xfrm>
            <a:off x="681038" y="307978"/>
            <a:ext cx="8543925" cy="577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62"/>
          <p:cNvSpPr txBox="1"/>
          <p:nvPr>
            <p:ph idx="1" type="body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2" name="Google Shape;12;p62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3" name="Google Shape;13;p62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4" name="Google Shape;14;p62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Relationship Id="rId4" Type="http://schemas.openxmlformats.org/officeDocument/2006/relationships/hyperlink" Target="https://www.ambient-it.net/prochaines-sessions/" TargetMode="External"/><Relationship Id="rId5" Type="http://schemas.openxmlformats.org/officeDocument/2006/relationships/hyperlink" Target="https://www.ambient-it.net/prochaines-sessions/" TargetMode="External"/><Relationship Id="rId6" Type="http://schemas.openxmlformats.org/officeDocument/2006/relationships/hyperlink" Target="https://www.ambient-it.net/formations-cpf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19.png"/><Relationship Id="rId7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monday.com" TargetMode="External"/><Relationship Id="rId4" Type="http://schemas.openxmlformats.org/officeDocument/2006/relationships/hyperlink" Target="https://www.odoo.com/fr_FR" TargetMode="External"/><Relationship Id="rId5" Type="http://schemas.openxmlformats.org/officeDocument/2006/relationships/hyperlink" Target="https://www.youtube.com/watch?v=KVqHskqbCgc" TargetMode="External"/><Relationship Id="rId6" Type="http://schemas.openxmlformats.org/officeDocument/2006/relationships/hyperlink" Target="https://www.odoo.com/fr_FR/pricing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ww.odoo.com/fr_FR/pricing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www.odoo.com/fr_FR/page/editions" TargetMode="External"/><Relationship Id="rId4" Type="http://schemas.openxmlformats.org/officeDocument/2006/relationships/hyperlink" Target="https://apps.odoo.com/apps" TargetMode="External"/><Relationship Id="rId5" Type="http://schemas.openxmlformats.org/officeDocument/2006/relationships/hyperlink" Target="https://odoo-community.org/" TargetMode="External"/><Relationship Id="rId6" Type="http://schemas.openxmlformats.org/officeDocument/2006/relationships/hyperlink" Target="https://github.com/OCA/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odoo.com/documentation/19.0/administration/standard_extended_support.html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www.odoo.com/documentation/19.0/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github.com/arnaudlayec/odoo-training/tree/main/chapter_00_prerequisites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github.com/odoo/owl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www.odoo.com/documentation/19.0/developer/reference/backend/orm.html" TargetMode="External"/><Relationship Id="rId4" Type="http://schemas.openxmlformats.org/officeDocument/2006/relationships/hyperlink" Target="https://github.com/odoo/odoo/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www.odoo.com/documentation/19.0/administration/on_premise/packages.html" TargetMode="External"/><Relationship Id="rId4" Type="http://schemas.openxmlformats.org/officeDocument/2006/relationships/hyperlink" Target="https://www.odoo.com/documentation/19.0/administration/on_premise/source.html" TargetMode="External"/><Relationship Id="rId9" Type="http://schemas.openxmlformats.org/officeDocument/2006/relationships/hyperlink" Target="https://github.com/akretion/ak" TargetMode="External"/><Relationship Id="rId5" Type="http://schemas.openxmlformats.org/officeDocument/2006/relationships/hyperlink" Target="https://github.com/arnaudlayec/odoo-training/blob/main/chapter_02_build/build_odoo_from_source_o19.sh" TargetMode="External"/><Relationship Id="rId6" Type="http://schemas.openxmlformats.org/officeDocument/2006/relationships/hyperlink" Target="https://github.com/arnaudlayec/odoo-training/blob/main/chapter_02_build/build_odoo_from_source_o19.sh" TargetMode="External"/><Relationship Id="rId7" Type="http://schemas.openxmlformats.org/officeDocument/2006/relationships/hyperlink" Target="https://github.com/acsone/odoo-bedrock" TargetMode="External"/><Relationship Id="rId8" Type="http://schemas.openxmlformats.org/officeDocument/2006/relationships/hyperlink" Target="mailto:git@github.com" TargetMode="External"/><Relationship Id="rId11" Type="http://schemas.openxmlformats.org/officeDocument/2006/relationships/hyperlink" Target="https://pypi.org/" TargetMode="External"/><Relationship Id="rId10" Type="http://schemas.openxmlformats.org/officeDocument/2006/relationships/hyperlink" Target="https://docs.astral.sh/uv/concepts/projects/sync/" TargetMode="External"/><Relationship Id="rId12" Type="http://schemas.openxmlformats.org/officeDocument/2006/relationships/hyperlink" Target="https://github.com/acsone/click-odoo-contrib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6.png"/><Relationship Id="rId4" Type="http://schemas.openxmlformats.org/officeDocument/2006/relationships/hyperlink" Target="https://github.com/arnaudlayec/odoo-training/tree/main/chapter_00_prerequisites#84-t%C3%A9l%C3%A9charger-le-code-odoo-et-lancer-lenvironnement" TargetMode="External"/><Relationship Id="rId5" Type="http://schemas.openxmlformats.org/officeDocument/2006/relationships/hyperlink" Target="https://github.com/arnaudlayec/odoo-training/blob/main/chapter_02_build/build_odoo_from_source_o19.sh" TargetMode="External"/><Relationship Id="rId6" Type="http://schemas.openxmlformats.org/officeDocument/2006/relationships/hyperlink" Target="https://github.com/arnaudlayec/odoo-training/blob/main/chapter_02_build/odoo_conf_companion.md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://github.com/OCA/maintainer-tools/tree/master/template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6.png"/><Relationship Id="rId4" Type="http://schemas.openxmlformats.org/officeDocument/2006/relationships/hyperlink" Target="https://spilymp.github.io/ibo/" TargetMode="Externa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www.odoo.com/documentation/19.0/developer/reference/backend/orm.html#fields" TargetMode="External"/><Relationship Id="rId4" Type="http://schemas.openxmlformats.org/officeDocument/2006/relationships/image" Target="../media/image16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6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6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hyperlink" Target="https://www.odoo.com/documentation/19.0/fr/developer/reference/user_interface/view_architectures.html" TargetMode="Externa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hyperlink" Target="https://www.odoo.com/documentation/19.0/fr/developer/reference/user_interface/view_architectures.html" TargetMode="Externa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6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"/>
          <p:cNvSpPr txBox="1"/>
          <p:nvPr>
            <p:ph type="title"/>
          </p:nvPr>
        </p:nvSpPr>
        <p:spPr>
          <a:xfrm>
            <a:off x="4953000" y="2851152"/>
            <a:ext cx="4822480" cy="577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-FR" sz="2800"/>
              <a:t>Formation Odoo Développeur — Essentiel</a:t>
            </a:r>
            <a:endParaRPr/>
          </a:p>
        </p:txBody>
      </p:sp>
      <p:sp>
        <p:nvSpPr>
          <p:cNvPr id="229" name="Google Shape;229;p1"/>
          <p:cNvSpPr txBox="1"/>
          <p:nvPr>
            <p:ph idx="1" type="body"/>
          </p:nvPr>
        </p:nvSpPr>
        <p:spPr>
          <a:xfrm>
            <a:off x="5019675" y="3648075"/>
            <a:ext cx="4713300" cy="19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fr-FR" sz="1800"/>
              <a:t>Ambient IT</a:t>
            </a:r>
            <a:br>
              <a:rPr b="1" lang="fr-FR" sz="1800"/>
            </a:br>
            <a:r>
              <a:rPr b="1" lang="fr-FR" sz="1800"/>
              <a:t>31 Ao</a:t>
            </a:r>
            <a:r>
              <a:rPr b="1" lang="fr-FR" sz="1800"/>
              <a:t>ût </a:t>
            </a:r>
            <a:r>
              <a:rPr b="1" lang="fr-FR" sz="1800"/>
              <a:t>- 02 Sept. 2026</a:t>
            </a:r>
            <a:endParaRPr b="1" sz="18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fr-FR" sz="1800"/>
              <a:t>Formateur : Arnaud LAYEC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fr-FR" sz="1800"/>
              <a:t>Jour 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63089" y="2658571"/>
            <a:ext cx="2400508" cy="701101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"/>
          <p:cNvSpPr txBox="1"/>
          <p:nvPr>
            <p:ph idx="1" type="body"/>
          </p:nvPr>
        </p:nvSpPr>
        <p:spPr>
          <a:xfrm>
            <a:off x="5019675" y="3648075"/>
            <a:ext cx="4713288" cy="2575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33375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fr-FR" u="sng">
                <a:solidFill>
                  <a:schemeClr val="hlink"/>
                </a:solidFill>
                <a:hlinkClick r:id="rId4"/>
              </a:rPr>
              <a:t>+900 formations </a:t>
            </a:r>
            <a:r>
              <a:rPr lang="fr-FR" u="sng">
                <a:solidFill>
                  <a:schemeClr val="hlink"/>
                </a:solidFill>
                <a:hlinkClick r:id="rId5"/>
              </a:rPr>
              <a:t>en informatique</a:t>
            </a:r>
            <a:endParaRPr/>
          </a:p>
          <a:p>
            <a:pPr indent="-333375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fr-FR" u="sng">
                <a:solidFill>
                  <a:schemeClr val="hlink"/>
                </a:solidFill>
                <a:hlinkClick r:id="rId6"/>
              </a:rPr>
              <a:t>Des thématiques éligibles au CPF</a:t>
            </a:r>
            <a:endParaRPr/>
          </a:p>
          <a:p>
            <a:pPr indent="-333375" lvl="1" marL="8001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fr-FR" sz="2000"/>
              <a:t>DevOps</a:t>
            </a:r>
            <a:endParaRPr/>
          </a:p>
          <a:p>
            <a:pPr indent="-333375" lvl="1" marL="8001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fr-FR" sz="2000"/>
              <a:t>Développement d’applications</a:t>
            </a:r>
            <a:endParaRPr sz="2000"/>
          </a:p>
          <a:p>
            <a:pPr indent="-333375" lvl="1" marL="8001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fr-FR" sz="2000"/>
              <a:t>Infrastructures sécurisées</a:t>
            </a:r>
            <a:endParaRPr/>
          </a:p>
          <a:p>
            <a:pPr indent="-333375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fr-FR"/>
              <a:t>Linux Foundation Partner</a:t>
            </a:r>
            <a:endParaRPr/>
          </a:p>
          <a:p>
            <a:pPr indent="-333375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fr-FR"/>
              <a:t>OffensiveSecurity Partner</a:t>
            </a:r>
            <a:endParaRPr/>
          </a:p>
          <a:p>
            <a:pPr indent="-333375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fr-FR"/>
              <a:t>Microsoft Partner</a:t>
            </a:r>
            <a:endParaRPr/>
          </a:p>
          <a:p>
            <a:pPr indent="-333375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23457"/>
              <a:buChar char="•"/>
            </a:pPr>
            <a:r>
              <a:rPr lang="fr-FR"/>
              <a:t>Comptia Partner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f83e393ca9_0_1"/>
          <p:cNvSpPr txBox="1"/>
          <p:nvPr>
            <p:ph type="title"/>
          </p:nvPr>
        </p:nvSpPr>
        <p:spPr>
          <a:xfrm>
            <a:off x="4588662" y="803277"/>
            <a:ext cx="4822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lang="fr-FR">
                <a:latin typeface="Tahoma"/>
                <a:ea typeface="Tahoma"/>
                <a:cs typeface="Tahoma"/>
                <a:sym typeface="Tahoma"/>
              </a:rPr>
              <a:t>🙋</a:t>
            </a:r>
            <a:r>
              <a:rPr b="0" lang="fr-FR" sz="3068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fr-FR"/>
              <a:t>Présentons nous</a:t>
            </a:r>
            <a:endParaRPr/>
          </a:p>
        </p:txBody>
      </p:sp>
      <p:sp>
        <p:nvSpPr>
          <p:cNvPr id="242" name="Google Shape;242;g3f83e393ca9_0_1"/>
          <p:cNvSpPr txBox="1"/>
          <p:nvPr/>
        </p:nvSpPr>
        <p:spPr>
          <a:xfrm>
            <a:off x="4588650" y="1784700"/>
            <a:ext cx="36897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8"/>
              <a:buFont typeface="Arial"/>
              <a:buNone/>
            </a:pPr>
            <a:r>
              <a:rPr b="1" lang="fr-FR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Nom/prénom</a:t>
            </a:r>
            <a:endParaRPr b="1" sz="2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8"/>
              <a:buFont typeface="Arial"/>
              <a:buNone/>
            </a:pP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→ Tips : chevalets</a:t>
            </a:r>
            <a:endParaRPr i="0" sz="15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3" name="Google Shape;243;g3f83e393ca9_0_1"/>
          <p:cNvSpPr txBox="1"/>
          <p:nvPr/>
        </p:nvSpPr>
        <p:spPr>
          <a:xfrm>
            <a:off x="6748775" y="2593675"/>
            <a:ext cx="27849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8"/>
              <a:buFont typeface="Arial"/>
              <a:buNone/>
            </a:pPr>
            <a:r>
              <a:rPr b="1" lang="fr-FR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D’où partez-vous ?</a:t>
            </a:r>
            <a:endParaRPr b="1" sz="2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8"/>
              <a:buFont typeface="Arial"/>
              <a:buNone/>
            </a:pPr>
            <a:r>
              <a:rPr lang="fr-FR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→ Concernant : Odoo, le développement, l’infra. IT</a:t>
            </a:r>
            <a:endParaRPr i="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4" name="Google Shape;244;g3f83e393ca9_0_1"/>
          <p:cNvSpPr txBox="1"/>
          <p:nvPr/>
        </p:nvSpPr>
        <p:spPr>
          <a:xfrm>
            <a:off x="4588650" y="3829825"/>
            <a:ext cx="35259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8"/>
              <a:buFont typeface="Arial"/>
              <a:buNone/>
            </a:pPr>
            <a:r>
              <a:rPr b="1" lang="fr-FR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Vos objectifs ou attentes</a:t>
            </a:r>
            <a:endParaRPr b="1" sz="2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68"/>
              <a:buFont typeface="Arial"/>
              <a:buNone/>
            </a:pPr>
            <a:r>
              <a:rPr lang="fr-FR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→ Pourquoi cette formation,</a:t>
            </a:r>
            <a:br>
              <a:rPr lang="fr-FR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fr-FR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quoi pour vous après ?</a:t>
            </a:r>
            <a:endParaRPr sz="2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5" name="Google Shape;245;g3f83e393ca9_0_1"/>
          <p:cNvSpPr txBox="1"/>
          <p:nvPr/>
        </p:nvSpPr>
        <p:spPr>
          <a:xfrm>
            <a:off x="6880475" y="4947605"/>
            <a:ext cx="2530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68"/>
              <a:buFont typeface="Arial"/>
              <a:buNone/>
            </a:pPr>
            <a:r>
              <a:rPr b="1" lang="fr-FR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Prérequis :</a:t>
            </a:r>
            <a:br>
              <a:rPr b="1" lang="fr-FR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1" lang="fr-FR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où en êtes vous ?</a:t>
            </a:r>
            <a:endParaRPr b="1" sz="2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68"/>
              <a:buFont typeface="Arial"/>
              <a:buNone/>
            </a:pPr>
            <a:r>
              <a:rPr lang="fr-FR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→ Etape des prérequis</a:t>
            </a:r>
            <a:endParaRPr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f83fd878ef_0_51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/>
              <a:t>Objectifs de la formation</a:t>
            </a:r>
            <a:endParaRPr/>
          </a:p>
        </p:txBody>
      </p:sp>
      <p:sp>
        <p:nvSpPr>
          <p:cNvPr id="251" name="Google Shape;251;g3f83fd878ef_0_51"/>
          <p:cNvSpPr txBox="1"/>
          <p:nvPr/>
        </p:nvSpPr>
        <p:spPr>
          <a:xfrm>
            <a:off x="1035300" y="1444675"/>
            <a:ext cx="38193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Comprendre l'architecture et les concepts clés de Odoo </a:t>
            </a:r>
            <a:r>
              <a:rPr lang="fr-FR" sz="16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(historique, licensing, versioning, architecture 3-tiers, ORM, OWL, héritage)</a:t>
            </a:r>
            <a:endParaRPr sz="16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2" name="Google Shape;252;g3f83fd878ef_0_51"/>
          <p:cNvSpPr txBox="1"/>
          <p:nvPr/>
        </p:nvSpPr>
        <p:spPr>
          <a:xfrm>
            <a:off x="5521040" y="1455700"/>
            <a:ext cx="35808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Construire un module Odoo de base de A à Z</a:t>
            </a:r>
            <a:r>
              <a:rPr lang="fr-FR" sz="20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fr-FR" sz="16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(modèles, champs, vues, sécurité ; puis héritage de modèles et vues, champs calculés, contraintes, actions)</a:t>
            </a:r>
            <a:endParaRPr sz="16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3" name="Google Shape;253;g3f83fd878ef_0_51"/>
          <p:cNvSpPr txBox="1"/>
          <p:nvPr/>
        </p:nvSpPr>
        <p:spPr>
          <a:xfrm>
            <a:off x="1035300" y="3542850"/>
            <a:ext cx="33138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Connaître les modules de bases, techniquement et fonctionnellement</a:t>
            </a:r>
            <a:br>
              <a:rPr lang="fr-FR" sz="20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fr-FR" sz="16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(utilisateurs, sociétés, navigation, recherche, ergonomie des vues/widgets)</a:t>
            </a:r>
            <a:endParaRPr sz="16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4" name="Google Shape;254;g3f83fd878ef_0_51"/>
          <p:cNvSpPr txBox="1"/>
          <p:nvPr/>
        </p:nvSpPr>
        <p:spPr>
          <a:xfrm>
            <a:off x="3357916" y="2694897"/>
            <a:ext cx="3000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600">
                <a:solidFill>
                  <a:schemeClr val="dk1"/>
                </a:solidFill>
              </a:rPr>
              <a:t>🎯</a:t>
            </a:r>
            <a:endParaRPr sz="9600"/>
          </a:p>
        </p:txBody>
      </p:sp>
      <p:sp>
        <p:nvSpPr>
          <p:cNvPr id="255" name="Google Shape;255;g3f83fd878ef_0_51"/>
          <p:cNvSpPr txBox="1"/>
          <p:nvPr/>
        </p:nvSpPr>
        <p:spPr>
          <a:xfrm>
            <a:off x="981375" y="6166325"/>
            <a:ext cx="806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fr-FR" sz="2300">
                <a:solidFill>
                  <a:schemeClr val="dk1"/>
                </a:solidFill>
              </a:rPr>
              <a:t>📽 </a:t>
            </a:r>
            <a:r>
              <a:rPr i="1" lang="fr-FR" sz="2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Notre fil rouge : un module « library » (bibliothèque)</a:t>
            </a:r>
            <a:endParaRPr i="1" sz="24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6" name="Google Shape;256;g3f83fd878ef_0_51"/>
          <p:cNvSpPr txBox="1"/>
          <p:nvPr/>
        </p:nvSpPr>
        <p:spPr>
          <a:xfrm>
            <a:off x="5521050" y="3542850"/>
            <a:ext cx="33138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Savoir tester  et documenter un module ; et maintenir Odoo</a:t>
            </a:r>
            <a:br>
              <a:rPr lang="fr-FR" sz="20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fr-FR" sz="16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(normes ; mise à jours mineures, de modèle de données, de version majeure de Odoo)</a:t>
            </a:r>
            <a:endParaRPr sz="16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f83fd878ef_0_77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/>
              <a:t>Agenda</a:t>
            </a:r>
            <a:endParaRPr/>
          </a:p>
        </p:txBody>
      </p:sp>
      <p:sp>
        <p:nvSpPr>
          <p:cNvPr id="262" name="Google Shape;262;g3f83fd878ef_0_77"/>
          <p:cNvSpPr/>
          <p:nvPr/>
        </p:nvSpPr>
        <p:spPr>
          <a:xfrm rot="5400000">
            <a:off x="940025" y="1509463"/>
            <a:ext cx="471900" cy="505800"/>
          </a:xfrm>
          <a:prstGeom prst="homePlate">
            <a:avLst>
              <a:gd fmla="val 50000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3" name="Google Shape;263;g3f83fd878ef_0_77"/>
          <p:cNvSpPr/>
          <p:nvPr/>
        </p:nvSpPr>
        <p:spPr>
          <a:xfrm rot="5400000">
            <a:off x="828125" y="1929111"/>
            <a:ext cx="695700" cy="505500"/>
          </a:xfrm>
          <a:prstGeom prst="chevron">
            <a:avLst>
              <a:gd fmla="val 50000" name="adj"/>
            </a:avLst>
          </a:prstGeom>
          <a:solidFill>
            <a:srgbClr val="9FC5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4" name="Google Shape;264;g3f83fd878ef_0_77"/>
          <p:cNvSpPr txBox="1"/>
          <p:nvPr/>
        </p:nvSpPr>
        <p:spPr>
          <a:xfrm>
            <a:off x="5946248" y="1445851"/>
            <a:ext cx="3959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b="1" lang="fr-FR" sz="1700">
                <a:solidFill>
                  <a:srgbClr val="B7B7B7"/>
                </a:solidFill>
                <a:latin typeface="Tahoma"/>
                <a:ea typeface="Tahoma"/>
                <a:cs typeface="Tahoma"/>
                <a:sym typeface="Tahoma"/>
              </a:rPr>
              <a:t>9h-9h15          </a:t>
            </a:r>
            <a:r>
              <a:rPr lang="fr-FR" sz="17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: </a:t>
            </a:r>
            <a:r>
              <a:rPr lang="fr-FR" sz="1700">
                <a:solidFill>
                  <a:srgbClr val="BBBEBF"/>
                </a:solidFill>
              </a:rPr>
              <a:t>🎤 </a:t>
            </a:r>
            <a:r>
              <a:rPr lang="fr-FR" sz="17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révision</a:t>
            </a:r>
            <a:endParaRPr sz="13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5" name="Google Shape;265;g3f83fd878ef_0_77"/>
          <p:cNvSpPr txBox="1"/>
          <p:nvPr/>
        </p:nvSpPr>
        <p:spPr>
          <a:xfrm>
            <a:off x="5946259" y="1879532"/>
            <a:ext cx="3196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b="1" lang="fr-FR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9</a:t>
            </a:r>
            <a:r>
              <a:rPr b="1" lang="fr-FR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h15-10h15   </a:t>
            </a:r>
            <a:r>
              <a:rPr lang="fr-FR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1 chapitre</a:t>
            </a:r>
            <a:endParaRPr sz="1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6" name="Google Shape;266;g3f83fd878ef_0_77"/>
          <p:cNvSpPr txBox="1"/>
          <p:nvPr/>
        </p:nvSpPr>
        <p:spPr>
          <a:xfrm>
            <a:off x="1536550" y="1445851"/>
            <a:ext cx="3468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b="1" lang="fr-FR" sz="1700">
                <a:solidFill>
                  <a:srgbClr val="B7B7B7"/>
                </a:solidFill>
                <a:latin typeface="Tahoma"/>
                <a:ea typeface="Tahoma"/>
                <a:cs typeface="Tahoma"/>
                <a:sym typeface="Tahoma"/>
              </a:rPr>
              <a:t>9h-9h30</a:t>
            </a:r>
            <a:r>
              <a:rPr lang="fr-FR" sz="17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        :</a:t>
            </a:r>
            <a:r>
              <a:rPr b="1" lang="fr-FR" sz="17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fr-FR" sz="17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mise en route</a:t>
            </a:r>
            <a:endParaRPr sz="13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7" name="Google Shape;267;g3f83fd878ef_0_77"/>
          <p:cNvSpPr txBox="1"/>
          <p:nvPr/>
        </p:nvSpPr>
        <p:spPr>
          <a:xfrm>
            <a:off x="1536550" y="1879526"/>
            <a:ext cx="3468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b="1" lang="fr-FR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9h30-10h15   </a:t>
            </a:r>
            <a:r>
              <a:rPr lang="fr-FR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introduction</a:t>
            </a:r>
            <a:endParaRPr sz="1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8" name="Google Shape;268;g3f83fd878ef_0_77"/>
          <p:cNvSpPr/>
          <p:nvPr/>
        </p:nvSpPr>
        <p:spPr>
          <a:xfrm rot="5400000">
            <a:off x="901625" y="2393692"/>
            <a:ext cx="548700" cy="505500"/>
          </a:xfrm>
          <a:prstGeom prst="chevron">
            <a:avLst>
              <a:gd fmla="val 50000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9" name="Google Shape;269;g3f83fd878ef_0_77"/>
          <p:cNvSpPr txBox="1"/>
          <p:nvPr/>
        </p:nvSpPr>
        <p:spPr>
          <a:xfrm>
            <a:off x="5946259" y="2333834"/>
            <a:ext cx="3196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b="1" lang="fr-FR" sz="1700">
                <a:solidFill>
                  <a:srgbClr val="B7B7B7"/>
                </a:solidFill>
                <a:latin typeface="Tahoma"/>
                <a:ea typeface="Tahoma"/>
                <a:cs typeface="Tahoma"/>
                <a:sym typeface="Tahoma"/>
              </a:rPr>
              <a:t>10</a:t>
            </a:r>
            <a:r>
              <a:rPr b="1" lang="fr-FR" sz="1700">
                <a:solidFill>
                  <a:srgbClr val="B7B7B7"/>
                </a:solidFill>
                <a:latin typeface="Tahoma"/>
                <a:ea typeface="Tahoma"/>
                <a:cs typeface="Tahoma"/>
                <a:sym typeface="Tahoma"/>
              </a:rPr>
              <a:t>h15-10h30 </a:t>
            </a:r>
            <a:r>
              <a:rPr lang="fr-FR" sz="17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: </a:t>
            </a:r>
            <a:r>
              <a:rPr lang="fr-FR" sz="1700">
                <a:solidFill>
                  <a:srgbClr val="BBBEBF"/>
                </a:solidFill>
              </a:rPr>
              <a:t>☕ </a:t>
            </a:r>
            <a:r>
              <a:rPr lang="fr-FR" sz="17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pause</a:t>
            </a:r>
            <a:endParaRPr sz="13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0" name="Google Shape;270;g3f83fd878ef_0_77"/>
          <p:cNvSpPr txBox="1"/>
          <p:nvPr/>
        </p:nvSpPr>
        <p:spPr>
          <a:xfrm>
            <a:off x="1536550" y="2333826"/>
            <a:ext cx="3468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b="1" lang="fr-FR" sz="1700">
                <a:solidFill>
                  <a:srgbClr val="B7B7B7"/>
                </a:solidFill>
                <a:latin typeface="Tahoma"/>
                <a:ea typeface="Tahoma"/>
                <a:cs typeface="Tahoma"/>
                <a:sym typeface="Tahoma"/>
              </a:rPr>
              <a:t>10</a:t>
            </a:r>
            <a:r>
              <a:rPr b="1" lang="fr-FR" sz="1700">
                <a:solidFill>
                  <a:srgbClr val="B7B7B7"/>
                </a:solidFill>
                <a:latin typeface="Tahoma"/>
                <a:ea typeface="Tahoma"/>
                <a:cs typeface="Tahoma"/>
                <a:sym typeface="Tahoma"/>
              </a:rPr>
              <a:t>h15-10h30</a:t>
            </a:r>
            <a:r>
              <a:rPr b="1" lang="fr-FR" sz="17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fr-FR" sz="17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: </a:t>
            </a:r>
            <a:r>
              <a:rPr lang="fr-FR" sz="1700">
                <a:solidFill>
                  <a:srgbClr val="BBBEBF"/>
                </a:solidFill>
              </a:rPr>
              <a:t>☕ </a:t>
            </a:r>
            <a:r>
              <a:rPr lang="fr-FR" sz="17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pause</a:t>
            </a:r>
            <a:endParaRPr sz="13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1" name="Google Shape;271;g3f83fd878ef_0_77"/>
          <p:cNvSpPr txBox="1"/>
          <p:nvPr/>
        </p:nvSpPr>
        <p:spPr>
          <a:xfrm>
            <a:off x="1536550" y="3066795"/>
            <a:ext cx="3468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b="1" lang="fr-FR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10h30-12h30 </a:t>
            </a:r>
            <a:r>
              <a:rPr lang="fr-FR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2 chapitres</a:t>
            </a:r>
            <a:endParaRPr sz="1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2" name="Google Shape;272;g3f83fd878ef_0_77"/>
          <p:cNvSpPr/>
          <p:nvPr/>
        </p:nvSpPr>
        <p:spPr>
          <a:xfrm rot="5400000">
            <a:off x="655925" y="3038093"/>
            <a:ext cx="1040100" cy="505500"/>
          </a:xfrm>
          <a:prstGeom prst="chevron">
            <a:avLst>
              <a:gd fmla="val 50000" name="adj"/>
            </a:avLst>
          </a:prstGeom>
          <a:solidFill>
            <a:srgbClr val="9FC5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3" name="Google Shape;273;g3f83fd878ef_0_77"/>
          <p:cNvSpPr/>
          <p:nvPr/>
        </p:nvSpPr>
        <p:spPr>
          <a:xfrm rot="5400000">
            <a:off x="1698635" y="4696934"/>
            <a:ext cx="1017000" cy="505500"/>
          </a:xfrm>
          <a:prstGeom prst="chevron">
            <a:avLst>
              <a:gd fmla="val 50000" name="adj"/>
            </a:avLst>
          </a:prstGeom>
          <a:solidFill>
            <a:srgbClr val="9FC5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4" name="Google Shape;274;g3f83fd878ef_0_77"/>
          <p:cNvSpPr txBox="1"/>
          <p:nvPr/>
        </p:nvSpPr>
        <p:spPr>
          <a:xfrm>
            <a:off x="2567719" y="4676228"/>
            <a:ext cx="3196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b="1" lang="fr-FR" sz="17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13</a:t>
            </a:r>
            <a:r>
              <a:rPr b="1" lang="fr-FR" sz="17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h30-15h00</a:t>
            </a:r>
            <a:r>
              <a:rPr lang="fr-FR" sz="17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 :</a:t>
            </a:r>
            <a:r>
              <a:rPr b="1" lang="fr-FR" sz="17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fr-FR" sz="17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2 chapitres</a:t>
            </a:r>
            <a:endParaRPr sz="13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5" name="Google Shape;275;g3f83fd878ef_0_77"/>
          <p:cNvSpPr/>
          <p:nvPr/>
        </p:nvSpPr>
        <p:spPr>
          <a:xfrm rot="5400000">
            <a:off x="1932794" y="5322051"/>
            <a:ext cx="548700" cy="505500"/>
          </a:xfrm>
          <a:prstGeom prst="chevron">
            <a:avLst>
              <a:gd fmla="val 50000" name="adj"/>
            </a:avLst>
          </a:prstGeom>
          <a:solidFill>
            <a:srgbClr val="F1E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6" name="Google Shape;276;g3f83fd878ef_0_77"/>
          <p:cNvSpPr txBox="1"/>
          <p:nvPr/>
        </p:nvSpPr>
        <p:spPr>
          <a:xfrm>
            <a:off x="2567719" y="5262193"/>
            <a:ext cx="3643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b="1" lang="fr-FR" sz="1700">
                <a:solidFill>
                  <a:srgbClr val="B7B7B7"/>
                </a:solidFill>
                <a:latin typeface="Tahoma"/>
                <a:ea typeface="Tahoma"/>
                <a:cs typeface="Tahoma"/>
                <a:sym typeface="Tahoma"/>
              </a:rPr>
              <a:t>15h00-15h15  </a:t>
            </a:r>
            <a:r>
              <a:rPr lang="fr-FR" sz="17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: </a:t>
            </a:r>
            <a:r>
              <a:rPr lang="fr-FR" sz="1700">
                <a:solidFill>
                  <a:srgbClr val="BBBEBF"/>
                </a:solidFill>
              </a:rPr>
              <a:t>☕ </a:t>
            </a:r>
            <a:r>
              <a:rPr lang="fr-FR" sz="17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pause</a:t>
            </a:r>
            <a:endParaRPr b="1" sz="17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7" name="Google Shape;277;g3f83fd878ef_0_77"/>
          <p:cNvSpPr txBox="1"/>
          <p:nvPr/>
        </p:nvSpPr>
        <p:spPr>
          <a:xfrm>
            <a:off x="2567719" y="6028805"/>
            <a:ext cx="3643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b="1" lang="fr-FR" sz="17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15h15-17h00  </a:t>
            </a:r>
            <a:r>
              <a:rPr lang="fr-FR" sz="17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: 2 </a:t>
            </a:r>
            <a:r>
              <a:rPr lang="fr-FR" sz="17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chapitres</a:t>
            </a:r>
            <a:endParaRPr sz="17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8" name="Google Shape;278;g3f83fd878ef_0_77"/>
          <p:cNvSpPr txBox="1"/>
          <p:nvPr/>
        </p:nvSpPr>
        <p:spPr>
          <a:xfrm>
            <a:off x="923075" y="3879589"/>
            <a:ext cx="8219700" cy="446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700">
                <a:solidFill>
                  <a:srgbClr val="BBBEBF"/>
                </a:solidFill>
              </a:rPr>
              <a:t>🍽️ </a:t>
            </a:r>
            <a:r>
              <a:rPr b="1" i="1" lang="fr-FR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12h30-13h30</a:t>
            </a:r>
            <a:r>
              <a:rPr i="1" lang="fr-FR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:</a:t>
            </a:r>
            <a:r>
              <a:rPr b="1" i="1" lang="fr-FR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i="1" lang="fr-FR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Déjeuner</a:t>
            </a:r>
            <a:endParaRPr i="1" sz="17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9" name="Google Shape;279;g3f83fd878ef_0_77"/>
          <p:cNvSpPr txBox="1"/>
          <p:nvPr/>
        </p:nvSpPr>
        <p:spPr>
          <a:xfrm>
            <a:off x="5440459" y="1054119"/>
            <a:ext cx="3196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b="1" lang="fr-FR" sz="17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→ Jours 2 et 3</a:t>
            </a:r>
            <a:endParaRPr sz="13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80" name="Google Shape;280;g3f83fd878ef_0_77"/>
          <p:cNvSpPr txBox="1"/>
          <p:nvPr/>
        </p:nvSpPr>
        <p:spPr>
          <a:xfrm>
            <a:off x="923075" y="1054119"/>
            <a:ext cx="3196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b="1" lang="fr-FR" sz="17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→ Jour 1</a:t>
            </a:r>
            <a:endParaRPr sz="13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81" name="Google Shape;281;g3f83fd878ef_0_77"/>
          <p:cNvSpPr/>
          <p:nvPr/>
        </p:nvSpPr>
        <p:spPr>
          <a:xfrm rot="5400000">
            <a:off x="5457409" y="1509463"/>
            <a:ext cx="471900" cy="505800"/>
          </a:xfrm>
          <a:prstGeom prst="homePlate">
            <a:avLst>
              <a:gd fmla="val 50000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82" name="Google Shape;282;g3f83fd878ef_0_77"/>
          <p:cNvSpPr/>
          <p:nvPr/>
        </p:nvSpPr>
        <p:spPr>
          <a:xfrm rot="5400000">
            <a:off x="5345509" y="1929111"/>
            <a:ext cx="695700" cy="505500"/>
          </a:xfrm>
          <a:prstGeom prst="chevron">
            <a:avLst>
              <a:gd fmla="val 50000" name="adj"/>
            </a:avLst>
          </a:prstGeom>
          <a:solidFill>
            <a:srgbClr val="9FC5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83" name="Google Shape;283;g3f83fd878ef_0_77"/>
          <p:cNvSpPr/>
          <p:nvPr/>
        </p:nvSpPr>
        <p:spPr>
          <a:xfrm rot="5400000">
            <a:off x="5419009" y="2393692"/>
            <a:ext cx="548700" cy="505500"/>
          </a:xfrm>
          <a:prstGeom prst="chevron">
            <a:avLst>
              <a:gd fmla="val 50000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84" name="Google Shape;284;g3f83fd878ef_0_77"/>
          <p:cNvSpPr txBox="1"/>
          <p:nvPr/>
        </p:nvSpPr>
        <p:spPr>
          <a:xfrm rot="-5400000">
            <a:off x="66750" y="2423239"/>
            <a:ext cx="926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2000"/>
              </a:spcBef>
              <a:spcAft>
                <a:spcPts val="0"/>
              </a:spcAft>
              <a:buNone/>
            </a:pPr>
            <a:r>
              <a:rPr b="1" lang="fr-FR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3h30</a:t>
            </a:r>
            <a:endParaRPr sz="1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85" name="Google Shape;285;g3f83fd878ef_0_77"/>
          <p:cNvSpPr txBox="1"/>
          <p:nvPr/>
        </p:nvSpPr>
        <p:spPr>
          <a:xfrm rot="-5400000">
            <a:off x="1160160" y="5351613"/>
            <a:ext cx="926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2000"/>
              </a:spcBef>
              <a:spcAft>
                <a:spcPts val="0"/>
              </a:spcAft>
              <a:buNone/>
            </a:pPr>
            <a:r>
              <a:rPr b="1" lang="fr-FR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3h30</a:t>
            </a:r>
            <a:endParaRPr sz="1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86" name="Google Shape;286;g3f83fd878ef_0_77"/>
          <p:cNvSpPr/>
          <p:nvPr/>
        </p:nvSpPr>
        <p:spPr>
          <a:xfrm rot="5400000">
            <a:off x="1698635" y="5966831"/>
            <a:ext cx="1017000" cy="505500"/>
          </a:xfrm>
          <a:prstGeom prst="chevron">
            <a:avLst>
              <a:gd fmla="val 50000" name="adj"/>
            </a:avLst>
          </a:prstGeom>
          <a:solidFill>
            <a:srgbClr val="9FC5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87" name="Google Shape;287;g3f83fd878ef_0_77"/>
          <p:cNvSpPr txBox="1"/>
          <p:nvPr/>
        </p:nvSpPr>
        <p:spPr>
          <a:xfrm>
            <a:off x="6059333" y="3066795"/>
            <a:ext cx="3468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b="1" lang="fr-FR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10h30-12h30 </a:t>
            </a:r>
            <a:r>
              <a:rPr lang="fr-FR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2 chapitres</a:t>
            </a:r>
            <a:endParaRPr sz="1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88" name="Google Shape;288;g3f83fd878ef_0_77"/>
          <p:cNvSpPr/>
          <p:nvPr/>
        </p:nvSpPr>
        <p:spPr>
          <a:xfrm rot="5400000">
            <a:off x="5178708" y="3038093"/>
            <a:ext cx="1040100" cy="505500"/>
          </a:xfrm>
          <a:prstGeom prst="chevron">
            <a:avLst>
              <a:gd fmla="val 50000" name="adj"/>
            </a:avLst>
          </a:prstGeom>
          <a:solidFill>
            <a:srgbClr val="9FC5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89" name="Google Shape;289;g3f83fd878ef_0_77"/>
          <p:cNvSpPr txBox="1"/>
          <p:nvPr/>
        </p:nvSpPr>
        <p:spPr>
          <a:xfrm>
            <a:off x="6319050" y="4595675"/>
            <a:ext cx="2823600" cy="1662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ahoma"/>
              <a:buChar char="●"/>
            </a:pPr>
            <a:r>
              <a:rPr lang="fr-FR" sz="12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1 chapitre = intoduction théorique (~40%) et exercices pratiqu</a:t>
            </a:r>
            <a:r>
              <a:rPr lang="fr-FR" sz="12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es (~60%)</a:t>
            </a:r>
            <a:endParaRPr sz="12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ahoma"/>
              <a:buChar char="●"/>
            </a:pPr>
            <a:r>
              <a:rPr lang="fr-FR" sz="12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Exercices : 1 de base et 1 d’approfondissement</a:t>
            </a:r>
            <a:endParaRPr sz="12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ahoma"/>
              <a:buChar char="●"/>
            </a:pPr>
            <a:r>
              <a:rPr lang="fr-FR" sz="12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Fil rouge : bibliothèque (inventaire, détails des livres, membres, suivis des prêts, …)</a:t>
            </a:r>
            <a:endParaRPr sz="12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f8a5c5757b_0_4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/>
              <a:t>Agenda Jour 1</a:t>
            </a:r>
            <a:endParaRPr/>
          </a:p>
        </p:txBody>
      </p:sp>
      <p:graphicFrame>
        <p:nvGraphicFramePr>
          <p:cNvPr id="295" name="Google Shape;295;g3f8a5c5757b_0_4"/>
          <p:cNvGraphicFramePr/>
          <p:nvPr/>
        </p:nvGraphicFramePr>
        <p:xfrm>
          <a:off x="142875" y="1036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{3EDB087D-598B-4024-8A61-DCB6C5ED28FB}</a:tableStyleId>
              </a:tblPr>
              <a:tblGrid>
                <a:gridCol w="1038250"/>
                <a:gridCol w="736125"/>
                <a:gridCol w="3974100"/>
                <a:gridCol w="2919675"/>
                <a:gridCol w="1008750"/>
              </a:tblGrid>
              <a:tr h="214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fr-FR" sz="1050">
                          <a:solidFill>
                            <a:schemeClr val="lt1"/>
                          </a:solidFill>
                        </a:rPr>
                        <a:t>Horaire</a:t>
                      </a:r>
                      <a:endParaRPr b="1" sz="1050">
                        <a:solidFill>
                          <a:schemeClr val="lt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fr-FR" sz="1050">
                          <a:solidFill>
                            <a:schemeClr val="lt1"/>
                          </a:solidFill>
                        </a:rPr>
                        <a:t>Durée</a:t>
                      </a:r>
                      <a:endParaRPr b="1" sz="1050">
                        <a:solidFill>
                          <a:schemeClr val="lt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fr-FR" sz="1050">
                          <a:solidFill>
                            <a:schemeClr val="lt1"/>
                          </a:solidFill>
                        </a:rPr>
                        <a:t>Résumé</a:t>
                      </a:r>
                      <a:endParaRPr b="1" sz="1050">
                        <a:solidFill>
                          <a:schemeClr val="lt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fr-FR" sz="1050">
                          <a:solidFill>
                            <a:schemeClr val="lt1"/>
                          </a:solidFill>
                        </a:rPr>
                        <a:t>Exercice du fil rouge</a:t>
                      </a:r>
                      <a:endParaRPr b="1" sz="1050">
                        <a:solidFill>
                          <a:schemeClr val="lt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fr-FR" sz="1050">
                          <a:solidFill>
                            <a:schemeClr val="lt1"/>
                          </a:solidFill>
                        </a:rPr>
                        <a:t>N° chapitre</a:t>
                      </a:r>
                      <a:endParaRPr b="1" sz="1050">
                        <a:solidFill>
                          <a:schemeClr val="lt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16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050">
                          <a:solidFill>
                            <a:schemeClr val="dk1"/>
                          </a:solidFill>
                        </a:rPr>
                        <a:t>09:00 – 09:30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050">
                          <a:solidFill>
                            <a:schemeClr val="dk1"/>
                          </a:solidFill>
                        </a:rPr>
                        <a:t>30 min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050">
                          <a:solidFill>
                            <a:schemeClr val="dk1"/>
                          </a:solidFill>
                        </a:rPr>
                        <a:t>🎤 Ouverture, présentation du programme, tour de table (et vérif. prérequis)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050">
                          <a:solidFill>
                            <a:schemeClr val="dk1"/>
                          </a:solidFill>
                        </a:rPr>
                        <a:t>Tour de table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0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0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050">
                          <a:solidFill>
                            <a:schemeClr val="dk1"/>
                          </a:solidFill>
                        </a:rPr>
                        <a:t>09:30 – 10:15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050">
                          <a:solidFill>
                            <a:schemeClr val="dk1"/>
                          </a:solidFill>
                        </a:rPr>
                        <a:t>45 min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050">
                          <a:solidFill>
                            <a:schemeClr val="dk1"/>
                          </a:solidFill>
                        </a:rPr>
                        <a:t>Introduction : ERP, Odoo (histoire, marché, CE/EE et OCA)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050">
                          <a:solidFill>
                            <a:schemeClr val="dk1"/>
                          </a:solidFill>
                        </a:rPr>
                        <a:t>Partage d'expérience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0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0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050">
                          <a:solidFill>
                            <a:schemeClr val="dk1"/>
                          </a:solidFill>
                        </a:rPr>
                        <a:t>10:15 – 10:30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050">
                          <a:solidFill>
                            <a:schemeClr val="dk1"/>
                          </a:solidFill>
                        </a:rPr>
                        <a:t>15 min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050">
                          <a:solidFill>
                            <a:schemeClr val="dk1"/>
                          </a:solidFill>
                        </a:rPr>
                        <a:t>☕ Pause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050">
                          <a:solidFill>
                            <a:schemeClr val="dk1"/>
                          </a:solidFill>
                        </a:rPr>
                        <a:t>—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050">
                          <a:solidFill>
                            <a:schemeClr val="dk1"/>
                          </a:solidFill>
                        </a:rPr>
                        <a:t>—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050">
                          <a:solidFill>
                            <a:schemeClr val="dk1"/>
                          </a:solidFill>
                        </a:rPr>
                        <a:t>10:30 – 11:30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050">
                          <a:solidFill>
                            <a:schemeClr val="dk1"/>
                          </a:solidFill>
                        </a:rPr>
                        <a:t>1h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050">
                          <a:solidFill>
                            <a:schemeClr val="dk1"/>
                          </a:solidFill>
                        </a:rPr>
                        <a:t>Architecture Odoo, fichier de configuration et build de l'environnement de dev avec Docker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050">
                          <a:solidFill>
                            <a:schemeClr val="dk1"/>
                          </a:solidFill>
                        </a:rPr>
                        <a:t>Votre Odoo en vie !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0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10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050">
                          <a:solidFill>
                            <a:schemeClr val="dk1"/>
                          </a:solidFill>
                        </a:rPr>
                        <a:t>11:30 – 12:30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050">
                          <a:solidFill>
                            <a:schemeClr val="dk1"/>
                          </a:solidFill>
                        </a:rPr>
                        <a:t>1h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050">
                          <a:solidFill>
                            <a:schemeClr val="dk1"/>
                          </a:solidFill>
                        </a:rPr>
                        <a:t>Navigation dans l'UI et mode développeur, menus techniques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050">
                          <a:solidFill>
                            <a:schemeClr val="dk1"/>
                          </a:solidFill>
                        </a:rPr>
                        <a:t>Votre 1er module </a:t>
                      </a:r>
                      <a:r>
                        <a:rPr lang="fr-FR" sz="10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todo_app</a:t>
                      </a:r>
                      <a:r>
                        <a:rPr lang="fr-FR" sz="1050">
                          <a:solidFill>
                            <a:schemeClr val="dk1"/>
                          </a:solidFill>
                        </a:rPr>
                        <a:t> ! (créé via l'UI, sans code)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0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10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050">
                          <a:solidFill>
                            <a:schemeClr val="dk1"/>
                          </a:solidFill>
                        </a:rPr>
                        <a:t>12:30 – 13:30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050">
                          <a:solidFill>
                            <a:schemeClr val="dk1"/>
                          </a:solidFill>
                        </a:rPr>
                        <a:t>1h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050">
                          <a:solidFill>
                            <a:schemeClr val="dk1"/>
                          </a:solidFill>
                        </a:rPr>
                        <a:t>🍽️ Déjeuner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050">
                          <a:solidFill>
                            <a:schemeClr val="dk1"/>
                          </a:solidFill>
                        </a:rPr>
                        <a:t>—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050">
                          <a:solidFill>
                            <a:schemeClr val="dk1"/>
                          </a:solidFill>
                        </a:rPr>
                        <a:t>—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050">
                          <a:solidFill>
                            <a:schemeClr val="dk1"/>
                          </a:solidFill>
                        </a:rPr>
                        <a:t>13:30 – 14:15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050">
                          <a:solidFill>
                            <a:schemeClr val="dk1"/>
                          </a:solidFill>
                        </a:rPr>
                        <a:t>45 min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050">
                          <a:solidFill>
                            <a:schemeClr val="dk1"/>
                          </a:solidFill>
                        </a:rPr>
                        <a:t>Lancement du fil rouge — anatomie d'un module (</a:t>
                      </a:r>
                      <a:r>
                        <a:rPr b="1" lang="fr-FR" sz="10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__manifest__.py</a:t>
                      </a:r>
                      <a:r>
                        <a:rPr lang="fr-FR" sz="1050">
                          <a:solidFill>
                            <a:schemeClr val="dk1"/>
                          </a:solidFill>
                        </a:rPr>
                        <a:t>, arborescence, </a:t>
                      </a:r>
                      <a:r>
                        <a:rPr lang="fr-FR" sz="10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depends</a:t>
                      </a:r>
                      <a:r>
                        <a:rPr lang="fr-FR" sz="1050">
                          <a:solidFill>
                            <a:schemeClr val="dk1"/>
                          </a:solidFill>
                        </a:rPr>
                        <a:t>, ...)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050">
                          <a:solidFill>
                            <a:schemeClr val="dk1"/>
                          </a:solidFill>
                        </a:rPr>
                        <a:t>Module </a:t>
                      </a:r>
                      <a:r>
                        <a:rPr b="1" lang="fr-FR" sz="10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library</a:t>
                      </a:r>
                      <a:r>
                        <a:rPr lang="fr-FR" sz="1050">
                          <a:solidFill>
                            <a:schemeClr val="dk1"/>
                          </a:solidFill>
                        </a:rPr>
                        <a:t> dans le menu "Apps" avec son propre logo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0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10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050">
                          <a:solidFill>
                            <a:schemeClr val="dk1"/>
                          </a:solidFill>
                        </a:rPr>
                        <a:t>14:15 – 15:00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050">
                          <a:solidFill>
                            <a:schemeClr val="dk1"/>
                          </a:solidFill>
                        </a:rPr>
                        <a:t>45 min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050">
                          <a:solidFill>
                            <a:schemeClr val="dk1"/>
                          </a:solidFill>
                        </a:rPr>
                        <a:t>Le modèle </a:t>
                      </a:r>
                      <a:r>
                        <a:rPr b="1" lang="fr-FR" sz="10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library.book</a:t>
                      </a:r>
                      <a:r>
                        <a:rPr lang="fr-FR" sz="1050">
                          <a:solidFill>
                            <a:schemeClr val="dk1"/>
                          </a:solidFill>
                        </a:rPr>
                        <a:t> — 1ers champs : Boolean, Char, Int, Date, Monetary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050">
                          <a:solidFill>
                            <a:schemeClr val="dk1"/>
                          </a:solidFill>
                        </a:rPr>
                        <a:t>Les premiers livres saisis dans la bibliothèque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0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10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050">
                          <a:solidFill>
                            <a:schemeClr val="dk1"/>
                          </a:solidFill>
                        </a:rPr>
                        <a:t>15:00 – 15:15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050">
                          <a:solidFill>
                            <a:schemeClr val="dk1"/>
                          </a:solidFill>
                        </a:rPr>
                        <a:t>15 min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050">
                          <a:solidFill>
                            <a:schemeClr val="dk1"/>
                          </a:solidFill>
                        </a:rPr>
                        <a:t>☕ Pause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050">
                          <a:solidFill>
                            <a:schemeClr val="dk1"/>
                          </a:solidFill>
                        </a:rPr>
                        <a:t>—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050">
                          <a:solidFill>
                            <a:schemeClr val="dk1"/>
                          </a:solidFill>
                        </a:rPr>
                        <a:t>—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050">
                          <a:solidFill>
                            <a:schemeClr val="dk1"/>
                          </a:solidFill>
                        </a:rPr>
                        <a:t>15:15 – 16:00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050">
                          <a:solidFill>
                            <a:schemeClr val="dk1"/>
                          </a:solidFill>
                        </a:rPr>
                        <a:t>45 min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050">
                          <a:solidFill>
                            <a:schemeClr val="dk1"/>
                          </a:solidFill>
                        </a:rPr>
                        <a:t>Champs relationnels (M2o/O2m/M2M)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050">
                          <a:solidFill>
                            <a:schemeClr val="dk1"/>
                          </a:solidFill>
                        </a:rPr>
                        <a:t>Pouvoir classer et filtrer les livres par Catégories et Etiquettes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0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10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050">
                          <a:solidFill>
                            <a:schemeClr val="dk1"/>
                          </a:solidFill>
                        </a:rPr>
                        <a:t>16:00 – 17:00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050">
                          <a:solidFill>
                            <a:schemeClr val="dk1"/>
                          </a:solidFill>
                        </a:rPr>
                        <a:t>1h min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050">
                          <a:solidFill>
                            <a:schemeClr val="dk1"/>
                          </a:solidFill>
                        </a:rPr>
                        <a:t>Vues : List, Form et Actions de fenêtre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050">
                          <a:solidFill>
                            <a:schemeClr val="dk1"/>
                          </a:solidFill>
                        </a:rPr>
                        <a:t>Personnaliser</a:t>
                      </a:r>
                      <a:r>
                        <a:rPr lang="fr-FR" sz="1050">
                          <a:solidFill>
                            <a:schemeClr val="dk1"/>
                          </a:solidFill>
                        </a:rPr>
                        <a:t> l'ergonomie Odoo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0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</a:t>
                      </a:r>
                      <a:endParaRPr sz="10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7"/>
          <p:cNvSpPr txBox="1"/>
          <p:nvPr>
            <p:ph type="title"/>
          </p:nvPr>
        </p:nvSpPr>
        <p:spPr>
          <a:xfrm>
            <a:off x="681038" y="307978"/>
            <a:ext cx="8543925" cy="577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Pour un apprentissage efficace…</a:t>
            </a:r>
            <a:endParaRPr/>
          </a:p>
        </p:txBody>
      </p:sp>
      <p:sp>
        <p:nvSpPr>
          <p:cNvPr id="301" name="Google Shape;301;p7"/>
          <p:cNvSpPr txBox="1"/>
          <p:nvPr/>
        </p:nvSpPr>
        <p:spPr>
          <a:xfrm>
            <a:off x="845466" y="2147048"/>
            <a:ext cx="1661032" cy="3810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6"/>
              <a:buFont typeface="Arial"/>
              <a:buNone/>
            </a:pPr>
            <a:r>
              <a:rPr b="0" i="0" lang="fr-FR" sz="1876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Mode solution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2" name="Google Shape;302;p7"/>
          <p:cNvGrpSpPr/>
          <p:nvPr/>
        </p:nvGrpSpPr>
        <p:grpSpPr>
          <a:xfrm>
            <a:off x="2526362" y="1917128"/>
            <a:ext cx="4618723" cy="3853521"/>
            <a:chOff x="1914525" y="1276351"/>
            <a:chExt cx="5333999" cy="4336841"/>
          </a:xfrm>
        </p:grpSpPr>
        <p:sp>
          <p:nvSpPr>
            <p:cNvPr id="303" name="Google Shape;303;p7"/>
            <p:cNvSpPr/>
            <p:nvPr/>
          </p:nvSpPr>
          <p:spPr>
            <a:xfrm>
              <a:off x="3587126" y="1400175"/>
              <a:ext cx="3661398" cy="3028950"/>
            </a:xfrm>
            <a:custGeom>
              <a:rect b="b" l="l" r="r" t="t"/>
              <a:pathLst>
                <a:path extrusionOk="0" h="3028950" w="3661398">
                  <a:moveTo>
                    <a:pt x="3661398" y="0"/>
                  </a:moveTo>
                  <a:lnTo>
                    <a:pt x="2404098" y="962025"/>
                  </a:lnTo>
                  <a:lnTo>
                    <a:pt x="2518398" y="1085850"/>
                  </a:lnTo>
                  <a:lnTo>
                    <a:pt x="2251698" y="1247775"/>
                  </a:lnTo>
                  <a:lnTo>
                    <a:pt x="2318373" y="1362075"/>
                  </a:lnTo>
                  <a:lnTo>
                    <a:pt x="1965948" y="1590675"/>
                  </a:lnTo>
                  <a:cubicBezTo>
                    <a:pt x="1838948" y="1676400"/>
                    <a:pt x="1273798" y="1371600"/>
                    <a:pt x="1184898" y="1371600"/>
                  </a:cubicBezTo>
                  <a:cubicBezTo>
                    <a:pt x="905498" y="1431925"/>
                    <a:pt x="473698" y="1395413"/>
                    <a:pt x="346698" y="1552575"/>
                  </a:cubicBezTo>
                  <a:cubicBezTo>
                    <a:pt x="219698" y="1787525"/>
                    <a:pt x="130798" y="1917700"/>
                    <a:pt x="13323" y="2162175"/>
                  </a:cubicBezTo>
                  <a:cubicBezTo>
                    <a:pt x="-97802" y="2400300"/>
                    <a:pt x="514973" y="2390775"/>
                    <a:pt x="784848" y="1905000"/>
                  </a:cubicBezTo>
                  <a:lnTo>
                    <a:pt x="1156323" y="2019300"/>
                  </a:lnTo>
                  <a:cubicBezTo>
                    <a:pt x="1689723" y="2330450"/>
                    <a:pt x="2137398" y="2679700"/>
                    <a:pt x="2613648" y="3028950"/>
                  </a:cubicBezTo>
                  <a:lnTo>
                    <a:pt x="3089898" y="2609850"/>
                  </a:lnTo>
                  <a:lnTo>
                    <a:pt x="3185148" y="2686050"/>
                  </a:lnTo>
                  <a:lnTo>
                    <a:pt x="3508998" y="2466975"/>
                  </a:lnTo>
                </a:path>
              </a:pathLst>
            </a:custGeom>
            <a:noFill/>
            <a:ln cap="flat" cmpd="sng" w="38100">
              <a:solidFill>
                <a:schemeClr val="accen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7"/>
                <a:buFont typeface="Arial"/>
                <a:buNone/>
              </a:pPr>
              <a:r>
                <a:t/>
              </a:r>
              <a:endParaRPr b="0" i="0" sz="1407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04" name="Google Shape;304;p7"/>
            <p:cNvSpPr/>
            <p:nvPr/>
          </p:nvSpPr>
          <p:spPr>
            <a:xfrm>
              <a:off x="1914525" y="1276351"/>
              <a:ext cx="4300729" cy="4336841"/>
            </a:xfrm>
            <a:custGeom>
              <a:rect b="b" l="l" r="r" t="t"/>
              <a:pathLst>
                <a:path extrusionOk="0" h="4336841" w="4300729">
                  <a:moveTo>
                    <a:pt x="0" y="0"/>
                  </a:moveTo>
                  <a:lnTo>
                    <a:pt x="1190625" y="990600"/>
                  </a:lnTo>
                  <a:lnTo>
                    <a:pt x="1095375" y="1152525"/>
                  </a:lnTo>
                  <a:lnTo>
                    <a:pt x="1371600" y="1390650"/>
                  </a:lnTo>
                  <a:cubicBezTo>
                    <a:pt x="1343660" y="1424940"/>
                    <a:pt x="1330960" y="1468755"/>
                    <a:pt x="1276350" y="1552575"/>
                  </a:cubicBezTo>
                  <a:lnTo>
                    <a:pt x="1590675" y="1762125"/>
                  </a:lnTo>
                  <a:lnTo>
                    <a:pt x="1863090" y="1735455"/>
                  </a:lnTo>
                  <a:cubicBezTo>
                    <a:pt x="1779905" y="1943100"/>
                    <a:pt x="1500505" y="2352675"/>
                    <a:pt x="1584960" y="2419350"/>
                  </a:cubicBezTo>
                  <a:cubicBezTo>
                    <a:pt x="1848485" y="2598420"/>
                    <a:pt x="2131060" y="2545080"/>
                    <a:pt x="2493645" y="2150745"/>
                  </a:cubicBezTo>
                  <a:cubicBezTo>
                    <a:pt x="2632710" y="2167890"/>
                    <a:pt x="2667000" y="2194560"/>
                    <a:pt x="2838450" y="2228850"/>
                  </a:cubicBezTo>
                  <a:cubicBezTo>
                    <a:pt x="3365500" y="2581275"/>
                    <a:pt x="3705860" y="2830830"/>
                    <a:pt x="4175760" y="3162300"/>
                  </a:cubicBezTo>
                  <a:cubicBezTo>
                    <a:pt x="4492625" y="3402965"/>
                    <a:pt x="4138930" y="3763645"/>
                    <a:pt x="3867150" y="3558540"/>
                  </a:cubicBezTo>
                  <a:cubicBezTo>
                    <a:pt x="4075430" y="3846830"/>
                    <a:pt x="3731260" y="4053205"/>
                    <a:pt x="3499485" y="3825240"/>
                  </a:cubicBezTo>
                  <a:cubicBezTo>
                    <a:pt x="3655695" y="4135755"/>
                    <a:pt x="3339465" y="4251960"/>
                    <a:pt x="3124200" y="4114800"/>
                  </a:cubicBezTo>
                  <a:cubicBezTo>
                    <a:pt x="3195320" y="4331970"/>
                    <a:pt x="2860675" y="4480560"/>
                    <a:pt x="2514600" y="4114800"/>
                  </a:cubicBezTo>
                  <a:cubicBezTo>
                    <a:pt x="2600325" y="3889375"/>
                    <a:pt x="2466975" y="3663950"/>
                    <a:pt x="2257425" y="3695700"/>
                  </a:cubicBezTo>
                  <a:cubicBezTo>
                    <a:pt x="2286000" y="3454400"/>
                    <a:pt x="2052637" y="3331845"/>
                    <a:pt x="1905000" y="3421380"/>
                  </a:cubicBezTo>
                  <a:cubicBezTo>
                    <a:pt x="1963925" y="3231958"/>
                    <a:pt x="1637665" y="3032125"/>
                    <a:pt x="1491615" y="3133725"/>
                  </a:cubicBezTo>
                  <a:cubicBezTo>
                    <a:pt x="1548130" y="2995295"/>
                    <a:pt x="1286510" y="2834005"/>
                    <a:pt x="1099185" y="3011805"/>
                  </a:cubicBezTo>
                  <a:lnTo>
                    <a:pt x="933450" y="2733675"/>
                  </a:lnTo>
                  <a:lnTo>
                    <a:pt x="666750" y="2543175"/>
                  </a:lnTo>
                  <a:lnTo>
                    <a:pt x="581025" y="2676525"/>
                  </a:lnTo>
                  <a:lnTo>
                    <a:pt x="200025" y="2457450"/>
                  </a:lnTo>
                </a:path>
              </a:pathLst>
            </a:custGeom>
            <a:noFill/>
            <a:ln cap="flat" cmpd="sng" w="38100">
              <a:solidFill>
                <a:schemeClr val="accen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7"/>
                <a:buFont typeface="Arial"/>
                <a:buNone/>
              </a:pPr>
              <a:r>
                <a:t/>
              </a:r>
              <a:endParaRPr b="0" i="0" sz="1407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05" name="Google Shape;305;p7"/>
            <p:cNvSpPr/>
            <p:nvPr/>
          </p:nvSpPr>
          <p:spPr>
            <a:xfrm>
              <a:off x="2979453" y="4301052"/>
              <a:ext cx="1379276" cy="1206796"/>
            </a:xfrm>
            <a:custGeom>
              <a:rect b="b" l="l" r="r" t="t"/>
              <a:pathLst>
                <a:path extrusionOk="0" h="1206796" w="1379276">
                  <a:moveTo>
                    <a:pt x="1873" y="244278"/>
                  </a:moveTo>
                  <a:cubicBezTo>
                    <a:pt x="13303" y="348418"/>
                    <a:pt x="78073" y="441128"/>
                    <a:pt x="257143" y="419538"/>
                  </a:cubicBezTo>
                  <a:cubicBezTo>
                    <a:pt x="234918" y="564953"/>
                    <a:pt x="376523" y="782758"/>
                    <a:pt x="601948" y="718623"/>
                  </a:cubicBezTo>
                  <a:cubicBezTo>
                    <a:pt x="530828" y="947858"/>
                    <a:pt x="787368" y="1085653"/>
                    <a:pt x="910558" y="994848"/>
                  </a:cubicBezTo>
                  <a:cubicBezTo>
                    <a:pt x="917543" y="1160583"/>
                    <a:pt x="1065498" y="1284408"/>
                    <a:pt x="1282033" y="1149153"/>
                  </a:cubicBezTo>
                  <a:cubicBezTo>
                    <a:pt x="1352518" y="1094543"/>
                    <a:pt x="1381093" y="1009453"/>
                    <a:pt x="1379188" y="928173"/>
                  </a:cubicBezTo>
                  <a:cubicBezTo>
                    <a:pt x="1381093" y="869753"/>
                    <a:pt x="1291558" y="727513"/>
                    <a:pt x="1125823" y="745293"/>
                  </a:cubicBezTo>
                  <a:cubicBezTo>
                    <a:pt x="1156303" y="513518"/>
                    <a:pt x="939133" y="399853"/>
                    <a:pt x="779113" y="484308"/>
                  </a:cubicBezTo>
                  <a:cubicBezTo>
                    <a:pt x="833088" y="333813"/>
                    <a:pt x="574643" y="57588"/>
                    <a:pt x="365728" y="219513"/>
                  </a:cubicBezTo>
                  <a:cubicBezTo>
                    <a:pt x="414623" y="16948"/>
                    <a:pt x="193008" y="-33217"/>
                    <a:pt x="127603" y="19488"/>
                  </a:cubicBezTo>
                  <a:cubicBezTo>
                    <a:pt x="82201" y="42666"/>
                    <a:pt x="-14637" y="116643"/>
                    <a:pt x="1873" y="244278"/>
                  </a:cubicBezTo>
                  <a:close/>
                </a:path>
              </a:pathLst>
            </a:custGeom>
            <a:noFill/>
            <a:ln cap="flat" cmpd="sng" w="38100">
              <a:solidFill>
                <a:schemeClr val="accen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7"/>
                <a:buFont typeface="Arial"/>
                <a:buNone/>
              </a:pPr>
              <a:r>
                <a:t/>
              </a:r>
              <a:endParaRPr b="0" i="0" sz="1407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306" name="Google Shape;306;p7"/>
          <p:cNvSpPr/>
          <p:nvPr/>
        </p:nvSpPr>
        <p:spPr>
          <a:xfrm>
            <a:off x="2502518" y="1917128"/>
            <a:ext cx="799947" cy="8220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</a:pPr>
            <a:r>
              <a:t/>
            </a:r>
            <a:endParaRPr b="0" i="0" sz="938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7" name="Google Shape;307;p7"/>
          <p:cNvSpPr/>
          <p:nvPr/>
        </p:nvSpPr>
        <p:spPr>
          <a:xfrm>
            <a:off x="2808587" y="4033443"/>
            <a:ext cx="799947" cy="8220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</a:pPr>
            <a:r>
              <a:t/>
            </a:r>
            <a:endParaRPr b="0" i="0" sz="938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8" name="Google Shape;308;p7"/>
          <p:cNvSpPr/>
          <p:nvPr/>
        </p:nvSpPr>
        <p:spPr>
          <a:xfrm>
            <a:off x="4759931" y="2760966"/>
            <a:ext cx="799947" cy="8220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</a:pPr>
            <a:r>
              <a:t/>
            </a:r>
            <a:endParaRPr b="0" i="0" sz="938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9" name="Google Shape;309;p7"/>
          <p:cNvSpPr/>
          <p:nvPr/>
        </p:nvSpPr>
        <p:spPr>
          <a:xfrm>
            <a:off x="6345139" y="2015509"/>
            <a:ext cx="799947" cy="8220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</a:pPr>
            <a:r>
              <a:t/>
            </a:r>
            <a:endParaRPr b="0" i="0" sz="938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10" name="Google Shape;310;p7"/>
          <p:cNvSpPr/>
          <p:nvPr/>
        </p:nvSpPr>
        <p:spPr>
          <a:xfrm>
            <a:off x="5545192" y="4867302"/>
            <a:ext cx="799947" cy="8220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</a:pPr>
            <a:r>
              <a:t/>
            </a:r>
            <a:endParaRPr b="0" i="0" sz="938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Ampoule et engrenage avec un remplissage uni" id="311" name="Google Shape;31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46864" y="2074910"/>
            <a:ext cx="516124" cy="530407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7"/>
          <p:cNvSpPr txBox="1"/>
          <p:nvPr/>
        </p:nvSpPr>
        <p:spPr>
          <a:xfrm>
            <a:off x="4567670" y="2387593"/>
            <a:ext cx="1174552" cy="3810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6"/>
              <a:buFont typeface="Arial"/>
              <a:buNone/>
            </a:pPr>
            <a:r>
              <a:rPr b="0" i="0" lang="fr-FR" sz="1876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Participer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7"/>
          <p:cNvSpPr txBox="1"/>
          <p:nvPr/>
        </p:nvSpPr>
        <p:spPr>
          <a:xfrm>
            <a:off x="6007229" y="1576918"/>
            <a:ext cx="1728102" cy="3810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6"/>
              <a:buFont typeface="Arial"/>
              <a:buNone/>
            </a:pPr>
            <a:r>
              <a:rPr b="0" i="0" lang="fr-FR" sz="1876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Droit à l’erreur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7"/>
          <p:cNvSpPr txBox="1"/>
          <p:nvPr/>
        </p:nvSpPr>
        <p:spPr>
          <a:xfrm>
            <a:off x="1208932" y="4292124"/>
            <a:ext cx="1593450" cy="3810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6"/>
              <a:buFont typeface="Arial"/>
              <a:buNone/>
            </a:pPr>
            <a:r>
              <a:rPr b="0" i="0" lang="fr-FR" sz="1876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Écoute active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7"/>
          <p:cNvSpPr txBox="1"/>
          <p:nvPr/>
        </p:nvSpPr>
        <p:spPr>
          <a:xfrm>
            <a:off x="6416230" y="4976798"/>
            <a:ext cx="1446229" cy="669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6"/>
              <a:buFont typeface="Arial"/>
              <a:buNone/>
            </a:pPr>
            <a:r>
              <a:rPr b="0" i="0" lang="fr-FR" sz="1876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Poser son </a:t>
            </a:r>
            <a:br>
              <a:rPr b="0" i="0" lang="fr-FR" sz="1876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fr-FR" sz="1876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smartphone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Écoute - Icônes les communications gratuites" id="316" name="Google Shape;31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17975" y="4266355"/>
            <a:ext cx="400180" cy="4112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Échange - Icônes social gratuites" id="317" name="Google Shape;317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97010" y="2937704"/>
            <a:ext cx="515870" cy="5301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rreur - Icônes panneaux gratuites" id="318" name="Google Shape;318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35888" y="2208412"/>
            <a:ext cx="428089" cy="4399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'utilisez pas de téléphone portable - Icônes la technologie gratuites" id="319" name="Google Shape;319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1048" y="5037046"/>
            <a:ext cx="468232" cy="481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8"/>
          <p:cNvSpPr txBox="1"/>
          <p:nvPr>
            <p:ph type="title"/>
          </p:nvPr>
        </p:nvSpPr>
        <p:spPr>
          <a:xfrm>
            <a:off x="285750" y="2334723"/>
            <a:ext cx="4822480" cy="577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1"/>
              <a:buFont typeface="Arial"/>
              <a:buNone/>
            </a:pPr>
            <a:r>
              <a:rPr lang="fr-FR" sz="2501"/>
              <a:t>Chapitre </a:t>
            </a:r>
            <a:r>
              <a:rPr lang="fr-FR" sz="2501"/>
              <a:t>1 (9h30 - 10h15)</a:t>
            </a:r>
            <a:endParaRPr/>
          </a:p>
        </p:txBody>
      </p:sp>
      <p:sp>
        <p:nvSpPr>
          <p:cNvPr id="325" name="Google Shape;325;p8"/>
          <p:cNvSpPr txBox="1"/>
          <p:nvPr>
            <p:ph idx="1" type="body"/>
          </p:nvPr>
        </p:nvSpPr>
        <p:spPr>
          <a:xfrm>
            <a:off x="285750" y="3192951"/>
            <a:ext cx="4713300" cy="16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fr-FR"/>
              <a:t>Introduction : Les ERP et Odoo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fr-FR"/>
              <a:t>🎯 L’origine et le positionnement de Odoo, ses versions et son écosystème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f8a5c5757b_0_89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Question : un ERP, c’est quoi ?</a:t>
            </a:r>
            <a:endParaRPr/>
          </a:p>
        </p:txBody>
      </p:sp>
      <p:sp>
        <p:nvSpPr>
          <p:cNvPr id="331" name="Google Shape;331;g3f8a5c5757b_0_89"/>
          <p:cNvSpPr txBox="1"/>
          <p:nvPr/>
        </p:nvSpPr>
        <p:spPr>
          <a:xfrm>
            <a:off x="194075" y="1326300"/>
            <a:ext cx="8940000" cy="2267700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fr-FR" sz="1700"/>
              <a:t>Un logiciel / système qui…</a:t>
            </a:r>
            <a:endParaRPr sz="1700"/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SzPts val="1700"/>
              <a:buAutoNum type="alphaUcParenR"/>
            </a:pPr>
            <a:r>
              <a:rPr b="1" lang="fr-FR" sz="1700"/>
              <a:t>Coûte très cher</a:t>
            </a:r>
            <a:r>
              <a:rPr lang="fr-FR" sz="1700"/>
              <a:t>, qu'on accepte de payer </a:t>
            </a:r>
            <a:r>
              <a:rPr i="1" lang="fr-FR" sz="1700"/>
              <a:t>parce </a:t>
            </a:r>
            <a:r>
              <a:rPr lang="fr-FR" sz="1700"/>
              <a:t>qu'on a</a:t>
            </a:r>
            <a:r>
              <a:rPr i="1" lang="fr-FR" sz="1700"/>
              <a:t> </a:t>
            </a:r>
            <a:r>
              <a:rPr lang="fr-FR" sz="1700"/>
              <a:t>en</a:t>
            </a:r>
            <a:r>
              <a:rPr i="1" lang="fr-FR" sz="1700"/>
              <a:t> </a:t>
            </a:r>
            <a:r>
              <a:rPr lang="fr-FR" sz="1700"/>
              <a:t>a “</a:t>
            </a:r>
            <a:r>
              <a:rPr i="1" lang="fr-FR" sz="1700"/>
              <a:t>vraiment besoin”</a:t>
            </a:r>
            <a:endParaRPr sz="1700"/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SzPts val="1700"/>
              <a:buAutoNum type="alphaUcParenR"/>
            </a:pPr>
            <a:r>
              <a:rPr lang="fr-FR" sz="1700"/>
              <a:t>Dont on exploite </a:t>
            </a:r>
            <a:r>
              <a:rPr b="1" lang="fr-FR" sz="1700"/>
              <a:t>10% des capacités</a:t>
            </a:r>
            <a:r>
              <a:rPr lang="fr-FR" sz="1700"/>
              <a:t> et qui n’est </a:t>
            </a:r>
            <a:r>
              <a:rPr b="1" lang="fr-FR" sz="1700"/>
              <a:t>maîtrisé que par le service gestion</a:t>
            </a:r>
            <a:endParaRPr b="1" sz="1700"/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SzPts val="1700"/>
              <a:buAutoNum type="alphaUcParenR"/>
            </a:pPr>
            <a:r>
              <a:rPr lang="fr-FR" sz="1700"/>
              <a:t>Met 2 minutes à démarrer et </a:t>
            </a:r>
            <a:r>
              <a:rPr b="1" lang="fr-FR" sz="1700"/>
              <a:t>tombe en panne 2 fois par jour</a:t>
            </a:r>
            <a:endParaRPr b="1" sz="1700"/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SzPts val="1700"/>
              <a:buAutoNum type="alphaUcParenR"/>
            </a:pPr>
            <a:r>
              <a:rPr b="1" lang="fr-FR" sz="1700"/>
              <a:t>Centralise dans une base de données unique les processus de gestion d'une entreprise</a:t>
            </a:r>
            <a:r>
              <a:rPr lang="fr-FR" sz="1700"/>
              <a:t> : ventes, achats, comptabilité, stock, production, RH, projets…</a:t>
            </a:r>
            <a:endParaRPr sz="17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f8a5c5757b_0_105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Question : un ERP, c’est quoi ?</a:t>
            </a:r>
            <a:endParaRPr/>
          </a:p>
        </p:txBody>
      </p:sp>
      <p:sp>
        <p:nvSpPr>
          <p:cNvPr id="337" name="Google Shape;337;g3f8a5c5757b_0_105"/>
          <p:cNvSpPr txBox="1"/>
          <p:nvPr/>
        </p:nvSpPr>
        <p:spPr>
          <a:xfrm>
            <a:off x="194075" y="1326300"/>
            <a:ext cx="8940000" cy="4479300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fr-FR" sz="1700"/>
              <a:t>Un logiciel / système qui…</a:t>
            </a:r>
            <a:endParaRPr sz="1700"/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SzPts val="1700"/>
              <a:buAutoNum type="alphaUcParenR"/>
            </a:pPr>
            <a:r>
              <a:rPr b="1" lang="fr-FR" sz="1700"/>
              <a:t>Coûte très cher</a:t>
            </a:r>
            <a:r>
              <a:rPr lang="fr-FR" sz="1700"/>
              <a:t>, qu'on accepte de payer </a:t>
            </a:r>
            <a:r>
              <a:rPr i="1" lang="fr-FR" sz="1700"/>
              <a:t>parce </a:t>
            </a:r>
            <a:r>
              <a:rPr lang="fr-FR" sz="1700"/>
              <a:t>qu'on a</a:t>
            </a:r>
            <a:r>
              <a:rPr i="1" lang="fr-FR" sz="1700"/>
              <a:t> </a:t>
            </a:r>
            <a:r>
              <a:rPr lang="fr-FR" sz="1700"/>
              <a:t>en</a:t>
            </a:r>
            <a:r>
              <a:rPr i="1" lang="fr-FR" sz="1700"/>
              <a:t> </a:t>
            </a:r>
            <a:r>
              <a:rPr lang="fr-FR" sz="1700"/>
              <a:t>a “</a:t>
            </a:r>
            <a:r>
              <a:rPr i="1" lang="fr-FR" sz="1700"/>
              <a:t>vraiment besoin”</a:t>
            </a:r>
            <a:endParaRPr sz="1700"/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SzPts val="1700"/>
              <a:buAutoNum type="alphaUcParenR"/>
            </a:pPr>
            <a:r>
              <a:rPr lang="fr-FR" sz="1700"/>
              <a:t>Dont on exploite </a:t>
            </a:r>
            <a:r>
              <a:rPr b="1" lang="fr-FR" sz="1700"/>
              <a:t>10% des capacités</a:t>
            </a:r>
            <a:r>
              <a:rPr lang="fr-FR" sz="1700"/>
              <a:t> et qui n’est </a:t>
            </a:r>
            <a:r>
              <a:rPr b="1" lang="fr-FR" sz="1700"/>
              <a:t>maîtrisé que par le service gestion</a:t>
            </a:r>
            <a:endParaRPr b="1" sz="1700"/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SzPts val="1700"/>
              <a:buAutoNum type="alphaUcParenR"/>
            </a:pPr>
            <a:r>
              <a:rPr lang="fr-FR" sz="1700"/>
              <a:t>Met 2 minutes à démarrer et </a:t>
            </a:r>
            <a:r>
              <a:rPr b="1" lang="fr-FR" sz="1700"/>
              <a:t>tombe en panne 2 fois par jour</a:t>
            </a:r>
            <a:endParaRPr b="1" sz="1700"/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rgbClr val="188038"/>
              </a:buClr>
              <a:buSzPts val="1700"/>
              <a:buAutoNum type="alphaUcParenR"/>
            </a:pPr>
            <a:r>
              <a:rPr b="1" lang="fr-FR" sz="1700">
                <a:solidFill>
                  <a:srgbClr val="188038"/>
                </a:solidFill>
              </a:rPr>
              <a:t>✅ </a:t>
            </a:r>
            <a:r>
              <a:rPr b="1" lang="fr-FR" sz="1700">
                <a:solidFill>
                  <a:srgbClr val="188038"/>
                </a:solidFill>
              </a:rPr>
              <a:t>Centralise dans une base de données unique les processus de gestion d'une entreprise</a:t>
            </a:r>
            <a:r>
              <a:rPr lang="fr-FR" sz="1700">
                <a:solidFill>
                  <a:srgbClr val="188038"/>
                </a:solidFill>
              </a:rPr>
              <a:t> : ventes, achats, comptabilité, stock, production, RH, projets…</a:t>
            </a:r>
            <a:endParaRPr sz="1700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fr-FR" sz="1700" u="sng"/>
              <a:t>Les intérêts principaux d’un ERP :</a:t>
            </a:r>
            <a:endParaRPr sz="1700" u="sng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fr-FR" sz="1700"/>
              <a:t>✅ éviter les ressaisies (ex : une commande client saisie une fois impacte automatiquement le stock, la compta, la logistique)</a:t>
            </a:r>
            <a:endParaRPr sz="17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fr-FR" sz="1700"/>
              <a:t>✅ digitaliser les processus métiers et de gestion (ex : éviter le “papier dans la banette”)</a:t>
            </a:r>
            <a:endParaRPr sz="17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fr-FR" sz="1700"/>
              <a:t>✅ centraliser, éviter les silos (ex : 1 base clients et fournisseurs </a:t>
            </a:r>
            <a:r>
              <a:rPr b="1" lang="fr-FR" sz="1700"/>
              <a:t>partagée</a:t>
            </a:r>
            <a:r>
              <a:rPr lang="fr-FR" sz="1700"/>
              <a:t>)</a:t>
            </a:r>
            <a:endParaRPr sz="17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fr-FR" sz="1700"/>
              <a:t>… dans un objectif de </a:t>
            </a:r>
            <a:r>
              <a:rPr b="1" lang="fr-FR" sz="1700"/>
              <a:t>gain de temps</a:t>
            </a:r>
            <a:r>
              <a:rPr lang="fr-FR" sz="1700"/>
              <a:t> et idéalement de </a:t>
            </a:r>
            <a:r>
              <a:rPr b="1" lang="fr-FR" sz="1700"/>
              <a:t>simplicité</a:t>
            </a:r>
            <a:endParaRPr b="1" sz="1700"/>
          </a:p>
        </p:txBody>
      </p:sp>
      <p:sp>
        <p:nvSpPr>
          <p:cNvPr id="338" name="Google Shape;338;g3f8a5c5757b_0_105"/>
          <p:cNvSpPr txBox="1"/>
          <p:nvPr/>
        </p:nvSpPr>
        <p:spPr>
          <a:xfrm>
            <a:off x="194075" y="5887150"/>
            <a:ext cx="8940000" cy="4464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700">
                <a:solidFill>
                  <a:schemeClr val="lt1"/>
                </a:solidFill>
              </a:rPr>
              <a:t>🎤 Et vous, votre expérience avec les ERP ?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f8a5c5757b_0_67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Positionnement de Odoo</a:t>
            </a:r>
            <a:endParaRPr/>
          </a:p>
        </p:txBody>
      </p:sp>
      <p:sp>
        <p:nvSpPr>
          <p:cNvPr id="344" name="Google Shape;344;g3f8a5c5757b_0_67"/>
          <p:cNvSpPr txBox="1"/>
          <p:nvPr>
            <p:ph idx="2" type="body"/>
          </p:nvPr>
        </p:nvSpPr>
        <p:spPr>
          <a:xfrm>
            <a:off x="904875" y="2060810"/>
            <a:ext cx="3758100" cy="3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4765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fr-FR" sz="1600"/>
              <a:t>Généralistes</a:t>
            </a:r>
            <a:r>
              <a:rPr lang="fr-FR" sz="1600"/>
              <a:t> : SAP, Dynamics 365, Salesforce, NetSuite, Sage</a:t>
            </a:r>
            <a:endParaRPr sz="1600"/>
          </a:p>
          <a:p>
            <a:pPr indent="-24765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fr-FR" sz="1600"/>
              <a:t>Compta</a:t>
            </a:r>
            <a:r>
              <a:rPr lang="fr-FR" sz="1600"/>
              <a:t> : CEGID, EBP, Pennylane</a:t>
            </a:r>
            <a:endParaRPr sz="1600"/>
          </a:p>
          <a:p>
            <a:pPr indent="-24765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</a:pPr>
            <a:r>
              <a:rPr b="1" lang="fr-FR" sz="1600"/>
              <a:t>CRM</a:t>
            </a:r>
            <a:r>
              <a:rPr lang="fr-FR" sz="1600"/>
              <a:t> : Salesforce, HubSpot, Pipedrive, </a:t>
            </a:r>
            <a:r>
              <a:rPr lang="fr-FR" sz="1600" u="sng">
                <a:solidFill>
                  <a:schemeClr val="hlink"/>
                </a:solidFill>
                <a:hlinkClick r:id="rId3"/>
              </a:rPr>
              <a:t>monday.com</a:t>
            </a:r>
            <a:endParaRPr b="1" sz="1600"/>
          </a:p>
          <a:p>
            <a:pPr indent="-24765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</a:pPr>
            <a:r>
              <a:rPr b="1" lang="fr-FR" sz="1600"/>
              <a:t>E-commerce</a:t>
            </a:r>
            <a:r>
              <a:rPr lang="fr-FR" sz="1600"/>
              <a:t> : Shopify, PrestaShop, WooCommerce, Magento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br>
              <a:rPr lang="fr-FR" sz="1600"/>
            </a:br>
            <a:r>
              <a:rPr lang="fr-FR" sz="1600"/>
              <a:t>Illustration Odoo :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https://www.odoo.com/fr_FR</a:t>
            </a:r>
            <a:endParaRPr sz="1600"/>
          </a:p>
        </p:txBody>
      </p:sp>
      <p:sp>
        <p:nvSpPr>
          <p:cNvPr id="345" name="Google Shape;345;g3f8a5c5757b_0_67"/>
          <p:cNvSpPr txBox="1"/>
          <p:nvPr>
            <p:ph idx="1" type="body"/>
          </p:nvPr>
        </p:nvSpPr>
        <p:spPr>
          <a:xfrm>
            <a:off x="766251" y="1286867"/>
            <a:ext cx="3407400" cy="6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fr-FR"/>
              <a:t>Le marché des ERP</a:t>
            </a:r>
            <a:endParaRPr/>
          </a:p>
        </p:txBody>
      </p:sp>
      <p:sp>
        <p:nvSpPr>
          <p:cNvPr id="346" name="Google Shape;346;g3f8a5c5757b_0_67"/>
          <p:cNvSpPr txBox="1"/>
          <p:nvPr>
            <p:ph idx="4" type="body"/>
          </p:nvPr>
        </p:nvSpPr>
        <p:spPr>
          <a:xfrm>
            <a:off x="5381625" y="2079850"/>
            <a:ext cx="3843300" cy="37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4765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fr-FR" sz="1600"/>
              <a:t>2005</a:t>
            </a:r>
            <a:r>
              <a:rPr lang="fr-FR" sz="1600"/>
              <a:t> : Fabien Pinckaers lance TinyERP (Belgique)</a:t>
            </a:r>
            <a:endParaRPr b="1" sz="1600">
              <a:solidFill>
                <a:schemeClr val="accent6"/>
              </a:solidFill>
            </a:endParaRPr>
          </a:p>
          <a:p>
            <a:pPr indent="-24765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fr-FR" sz="1600"/>
              <a:t>2010</a:t>
            </a:r>
            <a:r>
              <a:rPr lang="fr-FR" sz="1600"/>
              <a:t> : renommage OpenERP</a:t>
            </a:r>
            <a:endParaRPr sz="1600"/>
          </a:p>
          <a:p>
            <a:pPr indent="-24765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fr-FR" sz="1600"/>
              <a:t>2013</a:t>
            </a:r>
            <a:r>
              <a:rPr lang="fr-FR" sz="1600"/>
              <a:t> : création de l'OCA</a:t>
            </a:r>
            <a:endParaRPr sz="1600"/>
          </a:p>
          <a:p>
            <a:pPr indent="-24765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fr-FR" sz="1600"/>
              <a:t>2014</a:t>
            </a:r>
            <a:r>
              <a:rPr lang="fr-FR" sz="1600"/>
              <a:t> : renommage Odoo, virage suite d'apps intégrées</a:t>
            </a:r>
            <a:endParaRPr b="1" sz="1600">
              <a:solidFill>
                <a:schemeClr val="accent6"/>
              </a:solidFill>
            </a:endParaRPr>
          </a:p>
          <a:p>
            <a:pPr indent="-24765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fr-FR" sz="1600"/>
              <a:t>Depuis 2014</a:t>
            </a:r>
            <a:r>
              <a:rPr lang="fr-FR" sz="1600"/>
              <a:t> : 1 version majeure par an (septembre)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fr-FR" sz="1600" u="sng">
                <a:solidFill>
                  <a:schemeClr val="hlink"/>
                </a:solidFill>
                <a:hlinkClick r:id="rId5"/>
              </a:rPr>
              <a:t>▶️ OCA : From 2013 to now, the history</a:t>
            </a:r>
            <a:endParaRPr b="1" sz="1600">
              <a:solidFill>
                <a:schemeClr val="accent6"/>
              </a:solidFill>
            </a:endParaRPr>
          </a:p>
        </p:txBody>
      </p:sp>
      <p:sp>
        <p:nvSpPr>
          <p:cNvPr id="347" name="Google Shape;347;g3f8a5c5757b_0_67"/>
          <p:cNvSpPr txBox="1"/>
          <p:nvPr>
            <p:ph idx="3" type="body"/>
          </p:nvPr>
        </p:nvSpPr>
        <p:spPr>
          <a:xfrm>
            <a:off x="5162646" y="1283494"/>
            <a:ext cx="3332100" cy="689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fr-FR"/>
              <a:t>Pourquoi Odoo ?</a:t>
            </a:r>
            <a:endParaRPr/>
          </a:p>
        </p:txBody>
      </p:sp>
      <p:sp>
        <p:nvSpPr>
          <p:cNvPr id="348" name="Google Shape;348;g3f8a5c5757b_0_67"/>
          <p:cNvSpPr/>
          <p:nvPr/>
        </p:nvSpPr>
        <p:spPr>
          <a:xfrm>
            <a:off x="4250986" y="1381327"/>
            <a:ext cx="468000" cy="468000"/>
          </a:xfrm>
          <a:prstGeom prst="ellipse">
            <a:avLst/>
          </a:prstGeom>
          <a:solidFill>
            <a:srgbClr val="F1E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49" name="Google Shape;349;g3f8a5c5757b_0_67"/>
          <p:cNvSpPr/>
          <p:nvPr/>
        </p:nvSpPr>
        <p:spPr>
          <a:xfrm>
            <a:off x="8648916" y="1394154"/>
            <a:ext cx="468000" cy="468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0" name="Google Shape;350;g3f8a5c5757b_0_67"/>
          <p:cNvSpPr txBox="1"/>
          <p:nvPr/>
        </p:nvSpPr>
        <p:spPr>
          <a:xfrm>
            <a:off x="681050" y="60707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u="sng">
                <a:solidFill>
                  <a:schemeClr val="hlink"/>
                </a:solidFill>
                <a:hlinkClick r:id="rId6"/>
              </a:rPr>
              <a:t>https://www.odoo.com/fr_FR/pricing</a:t>
            </a:r>
            <a:r>
              <a:rPr lang="fr-FR"/>
              <a:t>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f83fd878ef_0_215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Éléments différenciateurs de Odoo</a:t>
            </a:r>
            <a:endParaRPr/>
          </a:p>
        </p:txBody>
      </p:sp>
      <p:sp>
        <p:nvSpPr>
          <p:cNvPr id="356" name="Google Shape;356;g3f83fd878ef_0_215"/>
          <p:cNvSpPr txBox="1"/>
          <p:nvPr/>
        </p:nvSpPr>
        <p:spPr>
          <a:xfrm>
            <a:off x="194075" y="1326300"/>
            <a:ext cx="9389100" cy="4563900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1500"/>
              </a:spcBef>
              <a:spcAft>
                <a:spcPts val="0"/>
              </a:spcAft>
              <a:buSzPts val="1700"/>
              <a:buChar char="●"/>
            </a:pPr>
            <a:r>
              <a:rPr lang="fr-FR" sz="1700">
                <a:latin typeface="Tahoma"/>
                <a:ea typeface="Tahoma"/>
                <a:cs typeface="Tahoma"/>
                <a:sym typeface="Tahoma"/>
              </a:rPr>
              <a:t>Choix </a:t>
            </a:r>
            <a:r>
              <a:rPr b="1" lang="fr-FR" sz="1700">
                <a:latin typeface="Tahoma"/>
                <a:ea typeface="Tahoma"/>
                <a:cs typeface="Tahoma"/>
                <a:sym typeface="Tahoma"/>
              </a:rPr>
              <a:t>Open-Core</a:t>
            </a:r>
            <a:br>
              <a:rPr lang="fr-FR" sz="1700">
                <a:latin typeface="Tahoma"/>
                <a:ea typeface="Tahoma"/>
                <a:cs typeface="Tahoma"/>
                <a:sym typeface="Tahoma"/>
              </a:rPr>
            </a:br>
            <a:r>
              <a:rPr lang="fr-FR" sz="1500">
                <a:latin typeface="Tahoma"/>
                <a:ea typeface="Tahoma"/>
                <a:cs typeface="Tahoma"/>
                <a:sym typeface="Tahoma"/>
              </a:rPr>
              <a:t>Noyau Open Source et héritable + fonctions avancées sous licence</a:t>
            </a:r>
            <a:endParaRPr sz="1500">
              <a:latin typeface="Tahoma"/>
              <a:ea typeface="Tahoma"/>
              <a:cs typeface="Tahoma"/>
              <a:sym typeface="Tahoma"/>
            </a:endParaRPr>
          </a:p>
          <a:p>
            <a:pPr indent="-336550" lvl="0" marL="457200" rtl="0" algn="l">
              <a:spcBef>
                <a:spcPts val="1500"/>
              </a:spcBef>
              <a:spcAft>
                <a:spcPts val="0"/>
              </a:spcAft>
              <a:buSzPts val="1700"/>
              <a:buChar char="●"/>
            </a:pPr>
            <a:r>
              <a:rPr lang="fr-FR" sz="1700">
                <a:latin typeface="Tahoma"/>
                <a:ea typeface="Tahoma"/>
                <a:cs typeface="Tahoma"/>
                <a:sym typeface="Tahoma"/>
              </a:rPr>
              <a:t>Aussi un </a:t>
            </a:r>
            <a:r>
              <a:rPr b="1" lang="fr-FR" sz="1700">
                <a:latin typeface="Tahoma"/>
                <a:ea typeface="Tahoma"/>
                <a:cs typeface="Tahoma"/>
                <a:sym typeface="Tahoma"/>
              </a:rPr>
              <a:t>framework de développement</a:t>
            </a:r>
            <a:r>
              <a:rPr lang="fr-FR" sz="1700">
                <a:latin typeface="Tahoma"/>
                <a:ea typeface="Tahoma"/>
                <a:cs typeface="Tahoma"/>
                <a:sym typeface="Tahoma"/>
              </a:rPr>
              <a:t> Python, pas qu’un ERP</a:t>
            </a:r>
            <a:endParaRPr sz="1700">
              <a:latin typeface="Tahoma"/>
              <a:ea typeface="Tahoma"/>
              <a:cs typeface="Tahoma"/>
              <a:sym typeface="Tahoma"/>
            </a:endParaRPr>
          </a:p>
          <a:p>
            <a:pPr indent="-336550" lvl="0" marL="457200" rtl="0" algn="l">
              <a:spcBef>
                <a:spcPts val="1500"/>
              </a:spcBef>
              <a:spcAft>
                <a:spcPts val="0"/>
              </a:spcAft>
              <a:buSzPts val="1700"/>
              <a:buChar char="●"/>
            </a:pPr>
            <a:r>
              <a:rPr b="1" lang="fr-FR" sz="1700">
                <a:latin typeface="Tahoma"/>
                <a:ea typeface="Tahoma"/>
                <a:cs typeface="Tahoma"/>
                <a:sym typeface="Tahoma"/>
              </a:rPr>
              <a:t>Pricing et modèle financier</a:t>
            </a:r>
            <a:r>
              <a:rPr lang="fr-FR" sz="1700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fr-FR" sz="1700" u="sng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  <a:hlinkClick r:id="rId3"/>
              </a:rPr>
              <a:t>https://www.odoo.com/fr_FR/pricing</a:t>
            </a:r>
            <a:br>
              <a:rPr lang="fr-FR" sz="1700">
                <a:latin typeface="Tahoma"/>
                <a:ea typeface="Tahoma"/>
                <a:cs typeface="Tahoma"/>
                <a:sym typeface="Tahoma"/>
              </a:rPr>
            </a:br>
            <a:r>
              <a:rPr lang="fr-FR" sz="1500">
                <a:latin typeface="Tahoma"/>
                <a:ea typeface="Tahoma"/>
                <a:cs typeface="Tahoma"/>
                <a:sym typeface="Tahoma"/>
              </a:rPr>
              <a:t>T</a:t>
            </a:r>
            <a:r>
              <a:rPr lang="fr-FR" sz="1500">
                <a:latin typeface="Tahoma"/>
                <a:ea typeface="Tahoma"/>
                <a:cs typeface="Tahoma"/>
                <a:sym typeface="Tahoma"/>
              </a:rPr>
              <a:t>ransparence / coût par utilisateur ; 1 licence unique donne toutes les applications ; attractivité pour PME</a:t>
            </a:r>
            <a:endParaRPr sz="1500">
              <a:latin typeface="Tahoma"/>
              <a:ea typeface="Tahoma"/>
              <a:cs typeface="Tahoma"/>
              <a:sym typeface="Tahoma"/>
            </a:endParaRPr>
          </a:p>
          <a:p>
            <a:pPr indent="-336550" lvl="0" marL="457200" rtl="0" algn="l">
              <a:spcBef>
                <a:spcPts val="1500"/>
              </a:spcBef>
              <a:spcAft>
                <a:spcPts val="0"/>
              </a:spcAft>
              <a:buSzPts val="1700"/>
              <a:buChar char="●"/>
            </a:pPr>
            <a:r>
              <a:rPr b="1" lang="fr-FR" sz="1700">
                <a:latin typeface="Tahoma"/>
                <a:ea typeface="Tahoma"/>
                <a:cs typeface="Tahoma"/>
                <a:sym typeface="Tahoma"/>
              </a:rPr>
              <a:t>Modernité technique</a:t>
            </a:r>
            <a:r>
              <a:rPr lang="fr-FR" sz="1700">
                <a:latin typeface="Tahoma"/>
                <a:ea typeface="Tahoma"/>
                <a:cs typeface="Tahoma"/>
                <a:sym typeface="Tahoma"/>
              </a:rPr>
              <a:t> : fondations améliorées tous les ans (perf, API, IA, ergonomie, …)</a:t>
            </a:r>
            <a:br>
              <a:rPr lang="fr-FR" sz="1700">
                <a:latin typeface="Tahoma"/>
                <a:ea typeface="Tahoma"/>
                <a:cs typeface="Tahoma"/>
                <a:sym typeface="Tahoma"/>
              </a:rPr>
            </a:br>
            <a:r>
              <a:rPr lang="fr-FR" sz="1500">
                <a:latin typeface="Tahoma"/>
                <a:ea typeface="Tahoma"/>
                <a:cs typeface="Tahoma"/>
                <a:sym typeface="Tahoma"/>
              </a:rPr>
              <a:t>~1 000 développeurs Odo</a:t>
            </a:r>
            <a:r>
              <a:rPr lang="fr-FR" sz="1500">
                <a:latin typeface="Tahoma"/>
                <a:ea typeface="Tahoma"/>
                <a:cs typeface="Tahoma"/>
                <a:sym typeface="Tahoma"/>
              </a:rPr>
              <a:t>o S.A.</a:t>
            </a:r>
            <a:endParaRPr sz="1500">
              <a:latin typeface="Tahoma"/>
              <a:ea typeface="Tahoma"/>
              <a:cs typeface="Tahoma"/>
              <a:sym typeface="Tahoma"/>
            </a:endParaRPr>
          </a:p>
          <a:p>
            <a:pPr indent="-336550" lvl="0" marL="457200" rtl="0" algn="l">
              <a:spcBef>
                <a:spcPts val="1500"/>
              </a:spcBef>
              <a:spcAft>
                <a:spcPts val="0"/>
              </a:spcAft>
              <a:buSzPts val="1700"/>
              <a:buChar char="●"/>
            </a:pPr>
            <a:r>
              <a:rPr b="1" lang="fr-FR" sz="1700">
                <a:latin typeface="Tahoma"/>
                <a:ea typeface="Tahoma"/>
                <a:cs typeface="Tahoma"/>
                <a:sym typeface="Tahoma"/>
              </a:rPr>
              <a:t>Amplitude fonctionnelle </a:t>
            </a:r>
            <a:r>
              <a:rPr lang="fr-FR" sz="1700">
                <a:latin typeface="Tahoma"/>
                <a:ea typeface="Tahoma"/>
                <a:cs typeface="Tahoma"/>
                <a:sym typeface="Tahoma"/>
              </a:rPr>
              <a:t>inhabituelle pour un ERP</a:t>
            </a:r>
            <a:br>
              <a:rPr lang="fr-FR" sz="1700">
                <a:latin typeface="Tahoma"/>
                <a:ea typeface="Tahoma"/>
                <a:cs typeface="Tahoma"/>
                <a:sym typeface="Tahoma"/>
              </a:rPr>
            </a:br>
            <a:r>
              <a:rPr lang="fr-FR" sz="1500">
                <a:latin typeface="Tahoma"/>
                <a:ea typeface="Tahoma"/>
                <a:cs typeface="Tahoma"/>
                <a:sym typeface="Tahoma"/>
              </a:rPr>
              <a:t>CRM, fabrication, RH, </a:t>
            </a:r>
            <a:r>
              <a:rPr lang="fr-FR" sz="1500" u="sng">
                <a:latin typeface="Tahoma"/>
                <a:ea typeface="Tahoma"/>
                <a:cs typeface="Tahoma"/>
                <a:sym typeface="Tahoma"/>
              </a:rPr>
              <a:t>projets</a:t>
            </a:r>
            <a:r>
              <a:rPr lang="fr-FR" sz="1500">
                <a:latin typeface="Tahoma"/>
                <a:ea typeface="Tahoma"/>
                <a:cs typeface="Tahoma"/>
                <a:sym typeface="Tahoma"/>
              </a:rPr>
              <a:t>,</a:t>
            </a:r>
            <a:r>
              <a:rPr b="1" lang="fr-FR" sz="1500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fr-FR" sz="1500" u="sng">
                <a:latin typeface="Tahoma"/>
                <a:ea typeface="Tahoma"/>
                <a:cs typeface="Tahoma"/>
                <a:sym typeface="Tahoma"/>
              </a:rPr>
              <a:t>site web et e-commerce</a:t>
            </a:r>
            <a:r>
              <a:rPr lang="fr-FR" sz="1500">
                <a:latin typeface="Tahoma"/>
                <a:ea typeface="Tahoma"/>
                <a:cs typeface="Tahoma"/>
                <a:sym typeface="Tahoma"/>
              </a:rPr>
              <a:t>, point de vente, </a:t>
            </a:r>
            <a:r>
              <a:rPr lang="fr-FR" sz="1500" u="sng">
                <a:latin typeface="Tahoma"/>
                <a:ea typeface="Tahoma"/>
                <a:cs typeface="Tahoma"/>
                <a:sym typeface="Tahoma"/>
              </a:rPr>
              <a:t>GED</a:t>
            </a:r>
            <a:r>
              <a:rPr lang="fr-FR" sz="1500"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lang="fr-FR" sz="1500" u="sng">
                <a:latin typeface="Tahoma"/>
                <a:ea typeface="Tahoma"/>
                <a:cs typeface="Tahoma"/>
                <a:sym typeface="Tahoma"/>
              </a:rPr>
              <a:t>signature</a:t>
            </a:r>
            <a:r>
              <a:rPr lang="fr-FR" sz="1500"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lang="fr-FR" sz="1500" u="sng">
                <a:latin typeface="Tahoma"/>
                <a:ea typeface="Tahoma"/>
                <a:cs typeface="Tahoma"/>
                <a:sym typeface="Tahoma"/>
              </a:rPr>
              <a:t>gestion de flotte</a:t>
            </a:r>
            <a:r>
              <a:rPr lang="fr-FR" sz="1500">
                <a:latin typeface="Tahoma"/>
                <a:ea typeface="Tahoma"/>
                <a:cs typeface="Tahoma"/>
                <a:sym typeface="Tahoma"/>
              </a:rPr>
              <a:t>, association, ...</a:t>
            </a:r>
            <a:endParaRPr sz="1500">
              <a:latin typeface="Tahoma"/>
              <a:ea typeface="Tahoma"/>
              <a:cs typeface="Tahoma"/>
              <a:sym typeface="Tahoma"/>
            </a:endParaRPr>
          </a:p>
          <a:p>
            <a:pPr indent="-336550" lvl="0" marL="457200" rtl="0" algn="l">
              <a:spcBef>
                <a:spcPts val="1500"/>
              </a:spcBef>
              <a:spcAft>
                <a:spcPts val="0"/>
              </a:spcAft>
              <a:buSzPts val="1700"/>
              <a:buChar char="●"/>
            </a:pPr>
            <a:r>
              <a:rPr b="1" lang="fr-FR" sz="1700">
                <a:latin typeface="Tahoma"/>
                <a:ea typeface="Tahoma"/>
                <a:cs typeface="Tahoma"/>
                <a:sym typeface="Tahoma"/>
              </a:rPr>
              <a:t>Forte intégrabilité entre les modules</a:t>
            </a:r>
            <a:br>
              <a:rPr lang="fr-FR" sz="1700">
                <a:latin typeface="Tahoma"/>
                <a:ea typeface="Tahoma"/>
                <a:cs typeface="Tahoma"/>
                <a:sym typeface="Tahoma"/>
              </a:rPr>
            </a:br>
            <a:r>
              <a:rPr lang="fr-FR" sz="1500">
                <a:latin typeface="Tahoma"/>
                <a:ea typeface="Tahoma"/>
                <a:cs typeface="Tahoma"/>
                <a:sym typeface="Tahoma"/>
              </a:rPr>
              <a:t>Exemples : pont Ventes → Projet ; pas besoin de changer de client lourd pour ouvrir la comptabilité d’une 2e société</a:t>
            </a:r>
            <a:endParaRPr sz="15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f8a5c5757b_0_141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Les éditions : Community ou Entreprise ? Et l’OCA ?</a:t>
            </a:r>
            <a:endParaRPr/>
          </a:p>
        </p:txBody>
      </p:sp>
      <p:graphicFrame>
        <p:nvGraphicFramePr>
          <p:cNvPr id="362" name="Google Shape;362;g3f8a5c5757b_0_141"/>
          <p:cNvGraphicFramePr/>
          <p:nvPr/>
        </p:nvGraphicFramePr>
        <p:xfrm>
          <a:off x="416350" y="11278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{3EDB087D-598B-4024-8A61-DCB6C5ED28FB}</a:tableStyleId>
              </a:tblPr>
              <a:tblGrid>
                <a:gridCol w="1614425"/>
                <a:gridCol w="2407225"/>
                <a:gridCol w="2495825"/>
                <a:gridCol w="2495825"/>
              </a:tblGrid>
              <a:tr h="276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>
                          <a:latin typeface="Tahoma"/>
                          <a:ea typeface="Tahoma"/>
                          <a:cs typeface="Tahoma"/>
                          <a:sym typeface="Tahoma"/>
                        </a:rPr>
                        <a:t>Enterprise (EE)</a:t>
                      </a:r>
                      <a:endParaRPr b="1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>
                          <a:latin typeface="Tahoma"/>
                          <a:ea typeface="Tahoma"/>
                          <a:cs typeface="Tahoma"/>
                          <a:sym typeface="Tahoma"/>
                        </a:rPr>
                        <a:t>Community (CE)</a:t>
                      </a:r>
                      <a:endParaRPr b="1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>
                          <a:latin typeface="Tahoma"/>
                          <a:ea typeface="Tahoma"/>
                          <a:cs typeface="Tahoma"/>
                          <a:sym typeface="Tahoma"/>
                        </a:rPr>
                        <a:t>Odoo + OCA</a:t>
                      </a:r>
                      <a:endParaRPr b="1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</a:tr>
              <a:tr h="43627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>
                          <a:latin typeface="Tahoma"/>
                          <a:ea typeface="Tahoma"/>
                          <a:cs typeface="Tahoma"/>
                          <a:sym typeface="Tahoma"/>
                        </a:rPr>
                        <a:t>Licence</a:t>
                      </a:r>
                      <a:endParaRPr b="1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>
                          <a:latin typeface="Tahoma"/>
                          <a:ea typeface="Tahoma"/>
                          <a:cs typeface="Tahoma"/>
                          <a:sym typeface="Tahoma"/>
                        </a:rPr>
                        <a:t>Propriétaire</a:t>
                      </a:r>
                      <a:endParaRPr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>
                          <a:latin typeface="Tahoma"/>
                          <a:ea typeface="Tahoma"/>
                          <a:cs typeface="Tahoma"/>
                          <a:sym typeface="Tahoma"/>
                        </a:rPr>
                        <a:t>LGPL (open-source)</a:t>
                      </a:r>
                      <a:endParaRPr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>
                          <a:latin typeface="Tahoma"/>
                          <a:ea typeface="Tahoma"/>
                          <a:cs typeface="Tahoma"/>
                          <a:sym typeface="Tahoma"/>
                        </a:rPr>
                        <a:t>AGPL (en majorité)</a:t>
                      </a:r>
                      <a:endParaRPr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</a:tr>
              <a:tr h="43627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>
                          <a:latin typeface="Tahoma"/>
                          <a:ea typeface="Tahoma"/>
                          <a:cs typeface="Tahoma"/>
                          <a:sym typeface="Tahoma"/>
                        </a:rPr>
                        <a:t>Coût</a:t>
                      </a:r>
                      <a:endParaRPr b="1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>
                          <a:latin typeface="Tahoma"/>
                          <a:ea typeface="Tahoma"/>
                          <a:cs typeface="Tahoma"/>
                          <a:sym typeface="Tahoma"/>
                        </a:rPr>
                        <a:t>Abonnement €/user/mois</a:t>
                      </a:r>
                      <a:endParaRPr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>
                          <a:latin typeface="Tahoma"/>
                          <a:ea typeface="Tahoma"/>
                          <a:cs typeface="Tahoma"/>
                          <a:sym typeface="Tahoma"/>
                        </a:rPr>
                        <a:t>Gratuit</a:t>
                      </a:r>
                      <a:endParaRPr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>
                          <a:latin typeface="Tahoma"/>
                          <a:ea typeface="Tahoma"/>
                          <a:cs typeface="Tahoma"/>
                          <a:sym typeface="Tahoma"/>
                        </a:rPr>
                        <a:t>Gratuit + contributions</a:t>
                      </a:r>
                      <a:endParaRPr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</a:tr>
              <a:tr h="43627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>
                          <a:latin typeface="Tahoma"/>
                          <a:ea typeface="Tahoma"/>
                          <a:cs typeface="Tahoma"/>
                          <a:sym typeface="Tahoma"/>
                        </a:rPr>
                        <a:t>Hébergement</a:t>
                      </a:r>
                      <a:endParaRPr b="1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>
                          <a:latin typeface="Tahoma"/>
                          <a:ea typeface="Tahoma"/>
                          <a:cs typeface="Tahoma"/>
                          <a:sym typeface="Tahoma"/>
                        </a:rPr>
                        <a:t>Odoo Online (SaaS) / Odoo.sh / PaaS intégrateur</a:t>
                      </a:r>
                      <a:endParaRPr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>
                          <a:latin typeface="Tahoma"/>
                          <a:ea typeface="Tahoma"/>
                          <a:cs typeface="Tahoma"/>
                          <a:sym typeface="Tahoma"/>
                        </a:rPr>
                        <a:t>On-Premise ou SaaS/PaaS intégrateur</a:t>
                      </a:r>
                      <a:endParaRPr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  <a:tc hMerge="1"/>
              </a:tr>
              <a:tr h="43627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>
                          <a:latin typeface="Tahoma"/>
                          <a:ea typeface="Tahoma"/>
                          <a:cs typeface="Tahoma"/>
                          <a:sym typeface="Tahoma"/>
                        </a:rPr>
                        <a:t>Support éditeur</a:t>
                      </a:r>
                      <a:endParaRPr b="1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>
                          <a:latin typeface="Tahoma"/>
                          <a:ea typeface="Tahoma"/>
                          <a:cs typeface="Tahoma"/>
                          <a:sym typeface="Tahoma"/>
                        </a:rPr>
                        <a:t>Inclus (Odoo S.A.)</a:t>
                      </a:r>
                      <a:endParaRPr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>
                          <a:latin typeface="Tahoma"/>
                          <a:ea typeface="Tahoma"/>
                          <a:cs typeface="Tahoma"/>
                          <a:sym typeface="Tahoma"/>
                        </a:rPr>
                        <a:t>Aucun (communauté / intégrateurs)</a:t>
                      </a:r>
                      <a:endParaRPr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  <a:tc hMerge="1"/>
              </a:tr>
              <a:tr h="9588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>
                          <a:latin typeface="Tahoma"/>
                          <a:ea typeface="Tahoma"/>
                          <a:cs typeface="Tahoma"/>
                          <a:sym typeface="Tahoma"/>
                        </a:rPr>
                        <a:t>Fonctionnalités</a:t>
                      </a:r>
                      <a:endParaRPr b="1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>
                          <a:latin typeface="Tahoma"/>
                          <a:ea typeface="Tahoma"/>
                          <a:cs typeface="Tahoma"/>
                          <a:sym typeface="Tahoma"/>
                        </a:rPr>
                        <a:t>Studio, Appointments, Helpdesk, IoT, IA…</a:t>
                      </a:r>
                      <a:endParaRPr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>
                          <a:latin typeface="Tahoma"/>
                          <a:ea typeface="Tahoma"/>
                          <a:cs typeface="Tahoma"/>
                          <a:sym typeface="Tahoma"/>
                        </a:rPr>
                        <a:t>Socle de base : facturation, ventes, achats, stock…</a:t>
                      </a:r>
                      <a:endParaRPr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>
                          <a:latin typeface="Tahoma"/>
                          <a:ea typeface="Tahoma"/>
                          <a:cs typeface="Tahoma"/>
                          <a:sym typeface="Tahoma"/>
                        </a:rPr>
                        <a:t>Modules complémentaires OCA (compta FR, connecteurs…)</a:t>
                      </a:r>
                      <a:endParaRPr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363" name="Google Shape;363;g3f8a5c5757b_0_141"/>
          <p:cNvSpPr txBox="1"/>
          <p:nvPr/>
        </p:nvSpPr>
        <p:spPr>
          <a:xfrm>
            <a:off x="416350" y="6047775"/>
            <a:ext cx="6298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latin typeface="Tahoma"/>
                <a:ea typeface="Tahoma"/>
                <a:cs typeface="Tahoma"/>
                <a:sym typeface="Tahoma"/>
              </a:rPr>
              <a:t>Editions Odoo : </a:t>
            </a:r>
            <a:r>
              <a:rPr lang="fr-FR" u="sng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  <a:hlinkClick r:id="rId3"/>
              </a:rPr>
              <a:t>https://www.odoo.com/fr_FR/page/editions</a:t>
            </a:r>
            <a:r>
              <a:rPr lang="fr-FR">
                <a:latin typeface="Tahoma"/>
                <a:ea typeface="Tahoma"/>
                <a:cs typeface="Tahoma"/>
                <a:sym typeface="Tahoma"/>
              </a:rPr>
              <a:t> </a:t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latin typeface="Tahoma"/>
                <a:ea typeface="Tahoma"/>
                <a:cs typeface="Tahoma"/>
                <a:sym typeface="Tahoma"/>
              </a:rPr>
              <a:t>Odoo Apps Store : </a:t>
            </a:r>
            <a:r>
              <a:rPr lang="fr-FR" u="sng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  <a:hlinkClick r:id="rId4"/>
              </a:rPr>
              <a:t>https://apps.odoo.com/apps</a:t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latin typeface="Tahoma"/>
                <a:ea typeface="Tahoma"/>
                <a:cs typeface="Tahoma"/>
                <a:sym typeface="Tahoma"/>
              </a:rPr>
              <a:t>OCA : </a:t>
            </a:r>
            <a:r>
              <a:rPr lang="fr-FR" u="sng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  <a:hlinkClick r:id="rId5"/>
              </a:rPr>
              <a:t>https://odoo-community.org/</a:t>
            </a:r>
            <a:r>
              <a:rPr lang="fr-FR">
                <a:latin typeface="Tahoma"/>
                <a:ea typeface="Tahoma"/>
                <a:cs typeface="Tahoma"/>
                <a:sym typeface="Tahoma"/>
              </a:rPr>
              <a:t> et </a:t>
            </a:r>
            <a:r>
              <a:rPr lang="fr-FR" u="sng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  <a:hlinkClick r:id="rId6"/>
              </a:rPr>
              <a:t>https://github.com/OCA/</a:t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4" name="Google Shape;364;g3f8a5c5757b_0_141"/>
          <p:cNvSpPr txBox="1"/>
          <p:nvPr/>
        </p:nvSpPr>
        <p:spPr>
          <a:xfrm>
            <a:off x="416350" y="4504120"/>
            <a:ext cx="78933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Comment choisir concrètement ?</a:t>
            </a:r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fr-FR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Odoo Entreprise (Online)</a:t>
            </a:r>
            <a:r>
              <a:rPr lang="fr-FR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: imbattable financièrement pour des TPE et petites PME, mais aucune personnalisations ;</a:t>
            </a:r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fr-FR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Odoo Entreprise</a:t>
            </a:r>
            <a:r>
              <a:rPr lang="fr-FR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: certaines fonctionnalités avancées, support éditeur ;</a:t>
            </a:r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fr-FR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Odoo Community</a:t>
            </a:r>
            <a:r>
              <a:rPr lang="fr-FR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: convictions, coût au long terme, personnalisation importantes ;</a:t>
            </a:r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Char char="●"/>
            </a:pPr>
            <a:r>
              <a:rPr b="1" lang="fr-FR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Et l’OCA ?</a:t>
            </a:r>
            <a:r>
              <a:rPr lang="fr-FR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Souvent très complémentaire.</a:t>
            </a:r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f8a5c5757b_0_151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Release Management de Odoo (versions)</a:t>
            </a:r>
            <a:endParaRPr/>
          </a:p>
        </p:txBody>
      </p:sp>
      <p:sp>
        <p:nvSpPr>
          <p:cNvPr id="370" name="Google Shape;370;g3f8a5c5757b_0_151"/>
          <p:cNvSpPr txBox="1"/>
          <p:nvPr/>
        </p:nvSpPr>
        <p:spPr>
          <a:xfrm>
            <a:off x="335025" y="1428750"/>
            <a:ext cx="9192600" cy="4679700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Mises à jour et support :</a:t>
            </a:r>
            <a:endParaRPr b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fr-FR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Rythme</a:t>
            </a:r>
            <a:r>
              <a:rPr lang="fr-FR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: une version majeure</a:t>
            </a:r>
            <a:r>
              <a:rPr b="1" lang="fr-FR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par an ~en septembre</a:t>
            </a:r>
            <a:r>
              <a:rPr lang="fr-FR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(Odoo Experience)</a:t>
            </a:r>
            <a:endParaRPr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fr-FR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Support</a:t>
            </a:r>
            <a:r>
              <a:rPr lang="fr-FR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: </a:t>
            </a:r>
            <a:r>
              <a:rPr b="1" lang="fr-FR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 ans</a:t>
            </a:r>
            <a:r>
              <a:rPr lang="fr-FR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par version part d'Odoo S.A.</a:t>
            </a:r>
            <a:br>
              <a:rPr lang="fr-FR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fr-FR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Helpdesk, correctifs de bugs, patchs de sécurité : </a:t>
            </a:r>
            <a:r>
              <a:rPr lang="fr-FR" sz="1200" u="sng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  <a:hlinkClick r:id="rId3"/>
              </a:rPr>
              <a:t>cf. doc</a:t>
            </a:r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Char char="●"/>
            </a:pPr>
            <a:r>
              <a:rPr lang="fr-FR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Depuis Avril 2026 : </a:t>
            </a:r>
            <a:r>
              <a:rPr b="1" lang="fr-FR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versions Entreprise supportées indéfiniment</a:t>
            </a:r>
            <a:r>
              <a:rPr lang="fr-FR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(plus de mises à jour forcées)</a:t>
            </a:r>
            <a:br>
              <a:rPr lang="fr-FR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fr-FR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Modulo majoration de +25% de l'abonnement si version &lt;= 4 générations</a:t>
            </a:r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En pratique :</a:t>
            </a:r>
            <a:endParaRPr b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fr-FR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Odoo Online</a:t>
            </a:r>
            <a:r>
              <a:rPr lang="fr-FR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: très automatisé, BDD de test,</a:t>
            </a:r>
            <a:r>
              <a:rPr lang="fr-FR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fr-FR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migration facilitée tous les ans</a:t>
            </a:r>
            <a:endParaRPr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fr-FR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Odoo S.H.</a:t>
            </a:r>
            <a:r>
              <a:rPr lang="fr-FR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: PaaS, pour des développements et modules customs</a:t>
            </a:r>
            <a:endParaRPr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fr-FR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Odoo Entreprise On-Premise</a:t>
            </a:r>
            <a:r>
              <a:rPr lang="fr-FR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: bénéficie aussi du service de migration Odoo S.A., hors modules custom</a:t>
            </a:r>
            <a:endParaRPr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fr-FR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Odoo Community</a:t>
            </a:r>
            <a:r>
              <a:rPr lang="fr-FR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: outils communautaires (OpenUpgrade), migration recommandée tous les 2 à 4 ans maximum (exposition cyber et nouvelles fonctionnalités utilisateur). En pratique : sans intégrateur, les versions ne sont pas migrées.</a:t>
            </a:r>
            <a:endParaRPr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f8a5c5757b_0_239"/>
          <p:cNvSpPr txBox="1"/>
          <p:nvPr>
            <p:ph type="title"/>
          </p:nvPr>
        </p:nvSpPr>
        <p:spPr>
          <a:xfrm>
            <a:off x="4588662" y="803277"/>
            <a:ext cx="4822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Des questions ?</a:t>
            </a:r>
            <a:endParaRPr/>
          </a:p>
        </p:txBody>
      </p:sp>
      <p:sp>
        <p:nvSpPr>
          <p:cNvPr id="376" name="Google Shape;376;g3f8a5c5757b_0_239"/>
          <p:cNvSpPr txBox="1"/>
          <p:nvPr/>
        </p:nvSpPr>
        <p:spPr>
          <a:xfrm>
            <a:off x="4588662" y="1900000"/>
            <a:ext cx="4822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fr-FR" sz="6000"/>
              <a:t>🙋‍♂️🙋‍♀️</a:t>
            </a:r>
            <a:endParaRPr b="1" sz="6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f8a5c5757b_0_47"/>
          <p:cNvSpPr txBox="1"/>
          <p:nvPr>
            <p:ph type="title"/>
          </p:nvPr>
        </p:nvSpPr>
        <p:spPr>
          <a:xfrm>
            <a:off x="285750" y="2334723"/>
            <a:ext cx="4822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Pause : 15 min</a:t>
            </a:r>
            <a:endParaRPr/>
          </a:p>
        </p:txBody>
      </p:sp>
      <p:sp>
        <p:nvSpPr>
          <p:cNvPr id="382" name="Google Shape;382;g3f8a5c5757b_0_47"/>
          <p:cNvSpPr txBox="1"/>
          <p:nvPr/>
        </p:nvSpPr>
        <p:spPr>
          <a:xfrm>
            <a:off x="285750" y="3170400"/>
            <a:ext cx="30000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chemeClr val="dk1"/>
                </a:solidFill>
              </a:rPr>
              <a:t>10h15 - 10h30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f83fd878ef_0_196"/>
          <p:cNvSpPr txBox="1"/>
          <p:nvPr>
            <p:ph type="title"/>
          </p:nvPr>
        </p:nvSpPr>
        <p:spPr>
          <a:xfrm>
            <a:off x="285750" y="2334723"/>
            <a:ext cx="4822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1"/>
              <a:buFont typeface="Arial"/>
              <a:buNone/>
            </a:pPr>
            <a:r>
              <a:rPr lang="fr-FR" sz="2501"/>
              <a:t>Chapitre 2 (10h30 - 11h30)</a:t>
            </a:r>
            <a:endParaRPr/>
          </a:p>
        </p:txBody>
      </p:sp>
      <p:sp>
        <p:nvSpPr>
          <p:cNvPr id="388" name="Google Shape;388;g3f83fd878ef_0_196"/>
          <p:cNvSpPr txBox="1"/>
          <p:nvPr>
            <p:ph idx="1" type="body"/>
          </p:nvPr>
        </p:nvSpPr>
        <p:spPr>
          <a:xfrm>
            <a:off x="285750" y="3192950"/>
            <a:ext cx="5246100" cy="14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fr-FR"/>
              <a:t>1. </a:t>
            </a:r>
            <a:r>
              <a:rPr lang="fr-FR"/>
              <a:t>Architecture Odoo</a:t>
            </a:r>
            <a:br>
              <a:rPr lang="fr-FR"/>
            </a:br>
            <a:r>
              <a:rPr lang="fr-FR"/>
              <a:t>2. Build de l’environnement de dev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fr-FR"/>
              <a:t>3. Fichier de configuratino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fr-FR"/>
              <a:t>🎯 Odoo up &amp; running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f83fd878ef_0_180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📚 </a:t>
            </a:r>
            <a:r>
              <a:rPr lang="fr-FR"/>
              <a:t>Ressources indispensables</a:t>
            </a:r>
            <a:endParaRPr/>
          </a:p>
        </p:txBody>
      </p:sp>
      <p:sp>
        <p:nvSpPr>
          <p:cNvPr id="394" name="Google Shape;394;g3f83fd878ef_0_180"/>
          <p:cNvSpPr txBox="1"/>
          <p:nvPr/>
        </p:nvSpPr>
        <p:spPr>
          <a:xfrm>
            <a:off x="681050" y="2103450"/>
            <a:ext cx="8182200" cy="2651100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La documentation Odoo S.A. est notre alliée !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fr-FR" sz="2400" u="sng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  <a:hlinkClick r:id="rId3"/>
              </a:rPr>
              <a:t>https://www.odoo.com/documentation/19.0/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En particulier les pages sous “</a:t>
            </a:r>
            <a:r>
              <a:rPr b="1" lang="fr-FR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Developer / Reference</a:t>
            </a:r>
            <a:r>
              <a:rPr lang="fr-FR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” :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●"/>
            </a:pPr>
            <a:r>
              <a:rPr lang="fr-FR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Server Framework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●"/>
            </a:pPr>
            <a:r>
              <a:rPr lang="fr-FR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User Interface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9"/>
          <p:cNvSpPr txBox="1"/>
          <p:nvPr>
            <p:ph type="title"/>
          </p:nvPr>
        </p:nvSpPr>
        <p:spPr>
          <a:xfrm>
            <a:off x="681038" y="307978"/>
            <a:ext cx="8543925" cy="577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🔔 </a:t>
            </a:r>
            <a:r>
              <a:rPr lang="fr-FR"/>
              <a:t>Point sur les prérequis</a:t>
            </a:r>
            <a:endParaRPr/>
          </a:p>
        </p:txBody>
      </p:sp>
      <p:sp>
        <p:nvSpPr>
          <p:cNvPr id="400" name="Google Shape;400;p9"/>
          <p:cNvSpPr txBox="1"/>
          <p:nvPr/>
        </p:nvSpPr>
        <p:spPr>
          <a:xfrm>
            <a:off x="2396925" y="1989675"/>
            <a:ext cx="40806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92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Tahoma"/>
              <a:buChar char="●"/>
            </a:pPr>
            <a:r>
              <a:rPr lang="fr-FR" sz="1900">
                <a:latin typeface="Tahoma"/>
                <a:ea typeface="Tahoma"/>
                <a:cs typeface="Tahoma"/>
                <a:sym typeface="Tahoma"/>
              </a:rPr>
              <a:t>Windows / Linux / Mac</a:t>
            </a:r>
            <a:endParaRPr sz="1700">
              <a:latin typeface="Tahoma"/>
              <a:ea typeface="Tahoma"/>
              <a:cs typeface="Tahoma"/>
              <a:sym typeface="Tahoma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Tahoma"/>
              <a:buChar char="●"/>
            </a:pPr>
            <a:r>
              <a:rPr i="0" lang="fr-FR" sz="1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WSL2 </a:t>
            </a:r>
            <a:r>
              <a:rPr lang="fr-FR" sz="1900">
                <a:latin typeface="Tahoma"/>
                <a:ea typeface="Tahoma"/>
                <a:cs typeface="Tahoma"/>
                <a:sym typeface="Tahoma"/>
              </a:rPr>
              <a:t>/</a:t>
            </a:r>
            <a:r>
              <a:rPr i="0" lang="fr-FR" sz="1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Docker</a:t>
            </a:r>
            <a:endParaRPr sz="1700">
              <a:latin typeface="Tahoma"/>
              <a:ea typeface="Tahoma"/>
              <a:cs typeface="Tahoma"/>
              <a:sym typeface="Tahoma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Tahoma"/>
              <a:buChar char="●"/>
            </a:pPr>
            <a:r>
              <a:rPr lang="fr-FR" sz="1900">
                <a:latin typeface="Tahoma"/>
                <a:ea typeface="Tahoma"/>
                <a:cs typeface="Tahoma"/>
                <a:sym typeface="Tahoma"/>
              </a:rPr>
              <a:t>O</a:t>
            </a:r>
            <a:r>
              <a:rPr i="0" lang="fr-FR" sz="1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utillage Akretion (pipx, docky, ak)</a:t>
            </a:r>
            <a:endParaRPr sz="1900">
              <a:latin typeface="Tahoma"/>
              <a:ea typeface="Tahoma"/>
              <a:cs typeface="Tahoma"/>
              <a:sym typeface="Tahoma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Tahoma"/>
              <a:buChar char="●"/>
            </a:pPr>
            <a:r>
              <a:rPr lang="fr-FR" sz="1900">
                <a:latin typeface="Tahoma"/>
                <a:ea typeface="Tahoma"/>
                <a:cs typeface="Tahoma"/>
                <a:sym typeface="Tahoma"/>
              </a:rPr>
              <a:t>Lancement de Odoo</a:t>
            </a:r>
            <a:endParaRPr sz="17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01" name="Google Shape;401;p9"/>
          <p:cNvSpPr txBox="1"/>
          <p:nvPr/>
        </p:nvSpPr>
        <p:spPr>
          <a:xfrm>
            <a:off x="600000" y="2054325"/>
            <a:ext cx="19737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600"/>
              <a:t>🛫</a:t>
            </a:r>
            <a:endParaRPr sz="9600"/>
          </a:p>
        </p:txBody>
      </p:sp>
      <p:sp>
        <p:nvSpPr>
          <p:cNvPr id="402" name="Google Shape;402;p9"/>
          <p:cNvSpPr txBox="1"/>
          <p:nvPr/>
        </p:nvSpPr>
        <p:spPr>
          <a:xfrm>
            <a:off x="292000" y="4529625"/>
            <a:ext cx="5215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fr-FR" sz="1600" u="sng">
                <a:solidFill>
                  <a:schemeClr val="hlink"/>
                </a:solidFill>
                <a:hlinkClick r:id="rId3"/>
              </a:rPr>
              <a:t>https://github.com/arnaudlayec/odoo-training/tree/main/chapter_00_prerequisites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4"/>
          <p:cNvSpPr txBox="1"/>
          <p:nvPr>
            <p:ph type="title"/>
          </p:nvPr>
        </p:nvSpPr>
        <p:spPr>
          <a:xfrm>
            <a:off x="681038" y="307978"/>
            <a:ext cx="8543925" cy="577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👩‍💻 </a:t>
            </a:r>
            <a:r>
              <a:rPr lang="fr-FR"/>
              <a:t>Architecture Odoo</a:t>
            </a:r>
            <a:endParaRPr/>
          </a:p>
        </p:txBody>
      </p:sp>
      <p:sp>
        <p:nvSpPr>
          <p:cNvPr id="408" name="Google Shape;408;p14"/>
          <p:cNvSpPr txBox="1"/>
          <p:nvPr/>
        </p:nvSpPr>
        <p:spPr>
          <a:xfrm>
            <a:off x="600000" y="1194131"/>
            <a:ext cx="5793300" cy="5341200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Architecture 3-tiers</a:t>
            </a:r>
            <a:endParaRPr b="1"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Char char="●"/>
            </a:pPr>
            <a:r>
              <a:rPr i="0" lang="fr-FR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PostgreSQL (données) : seu</a:t>
            </a:r>
            <a:r>
              <a:rPr lang="fr-FR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 SGBD supporté</a:t>
            </a:r>
            <a:endParaRPr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Char char="●"/>
            </a:pPr>
            <a:r>
              <a:rPr i="0" lang="fr-FR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serveur Python</a:t>
            </a:r>
            <a:r>
              <a:rPr lang="fr-FR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(backend applicatif) </a:t>
            </a:r>
            <a:r>
              <a:rPr i="0" lang="fr-FR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logique</a:t>
            </a:r>
            <a:r>
              <a:rPr lang="fr-FR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et</a:t>
            </a:r>
            <a:r>
              <a:rPr i="0" lang="fr-FR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fr-FR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sécurité applicative, exposée en HTTP via WSGI</a:t>
            </a:r>
            <a:endParaRPr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Char char="●"/>
            </a:pPr>
            <a:r>
              <a:rPr i="0" lang="fr-FR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client web </a:t>
            </a:r>
            <a:r>
              <a:rPr b="1" i="0" lang="fr-FR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OWL</a:t>
            </a:r>
            <a:r>
              <a:rPr i="0" lang="fr-FR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(front</a:t>
            </a:r>
            <a:r>
              <a:rPr lang="fr-FR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end, Odoo Web Library</a:t>
            </a:r>
            <a:r>
              <a:rPr i="0" lang="fr-FR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: ex</a:t>
            </a:r>
            <a:r>
              <a:rPr lang="fr-FR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écuté par le navigateur, discute en JSON-RPC avec le backend. Esprit proche de </a:t>
            </a:r>
            <a:r>
              <a:rPr lang="fr-FR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Vue.js</a:t>
            </a:r>
            <a:r>
              <a:rPr lang="fr-FR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ou </a:t>
            </a:r>
            <a:r>
              <a:rPr lang="fr-FR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React</a:t>
            </a:r>
            <a:r>
              <a:rPr lang="fr-FR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 Modernisé en v17.0.</a:t>
            </a:r>
            <a:br>
              <a:rPr lang="fr-FR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fr-FR" sz="1600" u="sng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  <a:hlinkClick r:id="rId3"/>
              </a:rPr>
              <a:t>https://github.com/odoo/owl</a:t>
            </a:r>
            <a:endParaRPr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Multi-threading</a:t>
            </a:r>
            <a:endParaRPr b="1"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Deux possibilités :</a:t>
            </a:r>
            <a:endParaRPr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fr-FR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mono-processus / multi-thread</a:t>
            </a:r>
            <a:r>
              <a:rPr lang="fr-FR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(</a:t>
            </a:r>
            <a:r>
              <a:rPr lang="fr-FR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workers = 0</a:t>
            </a:r>
            <a:r>
              <a:rPr lang="fr-FR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: par défaut, en dev ;</a:t>
            </a:r>
            <a:endParaRPr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fr-FR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multi-processus</a:t>
            </a:r>
            <a:r>
              <a:rPr lang="fr-FR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(</a:t>
            </a:r>
            <a:r>
              <a:rPr lang="fr-FR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workers &gt; 0)</a:t>
            </a:r>
            <a:r>
              <a:rPr lang="fr-FR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: en production. Pas de véritable multi-</a:t>
            </a:r>
            <a:r>
              <a:rPr b="1" lang="fr-FR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threading</a:t>
            </a:r>
            <a:r>
              <a:rPr lang="fr-FR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en parallèle (limite du GIL Python), plusieurs processus (workers) sont monté dès le lancement de l’application</a:t>
            </a:r>
            <a:endParaRPr b="1"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f8a5c5757b_0_168"/>
          <p:cNvSpPr txBox="1"/>
          <p:nvPr/>
        </p:nvSpPr>
        <p:spPr>
          <a:xfrm>
            <a:off x="600000" y="1140011"/>
            <a:ext cx="8544000" cy="5418000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ORM = Object-Relational Mapping</a:t>
            </a:r>
            <a:endParaRPr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00" u="sng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  <a:hlinkClick r:id="rId3"/>
              </a:rPr>
              <a:t>https://www.odoo.com/documentation/19.0/developer/reference/backend/orm.html</a:t>
            </a:r>
            <a:r>
              <a:rPr lang="fr-FR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sz="1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Correspond au code de </a:t>
            </a:r>
            <a:r>
              <a:rPr lang="fr-FR" sz="1500" u="sng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  <a:hlinkClick r:id="rId4"/>
              </a:rPr>
              <a:t>https://github.com/odoo/odoo/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sans le dossier “addons”</a:t>
            </a:r>
            <a:endParaRPr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Principes de l’ORM</a:t>
            </a:r>
            <a:endParaRPr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 modèle Python = 1 classe héritant de models.Model</a:t>
            </a:r>
            <a:endParaRPr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Char char="●"/>
            </a:pPr>
            <a:r>
              <a:rPr lang="fr-FR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Les vues (=pages), les règles de sécurité, les actions dans l’UI et le code métier sont définis par/selon 1 modèle donné ⇒ c’est LA notion clef du framework</a:t>
            </a:r>
            <a:endParaRPr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 méthode par opération CRUD (create, read, write, unlink), traduite en requête SQL</a:t>
            </a:r>
            <a:endParaRPr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Char char="●"/>
            </a:pPr>
            <a:r>
              <a:rPr lang="fr-FR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Validation des données</a:t>
            </a:r>
            <a:endParaRPr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Char char="●"/>
            </a:pPr>
            <a:r>
              <a:rPr lang="fr-FR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Droits d'accès</a:t>
            </a:r>
            <a:endParaRPr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Char char="●"/>
            </a:pPr>
            <a:r>
              <a:rPr lang="fr-FR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Cache</a:t>
            </a:r>
            <a:endParaRPr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Char char="●"/>
            </a:pPr>
            <a:r>
              <a:rPr lang="fr-FR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Suivi des modifications</a:t>
            </a:r>
            <a:endParaRPr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Char char="●"/>
            </a:pPr>
            <a:r>
              <a:rPr lang="fr-FR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Amélioré à chaque version (performance, sécurité, …)</a:t>
            </a:r>
            <a:endParaRPr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⇒ Aucune requête SQL à écrire dans les cas courants.</a:t>
            </a:r>
            <a:br>
              <a:rPr lang="fr-FR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fr-FR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Exemples d’exceptions : performance optimisées ou vue SQL</a:t>
            </a:r>
            <a:endParaRPr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 types de modèles</a:t>
            </a:r>
            <a:endParaRPr b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models.Model</a:t>
            </a:r>
            <a:r>
              <a:rPr lang="fr-FR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: classique, 1 table PostgreSQL</a:t>
            </a:r>
            <a:endParaRPr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models.TransientModel</a:t>
            </a:r>
            <a:r>
              <a:rPr lang="fr-FR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: idem mais données effacées toutes les X heures par une CRON (défaut : 1 heure) ⇒ utilisé pour des wizards / assistants (fenêtres temporaires ou tunnel d’actions)</a:t>
            </a:r>
            <a:endParaRPr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Char char="●"/>
            </a:pPr>
            <a:r>
              <a:rPr b="1"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models.AbstractModel</a:t>
            </a:r>
            <a:r>
              <a:rPr lang="fr-FR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: les “mixins”, factorisant une logique</a:t>
            </a:r>
            <a:endParaRPr b="1"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14" name="Google Shape;414;g3f8a5c5757b_0_168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L’ORM de Odoo (Python)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f8a5c5757b_0_199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Installer Odoo</a:t>
            </a:r>
            <a:endParaRPr/>
          </a:p>
        </p:txBody>
      </p:sp>
      <p:sp>
        <p:nvSpPr>
          <p:cNvPr id="420" name="Google Shape;420;g3f8a5c5757b_0_199"/>
          <p:cNvSpPr txBox="1"/>
          <p:nvPr/>
        </p:nvSpPr>
        <p:spPr>
          <a:xfrm>
            <a:off x="600000" y="1134475"/>
            <a:ext cx="7692000" cy="2401800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latin typeface="Tahoma"/>
                <a:ea typeface="Tahoma"/>
                <a:cs typeface="Tahoma"/>
                <a:sym typeface="Tahoma"/>
              </a:rPr>
              <a:t>3 méthodes d’installation</a:t>
            </a:r>
            <a:endParaRPr b="1"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>
                <a:solidFill>
                  <a:schemeClr val="dk1"/>
                </a:solidFill>
                <a:uFill>
                  <a:noFill/>
                </a:uFill>
                <a:latin typeface="Tahoma"/>
                <a:ea typeface="Tahoma"/>
                <a:cs typeface="Tahoma"/>
                <a:sym typeface="Tahom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par paquet</a:t>
            </a:r>
            <a:r>
              <a:rPr lang="fr-FR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: </a:t>
            </a:r>
            <a:r>
              <a:rPr b="1" lang="fr-FR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sudo apt-get install odoo</a:t>
            </a:r>
            <a:r>
              <a:rPr lang="fr-FR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(peut vu en pratique)</a:t>
            </a:r>
            <a:endParaRPr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Char char="●"/>
            </a:pPr>
            <a:r>
              <a:rPr lang="fr-FR" u="sng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  <a:hlinkClick r:id="rId4"/>
              </a:rPr>
              <a:t>depuis les sources</a:t>
            </a:r>
            <a:r>
              <a:rPr lang="fr-FR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voir </a:t>
            </a:r>
            <a:r>
              <a:rPr lang="fr-FR" u="sng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  <a:hlinkClick r:id="rId5"/>
              </a:rPr>
              <a:t>script démo dans </a:t>
            </a:r>
            <a:r>
              <a:rPr lang="fr-FR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6"/>
              </a:rPr>
              <a:t>chapter02_build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Char char="●"/>
            </a:pPr>
            <a:r>
              <a:rPr lang="fr-FR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image Docker communautaire : </a:t>
            </a:r>
            <a:r>
              <a:rPr lang="fr-FR" u="sng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  <a:hlinkClick r:id="rId7"/>
              </a:rPr>
              <a:t>https://github.com/acsone/odoo-bedrock</a:t>
            </a:r>
            <a:endParaRPr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Outillage</a:t>
            </a:r>
            <a:endParaRPr b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Char char="●"/>
            </a:pPr>
            <a:r>
              <a:rPr lang="fr-FR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Modularité = installer &amp; mettre à jour les modules et leur dépendance</a:t>
            </a:r>
            <a:endParaRPr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Char char="●"/>
            </a:pPr>
            <a:r>
              <a:rPr lang="fr-FR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Maintenance = fichiers de configuration pour installer les modules plutôt que par l’UI</a:t>
            </a:r>
            <a:endParaRPr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fr-FR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Sans outillage :</a:t>
            </a:r>
            <a:endParaRPr u="sng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21" name="Google Shape;421;g3f8a5c5757b_0_199"/>
          <p:cNvSpPr txBox="1"/>
          <p:nvPr/>
        </p:nvSpPr>
        <p:spPr>
          <a:xfrm>
            <a:off x="681050" y="3536275"/>
            <a:ext cx="7611000" cy="1121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cd o19/external-src/ </a:t>
            </a:r>
            <a:r>
              <a:rPr lang="fr-FR" sz="120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# o19 : pour “Odoo v19.0” et “external-src” par convention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git clone </a:t>
            </a:r>
            <a:r>
              <a:rPr lang="fr-FR" sz="1200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8"/>
              </a:rPr>
              <a:t>git@github.com</a:t>
            </a: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:OCA/anyrepo -b 19.0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pip install -r anyrepo/modules_requirements.txt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nano odoo.cfg  </a:t>
            </a:r>
            <a:r>
              <a:rPr lang="fr-FR" sz="120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# modifier le “</a:t>
            </a:r>
            <a:r>
              <a:rPr b="1" lang="fr-FR" sz="120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addons-path</a:t>
            </a:r>
            <a:r>
              <a:rPr lang="fr-FR" sz="120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”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22" name="Google Shape;422;g3f8a5c5757b_0_199"/>
          <p:cNvSpPr txBox="1"/>
          <p:nvPr/>
        </p:nvSpPr>
        <p:spPr>
          <a:xfrm>
            <a:off x="681050" y="4750500"/>
            <a:ext cx="7692000" cy="1884600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u="sng">
                <a:latin typeface="Tahoma"/>
                <a:ea typeface="Tahoma"/>
                <a:cs typeface="Tahoma"/>
                <a:sym typeface="Tahoma"/>
              </a:rPr>
              <a:t>3 outils utiles :</a:t>
            </a:r>
            <a:endParaRPr u="sng"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Char char="●"/>
            </a:pPr>
            <a:r>
              <a:rPr b="1" lang="fr-FR" u="sng">
                <a:solidFill>
                  <a:srgbClr val="38761D"/>
                </a:solidFill>
                <a:latin typeface="Tahoma"/>
                <a:ea typeface="Tahoma"/>
                <a:cs typeface="Tahoma"/>
                <a:sym typeface="Tahoma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ak</a:t>
            </a:r>
            <a:r>
              <a:rPr lang="fr-FR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: outil intégrateur, télécharge et consolide les modules dans un repo “links” (via des symlink). Prérequis : fichier </a:t>
            </a:r>
            <a:r>
              <a:rPr b="1"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spec.yaml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Char char="●"/>
            </a:pPr>
            <a:r>
              <a:rPr b="1" lang="fr-FR" u="sng">
                <a:solidFill>
                  <a:srgbClr val="38761D"/>
                </a:solidFill>
                <a:latin typeface="Tahoma"/>
                <a:ea typeface="Tahoma"/>
                <a:cs typeface="Tahoma"/>
                <a:sym typeface="Tahoma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uv</a:t>
            </a:r>
            <a:r>
              <a:rPr lang="fr-FR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: outil standard, génère et résout les dépendances depuis </a:t>
            </a:r>
            <a:r>
              <a:rPr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__manifest__.py</a:t>
            </a:r>
            <a:r>
              <a:rPr lang="fr-FR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 S’appuie sur </a:t>
            </a:r>
            <a:r>
              <a:rPr b="1" lang="fr-FR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pip </a:t>
            </a:r>
            <a:r>
              <a:rPr lang="fr-FR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fr-FR" u="sng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  <a:hlinkClick r:id="rId11"/>
              </a:rPr>
              <a:t>https://pypi.org/</a:t>
            </a:r>
            <a:r>
              <a:rPr lang="fr-FR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r>
              <a:rPr b="1" lang="fr-FR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fr-FR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plutôt que Github</a:t>
            </a:r>
            <a:endParaRPr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Char char="●"/>
            </a:pPr>
            <a:r>
              <a:rPr b="1" lang="fr-FR" u="sng">
                <a:solidFill>
                  <a:srgbClr val="6AA84F"/>
                </a:solidFill>
                <a:latin typeface="Tahoma"/>
                <a:ea typeface="Tahoma"/>
                <a:cs typeface="Tahoma"/>
                <a:sym typeface="Tahoma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click-odoo-contrib</a:t>
            </a:r>
            <a:r>
              <a:rPr lang="fr-FR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: fourni notamment la commande </a:t>
            </a:r>
            <a:r>
              <a:rPr b="1"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click-odoo-update</a:t>
            </a:r>
            <a:r>
              <a:rPr lang="fr-FR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qui automatise la commande “</a:t>
            </a:r>
            <a:r>
              <a:rPr b="1"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odoo -u module1,module2,...</a:t>
            </a:r>
            <a:r>
              <a:rPr lang="fr-FR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”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f8a5c5757b_0_224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A vous de jouer : démarrer Odoo</a:t>
            </a:r>
            <a:endParaRPr/>
          </a:p>
        </p:txBody>
      </p:sp>
      <p:pic>
        <p:nvPicPr>
          <p:cNvPr id="428" name="Google Shape;428;g3f8a5c5757b_0_2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056" y="1188831"/>
            <a:ext cx="1120314" cy="129514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g3f8a5c5757b_0_224"/>
          <p:cNvSpPr txBox="1"/>
          <p:nvPr/>
        </p:nvSpPr>
        <p:spPr>
          <a:xfrm>
            <a:off x="1963325" y="1383882"/>
            <a:ext cx="7183800" cy="645300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Voir document des prérequis : </a:t>
            </a:r>
            <a:endParaRPr b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fr-FR" u="sng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  <a:hlinkClick r:id="rId4"/>
              </a:rPr>
              <a:t>https://github.com/arnaudlayec/odoo-training/tree/main/chapter_00_prerequisites</a:t>
            </a:r>
            <a:endParaRPr sz="1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30" name="Google Shape;430;g3f8a5c5757b_0_224"/>
          <p:cNvSpPr txBox="1"/>
          <p:nvPr/>
        </p:nvSpPr>
        <p:spPr>
          <a:xfrm>
            <a:off x="1893500" y="3014326"/>
            <a:ext cx="7253700" cy="3489900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AutoNum type="arabicPeriod"/>
            </a:pPr>
            <a:r>
              <a:rPr lang="fr-FR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Installer le module </a:t>
            </a:r>
            <a:r>
              <a:rPr b="1"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web_responsive</a:t>
            </a:r>
            <a:r>
              <a:rPr lang="fr-FR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pour améliorer l’ergonomie de navigation</a:t>
            </a:r>
            <a:br>
              <a:rPr lang="fr-FR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fr-FR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Indices :</a:t>
            </a:r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Char char="○"/>
            </a:pPr>
            <a:r>
              <a:rPr lang="fr-FR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c’est un module OCA : trouver son repository depuis la recherche Github</a:t>
            </a:r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Char char="○"/>
            </a:pPr>
            <a:r>
              <a:rPr lang="fr-FR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adapter </a:t>
            </a:r>
            <a:r>
              <a:rPr b="1"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spec.yaml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Char char="○"/>
            </a:pPr>
            <a:r>
              <a:rPr lang="fr-FR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relancer</a:t>
            </a:r>
            <a:r>
              <a:rPr lang="fr-FR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ak build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Char char="○"/>
            </a:pPr>
            <a:r>
              <a:rPr b="1" i="1" lang="fr-FR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Mettre à jour les apps</a:t>
            </a:r>
            <a:r>
              <a:rPr lang="fr-FR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dans l’interface Odoo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AutoNum type="arabicPeriod"/>
            </a:pPr>
            <a:r>
              <a:rPr lang="fr-FR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Installer depuis les sources : </a:t>
            </a:r>
            <a:r>
              <a:rPr lang="fr-FR" sz="1200" u="sng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  <a:hlinkClick r:id="rId5"/>
              </a:rPr>
              <a:t>https://github.com/arnaudlayec/odoo-training/blob/main/chapter_02_build/build_odoo_from_source_o19.sh</a:t>
            </a:r>
            <a:r>
              <a:rPr lang="fr-FR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AutoNum type="arabicPeriod"/>
            </a:pPr>
            <a:r>
              <a:rPr lang="fr-FR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Prendre connaissances de configuration possibles de </a:t>
            </a:r>
            <a:r>
              <a:rPr b="1"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odoo.conf</a:t>
            </a:r>
            <a:r>
              <a:rPr lang="fr-FR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: </a:t>
            </a:r>
            <a:r>
              <a:rPr lang="fr-FR" sz="1200" u="sng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  <a:hlinkClick r:id="rId6"/>
              </a:rPr>
              <a:t>https://github.com/arnaudlayec/odoo-training/blob/main/chapter_02_build/odoo_conf_companion.md</a:t>
            </a:r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431" name="Google Shape;431;g3f8a5c5757b_0_2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056" y="3014325"/>
            <a:ext cx="1120314" cy="129514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g3f8a5c5757b_0_224"/>
          <p:cNvSpPr txBox="1"/>
          <p:nvPr/>
        </p:nvSpPr>
        <p:spPr>
          <a:xfrm>
            <a:off x="748913" y="4240826"/>
            <a:ext cx="984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fr-FR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Bonus</a:t>
            </a:r>
            <a:endParaRPr b="1"/>
          </a:p>
        </p:txBody>
      </p:sp>
      <p:sp>
        <p:nvSpPr>
          <p:cNvPr id="433" name="Google Shape;433;g3f8a5c5757b_0_224"/>
          <p:cNvSpPr txBox="1"/>
          <p:nvPr/>
        </p:nvSpPr>
        <p:spPr>
          <a:xfrm>
            <a:off x="748913" y="2402125"/>
            <a:ext cx="984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fr-FR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Exercice</a:t>
            </a:r>
            <a:endParaRPr b="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f8a5c5757b_0_251"/>
          <p:cNvSpPr txBox="1"/>
          <p:nvPr>
            <p:ph type="title"/>
          </p:nvPr>
        </p:nvSpPr>
        <p:spPr>
          <a:xfrm>
            <a:off x="4588662" y="803277"/>
            <a:ext cx="4822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Partage / Remédiation</a:t>
            </a:r>
            <a:endParaRPr/>
          </a:p>
        </p:txBody>
      </p:sp>
      <p:sp>
        <p:nvSpPr>
          <p:cNvPr id="439" name="Google Shape;439;g3f8a5c5757b_0_251"/>
          <p:cNvSpPr txBox="1"/>
          <p:nvPr/>
        </p:nvSpPr>
        <p:spPr>
          <a:xfrm>
            <a:off x="4588662" y="1900000"/>
            <a:ext cx="48225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Qu'est-ce qui a bloqué ? Qu'est-ce qui a bien fonctionné 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Un volontaire partage son écran (2-3 min)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</a:rPr>
              <a:t>Correction : </a:t>
            </a:r>
            <a:r>
              <a:rPr b="1" lang="fr-FR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chapter_02_build/answers</a:t>
            </a:r>
            <a:endParaRPr sz="16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3"/>
          <p:cNvSpPr txBox="1"/>
          <p:nvPr>
            <p:ph type="title"/>
          </p:nvPr>
        </p:nvSpPr>
        <p:spPr>
          <a:xfrm>
            <a:off x="285750" y="2334723"/>
            <a:ext cx="4822480" cy="577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Chapitre 3 (11h30 - 12h30)</a:t>
            </a:r>
            <a:endParaRPr/>
          </a:p>
        </p:txBody>
      </p:sp>
      <p:sp>
        <p:nvSpPr>
          <p:cNvPr id="445" name="Google Shape;445;p13"/>
          <p:cNvSpPr txBox="1"/>
          <p:nvPr>
            <p:ph idx="1" type="body"/>
          </p:nvPr>
        </p:nvSpPr>
        <p:spPr>
          <a:xfrm>
            <a:off x="285750" y="3192944"/>
            <a:ext cx="4713300" cy="15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fr-FR"/>
              <a:t>Environnement de dev &amp; premiers pas dans l'UI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fr-FR"/>
              <a:t>🎯 </a:t>
            </a:r>
            <a:r>
              <a:rPr lang="fr-FR"/>
              <a:t>Construire votre 1er module sans écrire de code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90"/>
          <p:cNvSpPr txBox="1"/>
          <p:nvPr>
            <p:ph type="title"/>
          </p:nvPr>
        </p:nvSpPr>
        <p:spPr>
          <a:xfrm>
            <a:off x="681038" y="307978"/>
            <a:ext cx="8543925" cy="577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Mode développeur &amp; aspects techniques de l'UI</a:t>
            </a:r>
            <a:endParaRPr/>
          </a:p>
        </p:txBody>
      </p:sp>
      <p:sp>
        <p:nvSpPr>
          <p:cNvPr id="451" name="Google Shape;451;p90"/>
          <p:cNvSpPr txBox="1"/>
          <p:nvPr/>
        </p:nvSpPr>
        <p:spPr>
          <a:xfrm>
            <a:off x="600000" y="1372125"/>
            <a:ext cx="8706000" cy="4530600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ahoma"/>
              <a:buAutoNum type="arabicPeriod"/>
            </a:pP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Activer le mode développeur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:</a:t>
            </a:r>
            <a:b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fr-FR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Menu </a:t>
            </a:r>
            <a:r>
              <a:rPr lang="fr-FR" sz="1200">
                <a:solidFill>
                  <a:srgbClr val="188038"/>
                </a:solidFill>
                <a:latin typeface="Tahoma"/>
                <a:ea typeface="Tahoma"/>
                <a:cs typeface="Tahoma"/>
                <a:sym typeface="Tahoma"/>
              </a:rPr>
              <a:t>Paramètres Généraux</a:t>
            </a:r>
            <a:r>
              <a:rPr lang="fr-FR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ou “?debug=1”</a:t>
            </a:r>
            <a:br>
              <a:rPr lang="fr-FR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fr-FR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Une fois activé : icône « bug » en haut à droite → accès au menu technique</a:t>
            </a:r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AutoNum type="arabicPeriod"/>
            </a:pP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Naviguer dans le menu technique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:</a:t>
            </a:r>
            <a:b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fr-FR" sz="1200">
                <a:solidFill>
                  <a:srgbClr val="188038"/>
                </a:solidFill>
                <a:latin typeface="Tahoma"/>
                <a:ea typeface="Tahoma"/>
                <a:cs typeface="Tahoma"/>
                <a:sym typeface="Tahoma"/>
              </a:rPr>
              <a:t>Paramètres Généraux &gt; Technique</a:t>
            </a:r>
            <a:br>
              <a:rPr lang="fr-FR" sz="1200">
                <a:solidFill>
                  <a:srgbClr val="188038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fr-FR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Toutes les configurations et </a:t>
            </a:r>
            <a:r>
              <a:rPr lang="fr-FR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tout ce qu'un module génère dans le framework</a:t>
            </a:r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Visualiser un modèle et ses champs depuis l'UI :</a:t>
            </a:r>
            <a:b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fr-FR" sz="1200">
                <a:solidFill>
                  <a:srgbClr val="188038"/>
                </a:solidFill>
                <a:latin typeface="Tahoma"/>
                <a:ea typeface="Tahoma"/>
                <a:cs typeface="Tahoma"/>
                <a:sym typeface="Tahoma"/>
              </a:rPr>
              <a:t>Structure de la base de données &gt; Modèles</a:t>
            </a:r>
            <a:br>
              <a:rPr lang="fr-FR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fr-FR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Exemple : modèle “res.partner”. L’ensemble du framework (UI+sécurité) s’organise autour des modèles, qui sont des record de “</a:t>
            </a:r>
            <a:r>
              <a:rPr b="1" lang="fr-FR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ir.model</a:t>
            </a:r>
            <a:r>
              <a:rPr lang="fr-FR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”.</a:t>
            </a:r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ahoma"/>
              <a:buAutoNum type="arabicPeriod"/>
            </a:pP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Comprendre les 3 briques du front-end : les menus, actions et vues</a:t>
            </a:r>
            <a:b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fr-FR" sz="1200">
                <a:solidFill>
                  <a:srgbClr val="188038"/>
                </a:solidFill>
                <a:latin typeface="Tahoma"/>
                <a:ea typeface="Tahoma"/>
                <a:cs typeface="Tahoma"/>
                <a:sym typeface="Tahoma"/>
              </a:rPr>
              <a:t>Actions &gt; Actions de fenêtres</a:t>
            </a:r>
            <a:br>
              <a:rPr lang="fr-FR" sz="1200">
                <a:solidFill>
                  <a:srgbClr val="188038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fr-FR" sz="1200">
                <a:solidFill>
                  <a:srgbClr val="188038"/>
                </a:solidFill>
                <a:latin typeface="Tahoma"/>
                <a:ea typeface="Tahoma"/>
                <a:cs typeface="Tahoma"/>
                <a:sym typeface="Tahoma"/>
              </a:rPr>
              <a:t>Interface utilisateur &gt; Rubriques </a:t>
            </a:r>
            <a:r>
              <a:rPr lang="fr-FR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et</a:t>
            </a:r>
            <a:r>
              <a:rPr lang="fr-FR" sz="1200">
                <a:solidFill>
                  <a:srgbClr val="188038"/>
                </a:solidFill>
                <a:latin typeface="Tahoma"/>
                <a:ea typeface="Tahoma"/>
                <a:cs typeface="Tahoma"/>
                <a:sym typeface="Tahoma"/>
              </a:rPr>
              <a:t> Vues</a:t>
            </a:r>
            <a:br>
              <a:rPr lang="fr-FR" sz="1200">
                <a:solidFill>
                  <a:srgbClr val="188038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1" lang="fr-FR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Menus</a:t>
            </a:r>
            <a:r>
              <a:rPr lang="fr-FR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: jusqu’à 4 niveaux </a:t>
            </a:r>
            <a:r>
              <a:rPr b="1" lang="fr-FR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application → menu → sous-menu → item</a:t>
            </a:r>
            <a:br>
              <a:rPr lang="fr-FR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fr-FR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Exemple : </a:t>
            </a:r>
            <a:r>
              <a:rPr i="1" lang="fr-FR" sz="1200">
                <a:solidFill>
                  <a:srgbClr val="188038"/>
                </a:solidFill>
                <a:latin typeface="Tahoma"/>
                <a:ea typeface="Tahoma"/>
                <a:cs typeface="Tahoma"/>
                <a:sym typeface="Tahoma"/>
              </a:rPr>
              <a:t>Facturation / Configuration / §Comptabilité / Taxes</a:t>
            </a:r>
            <a:r>
              <a:rPr lang="fr-FR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br>
              <a:rPr lang="fr-FR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1" lang="fr-FR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Actions</a:t>
            </a:r>
            <a:r>
              <a:rPr lang="fr-FR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: intermédiaires (switches) entre les entrées de menus et les vues.</a:t>
            </a:r>
            <a:br>
              <a:rPr lang="fr-FR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1" lang="fr-FR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Vues</a:t>
            </a:r>
            <a:r>
              <a:rPr lang="fr-FR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: list, form, search, kanban, pivot, graph (calendar, hierarchy, activity)</a:t>
            </a:r>
            <a:endParaRPr sz="1200">
              <a:solidFill>
                <a:srgbClr val="188038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ahoma"/>
              <a:buAutoNum type="arabicPeriod"/>
            </a:pP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Sécurité minimale : groupe et droit d'accès (ACL)</a:t>
            </a:r>
            <a:b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fr-FR" sz="1200">
                <a:solidFill>
                  <a:srgbClr val="188038"/>
                </a:solidFill>
                <a:latin typeface="Tahoma"/>
                <a:ea typeface="Tahoma"/>
                <a:cs typeface="Tahoma"/>
                <a:sym typeface="Tahoma"/>
              </a:rPr>
              <a:t>Sécurité &gt; Groupes</a:t>
            </a:r>
            <a:br>
              <a:rPr lang="fr-FR" sz="1200">
                <a:solidFill>
                  <a:srgbClr val="188038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fr-FR" sz="1200">
                <a:solidFill>
                  <a:srgbClr val="188038"/>
                </a:solidFill>
                <a:latin typeface="Tahoma"/>
                <a:ea typeface="Tahoma"/>
                <a:cs typeface="Tahoma"/>
                <a:sym typeface="Tahoma"/>
              </a:rPr>
              <a:t>Structure de la base de données &gt; Contrôle d'accès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f83fd878ef_0_262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fr-FR"/>
              <a:t>A vous de jouer </a:t>
            </a:r>
            <a:r>
              <a:rPr lang="fr-FR"/>
              <a:t>:</a:t>
            </a:r>
            <a:r>
              <a:rPr lang="fr-FR"/>
              <a:t> </a:t>
            </a:r>
            <a:r>
              <a:rPr lang="fr-FR"/>
              <a:t>u</a:t>
            </a:r>
            <a:r>
              <a:rPr lang="fr-FR"/>
              <a:t>ne application depuis l’UI technique de Odoo</a:t>
            </a:r>
            <a:endParaRPr/>
          </a:p>
        </p:txBody>
      </p:sp>
      <p:pic>
        <p:nvPicPr>
          <p:cNvPr id="457" name="Google Shape;457;g3f83fd878ef_0_2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056" y="885774"/>
            <a:ext cx="1120314" cy="129514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g3f83fd878ef_0_262"/>
          <p:cNvSpPr txBox="1"/>
          <p:nvPr/>
        </p:nvSpPr>
        <p:spPr>
          <a:xfrm>
            <a:off x="1963325" y="885775"/>
            <a:ext cx="7183800" cy="4052100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ahoma"/>
              <a:buAutoNum type="arabicPeriod"/>
            </a:pPr>
            <a:r>
              <a:rPr lang="fr-FR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Créer le modèle personnalisé "</a:t>
            </a:r>
            <a:r>
              <a:rPr b="1" lang="fr-FR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x_todo_task</a:t>
            </a:r>
            <a:r>
              <a:rPr lang="fr-FR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" depuis l'UI Odoo.</a:t>
            </a:r>
            <a:br>
              <a:rPr lang="fr-FR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fr-FR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Observer les champs créé par défaut, l'absence de </a:t>
            </a:r>
            <a:r>
              <a:rPr b="1" i="1" lang="fr-FR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Droits d'accès</a:t>
            </a:r>
            <a:r>
              <a:rPr lang="fr-FR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et de </a:t>
            </a:r>
            <a:r>
              <a:rPr b="1" i="1" lang="fr-FR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Vues</a:t>
            </a:r>
            <a:r>
              <a:rPr lang="fr-FR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br>
              <a:rPr lang="fr-FR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ahoma"/>
              <a:buAutoNum type="arabicPeriod"/>
            </a:pPr>
            <a:r>
              <a:rPr lang="fr-FR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Créer 2 entrées de menu </a:t>
            </a:r>
            <a:r>
              <a:rPr lang="fr-FR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sz="1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ahoma"/>
              <a:buChar char="○"/>
            </a:pPr>
            <a:r>
              <a:rPr lang="fr-FR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une principale "</a:t>
            </a:r>
            <a:r>
              <a:rPr b="1" lang="fr-FR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Todo App</a:t>
            </a:r>
            <a:r>
              <a:rPr lang="fr-FR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"</a:t>
            </a:r>
            <a:endParaRPr sz="1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ahoma"/>
              <a:buChar char="○"/>
            </a:pPr>
            <a:r>
              <a:rPr lang="fr-FR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une secondaire "</a:t>
            </a:r>
            <a:r>
              <a:rPr b="1" lang="fr-FR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Tâche</a:t>
            </a:r>
            <a:r>
              <a:rPr lang="fr-FR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", enfant de la première</a:t>
            </a:r>
            <a:endParaRPr sz="1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ahoma"/>
              <a:buAutoNum type="arabicPeriod" startAt="3"/>
            </a:pPr>
            <a:r>
              <a:rPr lang="fr-FR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Depuis ce 2nd menu, créer une action :</a:t>
            </a:r>
            <a:endParaRPr sz="1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fr-FR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 type </a:t>
            </a:r>
            <a:r>
              <a:rPr b="1" lang="fr-FR" sz="1300">
                <a:solidFill>
                  <a:srgbClr val="188038"/>
                </a:solidFill>
                <a:latin typeface="Tahoma"/>
                <a:ea typeface="Tahoma"/>
                <a:cs typeface="Tahoma"/>
                <a:sym typeface="Tahoma"/>
              </a:rPr>
              <a:t>ir.actions.act_window</a:t>
            </a:r>
            <a:endParaRPr b="1" sz="1300">
              <a:solidFill>
                <a:srgbClr val="188038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fr-FR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nommée </a:t>
            </a:r>
            <a:r>
              <a:rPr b="1" lang="fr-FR" sz="1300">
                <a:solidFill>
                  <a:srgbClr val="188038"/>
                </a:solidFill>
                <a:latin typeface="Tahoma"/>
                <a:ea typeface="Tahoma"/>
                <a:cs typeface="Tahoma"/>
                <a:sym typeface="Tahoma"/>
              </a:rPr>
              <a:t>x_open_todo_task</a:t>
            </a:r>
            <a:endParaRPr b="1" sz="1300">
              <a:solidFill>
                <a:srgbClr val="188038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fr-FR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sur le modèle </a:t>
            </a:r>
            <a:r>
              <a:rPr b="1" lang="fr-FR" sz="1300">
                <a:solidFill>
                  <a:srgbClr val="188038"/>
                </a:solidFill>
                <a:latin typeface="Tahoma"/>
                <a:ea typeface="Tahoma"/>
                <a:cs typeface="Tahoma"/>
                <a:sym typeface="Tahoma"/>
              </a:rPr>
              <a:t>x_todo_task</a:t>
            </a:r>
            <a:r>
              <a:rPr lang="fr-FR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N'oubliez pas de sauvegarder</a:t>
            </a:r>
            <a:endParaRPr sz="1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fr-FR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Rafraîchir votre page pour que le navigateur charger les changements d’UI.</a:t>
            </a:r>
            <a:endParaRPr sz="1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-FR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On essaie d’ouvrir notre menu ? Mince… où est-il ? Il faut une règle de sécurité !</a:t>
            </a:r>
            <a:endParaRPr sz="1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ahoma"/>
              <a:buAutoNum type="arabicPeriod" startAt="3"/>
            </a:pPr>
            <a:r>
              <a:rPr lang="fr-FR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Retourner dans le modèle </a:t>
            </a:r>
            <a:r>
              <a:rPr b="1" lang="fr-FR" sz="1300">
                <a:solidFill>
                  <a:srgbClr val="188038"/>
                </a:solidFill>
                <a:latin typeface="Tahoma"/>
                <a:ea typeface="Tahoma"/>
                <a:cs typeface="Tahoma"/>
                <a:sym typeface="Tahoma"/>
              </a:rPr>
              <a:t>x_todo_task</a:t>
            </a:r>
            <a:r>
              <a:rPr lang="fr-FR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et rajouter 1 ligne dans les </a:t>
            </a:r>
            <a:r>
              <a:rPr b="1" i="1" lang="fr-FR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Droits d'accès</a:t>
            </a:r>
            <a:r>
              <a:rPr lang="fr-FR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:</a:t>
            </a:r>
            <a:endParaRPr sz="1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ahoma"/>
              <a:buChar char="○"/>
            </a:pPr>
            <a:r>
              <a:rPr lang="fr-FR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Nom: </a:t>
            </a:r>
            <a:r>
              <a:rPr b="1" lang="fr-FR" sz="1300">
                <a:solidFill>
                  <a:srgbClr val="188038"/>
                </a:solidFill>
                <a:latin typeface="Tahoma"/>
                <a:ea typeface="Tahoma"/>
                <a:cs typeface="Tahoma"/>
                <a:sym typeface="Tahoma"/>
              </a:rPr>
              <a:t>x_todo_task.manager</a:t>
            </a:r>
            <a:endParaRPr b="1" sz="1300">
              <a:solidFill>
                <a:srgbClr val="188038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ahoma"/>
              <a:buChar char="○"/>
            </a:pPr>
            <a:r>
              <a:rPr lang="fr-FR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Groupe : </a:t>
            </a:r>
            <a:r>
              <a:rPr i="1" lang="fr-FR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Rôle / Utilisateur</a:t>
            </a:r>
            <a:r>
              <a:rPr lang="fr-FR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(tous les utilisateurs du backend Odoo)</a:t>
            </a:r>
            <a:endParaRPr sz="1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ahoma"/>
              <a:buChar char="○"/>
            </a:pPr>
            <a:r>
              <a:rPr lang="fr-FR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Accès : cocher les 4 cases de “CRUD”</a:t>
            </a:r>
            <a:endParaRPr sz="1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459" name="Google Shape;459;g3f83fd878ef_0_2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056" y="5019624"/>
            <a:ext cx="1120314" cy="1295140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g3f83fd878ef_0_262"/>
          <p:cNvSpPr txBox="1"/>
          <p:nvPr/>
        </p:nvSpPr>
        <p:spPr>
          <a:xfrm>
            <a:off x="1893500" y="5019625"/>
            <a:ext cx="7253700" cy="1856400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AutoNum type="arabicPeriod"/>
            </a:pPr>
            <a:r>
              <a:rPr lang="fr-FR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Trouver </a:t>
            </a:r>
            <a:r>
              <a:rPr b="1" i="1" lang="fr-FR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l'architecture calculée</a:t>
            </a:r>
            <a:r>
              <a:rPr lang="fr-FR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de la vue list affichée, via le menu “</a:t>
            </a:r>
            <a:r>
              <a:rPr b="1" lang="fr-FR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Débug</a:t>
            </a:r>
            <a:r>
              <a:rPr lang="fr-FR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”</a:t>
            </a:r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fr-FR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Depuis les </a:t>
            </a:r>
            <a:r>
              <a:rPr lang="fr-FR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paramètres</a:t>
            </a:r>
            <a:r>
              <a:rPr lang="fr-FR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: créer vous-même une vue </a:t>
            </a:r>
            <a:r>
              <a:rPr b="1" lang="fr-FR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list</a:t>
            </a:r>
            <a:r>
              <a:rPr lang="fr-FR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au modèle. Inspirez vous du point 1 et rajouter les champs </a:t>
            </a:r>
            <a:r>
              <a:rPr b="1" lang="fr-FR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dates de création</a:t>
            </a:r>
            <a:r>
              <a:rPr lang="fr-FR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et </a:t>
            </a:r>
            <a:r>
              <a:rPr b="1" lang="fr-FR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dernière modification</a:t>
            </a:r>
            <a:r>
              <a:rPr lang="fr-FR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dans la vue liste ;</a:t>
            </a:r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AutoNum type="arabicPeriod"/>
            </a:pPr>
            <a:r>
              <a:rPr lang="fr-FR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Naviguer vers la vue liste et visualiser le changement (n'oubliez pas de rafraîchir) ;</a:t>
            </a:r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AutoNum type="arabicPeriod"/>
            </a:pPr>
            <a:r>
              <a:rPr lang="fr-FR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Revenir au modèle, rajouter des champs custom, et les rajouter dans une vue formulaire que vous créerez :</a:t>
            </a:r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lphaLcPeriod"/>
            </a:pPr>
            <a:r>
              <a:rPr b="1" lang="fr-FR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x_is_done</a:t>
            </a:r>
            <a:r>
              <a:rPr lang="fr-FR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(Case à cocher) : tâche terminée ou non ;</a:t>
            </a:r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lphaLcPeriod"/>
            </a:pPr>
            <a:r>
              <a:rPr b="1" lang="fr-FR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x_deadline</a:t>
            </a:r>
            <a:r>
              <a:rPr lang="fr-FR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(Date) : échéance.</a:t>
            </a:r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61" name="Google Shape;461;g3f83fd878ef_0_262"/>
          <p:cNvSpPr txBox="1"/>
          <p:nvPr/>
        </p:nvSpPr>
        <p:spPr>
          <a:xfrm>
            <a:off x="748913" y="6246125"/>
            <a:ext cx="984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fr-FR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Bonus</a:t>
            </a:r>
            <a:endParaRPr b="1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f8a5c5757b_0_52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Limites d'un modèle créé depuis l'UI</a:t>
            </a:r>
            <a:endParaRPr/>
          </a:p>
        </p:txBody>
      </p:sp>
      <p:sp>
        <p:nvSpPr>
          <p:cNvPr id="467" name="Google Shape;467;g3f8a5c5757b_0_52"/>
          <p:cNvSpPr txBox="1"/>
          <p:nvPr/>
        </p:nvSpPr>
        <p:spPr>
          <a:xfrm>
            <a:off x="681051" y="1473525"/>
            <a:ext cx="58956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Pas de méthode Python custom (pas de logique métier)</a:t>
            </a:r>
            <a:endParaRPr sz="15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Pas de contrainte complexe (</a:t>
            </a:r>
            <a:r>
              <a:rPr b="1" i="0" lang="fr-FR" sz="1600" u="none" cap="none" strike="noStrike">
                <a:solidFill>
                  <a:srgbClr val="000000"/>
                </a:solidFill>
              </a:rPr>
              <a:t>@api.constrains</a:t>
            </a: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5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Pas de test automatisé</a:t>
            </a:r>
            <a:endParaRPr sz="15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Pas de versioning Git</a:t>
            </a:r>
            <a:endParaRPr sz="15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Pas de script de migration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 Pratique pour prototyper vite</a:t>
            </a:r>
            <a:r>
              <a:rPr lang="fr-FR" sz="1600"/>
              <a:t>, mais le code est indispensable</a:t>
            </a:r>
            <a:br>
              <a:rPr lang="fr-FR" sz="1600"/>
            </a:br>
            <a:r>
              <a:rPr lang="fr-FR" sz="1600"/>
              <a:t>→ Techniquement possible mais mauvaise pratique sur Odoo Online</a:t>
            </a:r>
            <a:endParaRPr sz="15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7"/>
          <p:cNvSpPr txBox="1"/>
          <p:nvPr>
            <p:ph type="title"/>
          </p:nvPr>
        </p:nvSpPr>
        <p:spPr>
          <a:xfrm>
            <a:off x="4588662" y="803277"/>
            <a:ext cx="4822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Partage / Remédiation</a:t>
            </a:r>
            <a:endParaRPr/>
          </a:p>
        </p:txBody>
      </p:sp>
      <p:sp>
        <p:nvSpPr>
          <p:cNvPr id="473" name="Google Shape;473;p17"/>
          <p:cNvSpPr txBox="1"/>
          <p:nvPr/>
        </p:nvSpPr>
        <p:spPr>
          <a:xfrm>
            <a:off x="4588662" y="1900000"/>
            <a:ext cx="48225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Qu'est-ce qui a bloqué ? Qu'est-ce qui a bien fonctionné 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Un volontaire partage son écran (2-3 min)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fr-FR" sz="1600"/>
              <a:t>Correction : </a:t>
            </a:r>
            <a:r>
              <a:rPr b="1" lang="fr-FR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chapter_03_todo_app/answers</a:t>
            </a:r>
            <a:endParaRPr sz="16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18"/>
          <p:cNvSpPr txBox="1"/>
          <p:nvPr>
            <p:ph idx="1" type="body"/>
          </p:nvPr>
        </p:nvSpPr>
        <p:spPr>
          <a:xfrm>
            <a:off x="209040" y="809625"/>
            <a:ext cx="4277235" cy="1733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fr-FR"/>
              <a:t>EMARGEMENT </a:t>
            </a:r>
            <a:r>
              <a:rPr lang="fr-FR"/>
              <a:t>MATINÉE</a:t>
            </a:r>
            <a:r>
              <a:rPr lang="fr-FR"/>
              <a:t> JOUR 1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9"/>
          <p:cNvSpPr txBox="1"/>
          <p:nvPr>
            <p:ph type="title"/>
          </p:nvPr>
        </p:nvSpPr>
        <p:spPr>
          <a:xfrm>
            <a:off x="201776" y="2250580"/>
            <a:ext cx="3504464" cy="650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Déjeuner – 1 heure</a:t>
            </a:r>
            <a:endParaRPr/>
          </a:p>
        </p:txBody>
      </p:sp>
      <p:sp>
        <p:nvSpPr>
          <p:cNvPr id="484" name="Google Shape;484;p19"/>
          <p:cNvSpPr txBox="1"/>
          <p:nvPr>
            <p:ph type="title"/>
          </p:nvPr>
        </p:nvSpPr>
        <p:spPr>
          <a:xfrm>
            <a:off x="201776" y="3103955"/>
            <a:ext cx="3504600" cy="6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lang="fr-FR"/>
              <a:t>12h30 - 13h30</a:t>
            </a:r>
            <a:endParaRPr b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20"/>
          <p:cNvSpPr txBox="1"/>
          <p:nvPr>
            <p:ph idx="1" type="body"/>
          </p:nvPr>
        </p:nvSpPr>
        <p:spPr>
          <a:xfrm>
            <a:off x="285750" y="3192945"/>
            <a:ext cx="4713300" cy="14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fr-FR"/>
              <a:t>A</a:t>
            </a:r>
            <a:r>
              <a:rPr lang="fr-FR"/>
              <a:t>natomie d'un module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fr-FR"/>
              <a:t>🎯 Ajouter le module </a:t>
            </a:r>
            <a:r>
              <a:rPr b="1" lang="fr-FR">
                <a:latin typeface="Courier New"/>
                <a:ea typeface="Courier New"/>
                <a:cs typeface="Courier New"/>
                <a:sym typeface="Courier New"/>
              </a:rPr>
              <a:t>library</a:t>
            </a:r>
            <a:r>
              <a:rPr lang="fr-FR"/>
              <a:t> dans le menu </a:t>
            </a:r>
            <a:r>
              <a:rPr b="1" lang="fr-FR"/>
              <a:t>Apps</a:t>
            </a:r>
            <a:r>
              <a:rPr lang="fr-FR"/>
              <a:t>, avec son propre logo</a:t>
            </a:r>
            <a:endParaRPr/>
          </a:p>
        </p:txBody>
      </p:sp>
      <p:sp>
        <p:nvSpPr>
          <p:cNvPr id="490" name="Google Shape;490;p20"/>
          <p:cNvSpPr txBox="1"/>
          <p:nvPr>
            <p:ph type="title"/>
          </p:nvPr>
        </p:nvSpPr>
        <p:spPr>
          <a:xfrm>
            <a:off x="285750" y="2334723"/>
            <a:ext cx="4822480" cy="577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Chapitre 4 (13h30 - 14h15)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f83fd878ef_0_294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Structure minimale d’un module Odoo</a:t>
            </a:r>
            <a:endParaRPr/>
          </a:p>
        </p:txBody>
      </p:sp>
      <p:sp>
        <p:nvSpPr>
          <p:cNvPr id="496" name="Google Shape;496;g3f83fd878ef_0_294"/>
          <p:cNvSpPr txBox="1"/>
          <p:nvPr/>
        </p:nvSpPr>
        <p:spPr>
          <a:xfrm>
            <a:off x="425575" y="1495950"/>
            <a:ext cx="9146400" cy="3586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00">
                <a:latin typeface="Courier New"/>
                <a:ea typeface="Courier New"/>
                <a:cs typeface="Courier New"/>
                <a:sym typeface="Courier New"/>
              </a:rPr>
              <a:t>library/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00">
                <a:latin typeface="Courier New"/>
                <a:ea typeface="Courier New"/>
                <a:cs typeface="Courier New"/>
                <a:sym typeface="Courier New"/>
              </a:rPr>
              <a:t>├── __init__.py              </a:t>
            </a:r>
            <a:r>
              <a:rPr lang="fr-FR" sz="130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# importe le sous-package models : 'from . import models'</a:t>
            </a:r>
            <a:endParaRPr sz="1300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00">
                <a:latin typeface="Courier New"/>
                <a:ea typeface="Courier New"/>
                <a:cs typeface="Courier New"/>
                <a:sym typeface="Courier New"/>
              </a:rPr>
              <a:t>├── __manifest__.py          </a:t>
            </a:r>
            <a:r>
              <a:rPr lang="fr-FR" sz="130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# la carte d'identité du module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00">
                <a:latin typeface="Courier New"/>
                <a:ea typeface="Courier New"/>
                <a:cs typeface="Courier New"/>
                <a:sym typeface="Courier New"/>
              </a:rPr>
              <a:t>├── models/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00">
                <a:latin typeface="Courier New"/>
                <a:ea typeface="Courier New"/>
                <a:cs typeface="Courier New"/>
                <a:sym typeface="Courier New"/>
              </a:rPr>
              <a:t>│   ├── __init__.py          </a:t>
            </a:r>
            <a:r>
              <a:rPr lang="fr-FR" sz="130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# importe chaque fichier de modèle : 'from . import </a:t>
            </a:r>
            <a:r>
              <a:rPr lang="fr-FR" sz="1300">
                <a:latin typeface="Courier New"/>
                <a:ea typeface="Courier New"/>
                <a:cs typeface="Courier New"/>
                <a:sym typeface="Courier New"/>
              </a:rPr>
              <a:t>library_hook.py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00">
                <a:latin typeface="Courier New"/>
                <a:ea typeface="Courier New"/>
                <a:cs typeface="Courier New"/>
                <a:sym typeface="Courier New"/>
              </a:rPr>
              <a:t>│   └── library_book.py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00">
                <a:latin typeface="Courier New"/>
                <a:ea typeface="Courier New"/>
                <a:cs typeface="Courier New"/>
                <a:sym typeface="Courier New"/>
              </a:rPr>
              <a:t>├── views/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00">
                <a:latin typeface="Courier New"/>
                <a:ea typeface="Courier New"/>
                <a:cs typeface="Courier New"/>
                <a:sym typeface="Courier New"/>
              </a:rPr>
              <a:t>│   └── library_book_views.xml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00">
                <a:latin typeface="Courier New"/>
                <a:ea typeface="Courier New"/>
                <a:cs typeface="Courier New"/>
                <a:sym typeface="Courier New"/>
              </a:rPr>
              <a:t>├── security/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00">
                <a:latin typeface="Courier New"/>
                <a:ea typeface="Courier New"/>
                <a:cs typeface="Courier New"/>
                <a:sym typeface="Courier New"/>
              </a:rPr>
              <a:t>│   └── ir.model.access.csv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00">
                <a:latin typeface="Courier New"/>
                <a:ea typeface="Courier New"/>
                <a:cs typeface="Courier New"/>
                <a:sym typeface="Courier New"/>
              </a:rPr>
              <a:t>├── data/                    </a:t>
            </a:r>
            <a:r>
              <a:rPr lang="fr-FR" sz="130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# données de référence, chargées en PROD</a:t>
            </a:r>
            <a:endParaRPr sz="1300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00">
                <a:latin typeface="Courier New"/>
                <a:ea typeface="Courier New"/>
                <a:cs typeface="Courier New"/>
                <a:sym typeface="Courier New"/>
              </a:rPr>
              <a:t>├── demo/                    </a:t>
            </a:r>
            <a:r>
              <a:rPr lang="fr-FR" sz="130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# données de démo, chargées seulement si ‘with_demo’</a:t>
            </a:r>
            <a:endParaRPr sz="1300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00">
                <a:latin typeface="Courier New"/>
                <a:ea typeface="Courier New"/>
                <a:cs typeface="Courier New"/>
                <a:sym typeface="Courier New"/>
              </a:rPr>
              <a:t>├── static/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00">
                <a:latin typeface="Courier New"/>
                <a:ea typeface="Courier New"/>
                <a:cs typeface="Courier New"/>
                <a:sym typeface="Courier New"/>
              </a:rPr>
              <a:t>│   └── description/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00">
                <a:latin typeface="Courier New"/>
                <a:ea typeface="Courier New"/>
                <a:cs typeface="Courier New"/>
                <a:sym typeface="Courier New"/>
              </a:rPr>
              <a:t>│       └── icon.png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00">
                <a:latin typeface="Courier New"/>
                <a:ea typeface="Courier New"/>
                <a:cs typeface="Courier New"/>
                <a:sym typeface="Courier New"/>
              </a:rPr>
              <a:t>└── README.md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97" name="Google Shape;497;g3f83fd878ef_0_294"/>
          <p:cNvSpPr txBox="1"/>
          <p:nvPr/>
        </p:nvSpPr>
        <p:spPr>
          <a:xfrm>
            <a:off x="425575" y="5445111"/>
            <a:ext cx="6806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Références 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/>
              <a:t>Commande “</a:t>
            </a:r>
            <a:r>
              <a:rPr b="1" lang="fr-FR"/>
              <a:t>odoo-bin scaffold</a:t>
            </a:r>
            <a:r>
              <a:rPr lang="fr-FR"/>
              <a:t>” (natif, ancien)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/>
              <a:t>Ou : </a:t>
            </a:r>
            <a:r>
              <a:rPr lang="fr-FR" u="sng">
                <a:solidFill>
                  <a:schemeClr val="hlink"/>
                </a:solidFill>
                <a:hlinkClick r:id="rId3"/>
              </a:rPr>
              <a:t>github.com/OCA/maintainer-tools/tree/master/template</a:t>
            </a:r>
            <a:r>
              <a:rPr lang="fr-FR"/>
              <a:t> (plus complet)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f83fd878ef_0_300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Fichier ‘__manifest__.py’</a:t>
            </a:r>
            <a:endParaRPr/>
          </a:p>
        </p:txBody>
      </p:sp>
      <p:sp>
        <p:nvSpPr>
          <p:cNvPr id="503" name="Google Shape;503;g3f83fd878ef_0_300"/>
          <p:cNvSpPr txBox="1"/>
          <p:nvPr/>
        </p:nvSpPr>
        <p:spPr>
          <a:xfrm>
            <a:off x="425575" y="1174625"/>
            <a:ext cx="9146400" cy="3675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"</a:t>
            </a:r>
            <a:r>
              <a:rPr b="1" lang="fr-FR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fr-FR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": "Bibliothèque",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"</a:t>
            </a:r>
            <a:r>
              <a:rPr b="1" lang="fr-FR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version</a:t>
            </a:r>
            <a:r>
              <a:rPr lang="fr-FR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": "19.0.1.0.0", </a:t>
            </a:r>
            <a:r>
              <a:rPr lang="fr-FR" sz="105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# 19.0.x.y.z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"</a:t>
            </a:r>
            <a:r>
              <a:rPr b="1" lang="fr-FR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category</a:t>
            </a:r>
            <a:r>
              <a:rPr lang="fr-FR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": "Bibliothèque",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"</a:t>
            </a:r>
            <a:r>
              <a:rPr b="1" lang="fr-FR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summary</a:t>
            </a:r>
            <a:r>
              <a:rPr lang="fr-FR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": "Gérer une bibliothèque de livres et ses emprunts",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"</a:t>
            </a:r>
            <a:r>
              <a:rPr b="1" lang="fr-FR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author</a:t>
            </a:r>
            <a:r>
              <a:rPr lang="fr-FR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": "Your Name, Another Co-Author",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"</a:t>
            </a:r>
            <a:r>
              <a:rPr b="1" lang="fr-FR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website</a:t>
            </a:r>
            <a:r>
              <a:rPr lang="fr-FR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": "https://github.com/your-repo/odoo-library",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"</a:t>
            </a:r>
            <a:r>
              <a:rPr b="1" lang="fr-FR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license</a:t>
            </a:r>
            <a:r>
              <a:rPr lang="fr-FR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": "LGPL-3",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"</a:t>
            </a:r>
            <a:r>
              <a:rPr b="1" lang="fr-FR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depends</a:t>
            </a:r>
            <a:r>
              <a:rPr lang="fr-FR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": ["base", "mail"], </a:t>
            </a:r>
            <a:r>
              <a:rPr lang="fr-FR" sz="105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# Liste des modules en dépendances</a:t>
            </a:r>
            <a:endParaRPr sz="1050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"</a:t>
            </a:r>
            <a:r>
              <a:rPr b="1" lang="fr-FR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fr-FR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": [</a:t>
            </a:r>
            <a:endParaRPr sz="1050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"security/ir.model.access.csv",</a:t>
            </a:r>
            <a:r>
              <a:rPr lang="fr-FR" sz="105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 # Si *.csv : le nom du fichier est interprété et doit être le nom du modèle</a:t>
            </a:r>
            <a:endParaRPr sz="1050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"views/library_book_views.xml",</a:t>
            </a:r>
            <a:r>
              <a:rPr lang="fr-FR" sz="105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 # Si *.xml : Odoo interprète le contenu (balises du framework)</a:t>
            </a:r>
            <a:endParaRPr sz="1050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],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"</a:t>
            </a:r>
            <a:r>
              <a:rPr b="1" lang="fr-FR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installable</a:t>
            </a:r>
            <a:r>
              <a:rPr lang="fr-FR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": True,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04" name="Google Shape;504;g3f83fd878ef_0_300"/>
          <p:cNvSpPr txBox="1"/>
          <p:nvPr/>
        </p:nvSpPr>
        <p:spPr>
          <a:xfrm>
            <a:off x="425575" y="4969050"/>
            <a:ext cx="91464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latin typeface="Tahoma"/>
                <a:ea typeface="Tahoma"/>
                <a:cs typeface="Tahoma"/>
                <a:sym typeface="Tahoma"/>
              </a:rPr>
              <a:t>Convention</a:t>
            </a:r>
            <a:r>
              <a:rPr lang="fr-FR">
                <a:latin typeface="Tahoma"/>
                <a:ea typeface="Tahoma"/>
                <a:cs typeface="Tahoma"/>
                <a:sym typeface="Tahoma"/>
              </a:rPr>
              <a:t> pour le paramètre </a:t>
            </a:r>
            <a:r>
              <a:rPr b="1" lang="fr-FR">
                <a:latin typeface="Courier New"/>
                <a:ea typeface="Courier New"/>
                <a:cs typeface="Courier New"/>
                <a:sym typeface="Courier New"/>
              </a:rPr>
              <a:t>version</a:t>
            </a:r>
            <a:r>
              <a:rPr lang="fr-FR">
                <a:latin typeface="Tahoma"/>
                <a:ea typeface="Tahoma"/>
                <a:cs typeface="Tahoma"/>
                <a:sym typeface="Tahoma"/>
              </a:rPr>
              <a:t> :</a:t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latin typeface="Tahoma"/>
                <a:ea typeface="Tahoma"/>
                <a:cs typeface="Tahoma"/>
                <a:sym typeface="Tahoma"/>
              </a:rPr>
              <a:t>- </a:t>
            </a:r>
            <a:r>
              <a:rPr lang="fr-FR">
                <a:latin typeface="Courier New"/>
                <a:ea typeface="Courier New"/>
                <a:cs typeface="Courier New"/>
                <a:sym typeface="Courier New"/>
              </a:rPr>
              <a:t>19</a:t>
            </a:r>
            <a:r>
              <a:rPr lang="fr-FR">
                <a:latin typeface="Tahoma"/>
                <a:ea typeface="Tahoma"/>
                <a:cs typeface="Tahoma"/>
                <a:sym typeface="Tahoma"/>
              </a:rPr>
              <a:t> : version odoo</a:t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latin typeface="Tahoma"/>
                <a:ea typeface="Tahoma"/>
                <a:cs typeface="Tahoma"/>
                <a:sym typeface="Tahoma"/>
              </a:rPr>
              <a:t>- </a:t>
            </a:r>
            <a:r>
              <a:rPr lang="fr-FR"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fr-FR">
                <a:latin typeface="Tahoma"/>
                <a:ea typeface="Tahoma"/>
                <a:cs typeface="Tahoma"/>
                <a:sym typeface="Tahoma"/>
              </a:rPr>
              <a:t> : version mineure odoo (0, 1, 2, 3 voire 4)</a:t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latin typeface="Tahoma"/>
                <a:ea typeface="Tahoma"/>
                <a:cs typeface="Tahoma"/>
                <a:sym typeface="Tahoma"/>
              </a:rPr>
              <a:t>- </a:t>
            </a:r>
            <a:r>
              <a:rPr lang="fr-FR"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fr-FR">
                <a:latin typeface="Tahoma"/>
                <a:ea typeface="Tahoma"/>
                <a:cs typeface="Tahoma"/>
                <a:sym typeface="Tahoma"/>
              </a:rPr>
              <a:t> : version majeure du module (par défaut : 1)</a:t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latin typeface="Tahoma"/>
                <a:ea typeface="Tahoma"/>
                <a:cs typeface="Tahoma"/>
                <a:sym typeface="Tahoma"/>
              </a:rPr>
              <a:t>- </a:t>
            </a:r>
            <a:r>
              <a:rPr lang="fr-FR"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lang="fr-FR">
                <a:latin typeface="Tahoma"/>
                <a:ea typeface="Tahoma"/>
                <a:cs typeface="Tahoma"/>
                <a:sym typeface="Tahoma"/>
              </a:rPr>
              <a:t> : version mineure du module (par défaut : 0)</a:t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latin typeface="Tahoma"/>
                <a:ea typeface="Tahoma"/>
                <a:cs typeface="Tahoma"/>
                <a:sym typeface="Tahoma"/>
              </a:rPr>
              <a:t>- </a:t>
            </a:r>
            <a:r>
              <a:rPr lang="fr-FR">
                <a:latin typeface="Courier New"/>
                <a:ea typeface="Courier New"/>
                <a:cs typeface="Courier New"/>
                <a:sym typeface="Courier New"/>
              </a:rPr>
              <a:t>z</a:t>
            </a:r>
            <a:r>
              <a:rPr lang="fr-FR">
                <a:latin typeface="Tahoma"/>
                <a:ea typeface="Tahoma"/>
                <a:cs typeface="Tahoma"/>
                <a:sym typeface="Tahoma"/>
              </a:rPr>
              <a:t> : patch (par défaut : 0)</a:t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f83fd878ef_0_315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A vous de jouer ! Construire le squelette du module</a:t>
            </a:r>
            <a:endParaRPr/>
          </a:p>
        </p:txBody>
      </p:sp>
      <p:pic>
        <p:nvPicPr>
          <p:cNvPr id="510" name="Google Shape;510;g3f83fd878ef_0_3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056" y="1172566"/>
            <a:ext cx="1120314" cy="1295140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g3f83fd878ef_0_315"/>
          <p:cNvSpPr txBox="1"/>
          <p:nvPr/>
        </p:nvSpPr>
        <p:spPr>
          <a:xfrm>
            <a:off x="1963325" y="1172585"/>
            <a:ext cx="7183800" cy="5037000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Créer manuellement le module </a:t>
            </a: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library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(manifest et sous-dossiers) à partir du template OCA</a:t>
            </a:r>
            <a:endParaRPr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ahoma"/>
              <a:buAutoNum type="arabicPeriod"/>
            </a:pP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Installer le module dans la base de démo</a:t>
            </a:r>
            <a:endParaRPr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ahoma"/>
              <a:buAutoNum type="arabicPeriod"/>
            </a:pP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Vérifier que le module est bien listé quand vous activez le filtre "Installés"</a:t>
            </a:r>
            <a:endParaRPr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Indices</a:t>
            </a:r>
            <a:endParaRPr b="1"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Le dossier </a:t>
            </a: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library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doit être placé dans le dossier </a:t>
            </a: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local-src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du projet Docky</a:t>
            </a:r>
            <a:endParaRPr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Pour installer un module : </a:t>
            </a: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odoo -i library</a:t>
            </a:r>
            <a:endParaRPr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Pour mettre à jour : </a:t>
            </a: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odoo -u library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ou bien </a:t>
            </a: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click-odoo-update</a:t>
            </a:r>
            <a:endParaRPr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Bonus 1 — icône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: ajouter une icône à </a:t>
            </a: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static/description/icon.png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générée avec l'outil en ligne </a:t>
            </a:r>
            <a:r>
              <a:rPr lang="fr-FR" sz="1500">
                <a:solidFill>
                  <a:schemeClr val="dk1"/>
                </a:solidFill>
                <a:uFill>
                  <a:noFill/>
                </a:uFill>
                <a:latin typeface="Tahoma"/>
                <a:ea typeface="Tahoma"/>
                <a:cs typeface="Tahoma"/>
                <a:sym typeface="Tahom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spilymp.github.io/ibo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Bonus 2 — README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:</a:t>
            </a:r>
            <a:endParaRPr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Écrire un vrai </a:t>
            </a: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README.md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à la racine du module (voir section 2 ci-dessus).</a:t>
            </a:r>
            <a:endParaRPr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ahoma"/>
              <a:buChar char="●"/>
            </a:pP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S'inspirer de la convention OCA des "fragments" de README pour sa structure, notamment les titres </a:t>
            </a:r>
            <a:r>
              <a:rPr i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DESCRIPTION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i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USAGE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i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CONFIGURATION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et </a:t>
            </a:r>
            <a:r>
              <a:rPr i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ROADMAP</a:t>
            </a:r>
            <a:endParaRPr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512" name="Google Shape;512;g3f83fd878ef_0_3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056" y="4352724"/>
            <a:ext cx="1120314" cy="1295140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g3f83fd878ef_0_315"/>
          <p:cNvSpPr txBox="1"/>
          <p:nvPr/>
        </p:nvSpPr>
        <p:spPr>
          <a:xfrm>
            <a:off x="748913" y="5647875"/>
            <a:ext cx="984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fr-FR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Bonus</a:t>
            </a:r>
            <a:endParaRPr b="1"/>
          </a:p>
        </p:txBody>
      </p:sp>
      <p:sp>
        <p:nvSpPr>
          <p:cNvPr id="514" name="Google Shape;514;g3f83fd878ef_0_315"/>
          <p:cNvSpPr txBox="1"/>
          <p:nvPr/>
        </p:nvSpPr>
        <p:spPr>
          <a:xfrm>
            <a:off x="748913" y="2467700"/>
            <a:ext cx="984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fr-FR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Exercice</a:t>
            </a:r>
            <a:endParaRPr b="1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f8a5c5757b_0_257"/>
          <p:cNvSpPr txBox="1"/>
          <p:nvPr>
            <p:ph type="title"/>
          </p:nvPr>
        </p:nvSpPr>
        <p:spPr>
          <a:xfrm>
            <a:off x="4588662" y="803277"/>
            <a:ext cx="4822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Partage / Remédiation</a:t>
            </a:r>
            <a:endParaRPr/>
          </a:p>
        </p:txBody>
      </p:sp>
      <p:sp>
        <p:nvSpPr>
          <p:cNvPr id="520" name="Google Shape;520;g3f8a5c5757b_0_257"/>
          <p:cNvSpPr txBox="1"/>
          <p:nvPr/>
        </p:nvSpPr>
        <p:spPr>
          <a:xfrm>
            <a:off x="4588662" y="1900000"/>
            <a:ext cx="48225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Qu'est-ce qui a bloqué ? Qu'est-ce qui a bien fonctionné 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Un volontaire partage son écran (2-3 min)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fr-FR" sz="1600"/>
              <a:t>Correction : </a:t>
            </a:r>
            <a:r>
              <a:rPr b="1" lang="fr-FR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chapter_04_module_skeleton</a:t>
            </a:r>
            <a:endParaRPr sz="16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f83fd878ef_0_328"/>
          <p:cNvSpPr txBox="1"/>
          <p:nvPr>
            <p:ph idx="1" type="body"/>
          </p:nvPr>
        </p:nvSpPr>
        <p:spPr>
          <a:xfrm>
            <a:off x="285750" y="3191050"/>
            <a:ext cx="4713300" cy="19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fr-FR"/>
              <a:t>Déclarer le modèle </a:t>
            </a:r>
            <a:r>
              <a:rPr b="1" lang="fr-FR"/>
              <a:t>library.books</a:t>
            </a:r>
            <a:r>
              <a:rPr lang="fr-FR"/>
              <a:t> et ajouter des champs Boolean, Char, Int, Date, Monetary et Image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fr-FR"/>
              <a:t>🎯</a:t>
            </a:r>
            <a:r>
              <a:rPr lang="fr-FR"/>
              <a:t> Les 1ers livres saisis dans la bibliothèque</a:t>
            </a:r>
            <a:endParaRPr/>
          </a:p>
        </p:txBody>
      </p:sp>
      <p:sp>
        <p:nvSpPr>
          <p:cNvPr id="526" name="Google Shape;526;g3f83fd878ef_0_328"/>
          <p:cNvSpPr txBox="1"/>
          <p:nvPr>
            <p:ph type="title"/>
          </p:nvPr>
        </p:nvSpPr>
        <p:spPr>
          <a:xfrm>
            <a:off x="285750" y="2334723"/>
            <a:ext cx="4822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Chapitre 5 (14h15 - 15h00)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f83fd878ef_0_362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Déclarer un modèle et des champs</a:t>
            </a:r>
            <a:endParaRPr/>
          </a:p>
        </p:txBody>
      </p:sp>
      <p:sp>
        <p:nvSpPr>
          <p:cNvPr id="532" name="Google Shape;532;g3f83fd878ef_0_362"/>
          <p:cNvSpPr txBox="1"/>
          <p:nvPr/>
        </p:nvSpPr>
        <p:spPr>
          <a:xfrm>
            <a:off x="600000" y="1157438"/>
            <a:ext cx="87060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/>
              <a:t>Types de champs :</a:t>
            </a:r>
            <a:endParaRPr sz="1500"/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b="0" i="0" lang="fr-FR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Logique : </a:t>
            </a:r>
            <a:r>
              <a:rPr b="1" i="0" lang="fr-FR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Boolean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i="0" lang="fr-FR" sz="1500" u="none" cap="none" strike="noStrike">
                <a:solidFill>
                  <a:srgbClr val="000000"/>
                </a:solidFill>
              </a:rPr>
              <a:t>Numérique</a:t>
            </a:r>
            <a:r>
              <a:rPr b="0" i="0" lang="fr-FR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</a:t>
            </a:r>
            <a:r>
              <a:rPr b="1" i="0" lang="fr-FR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Integer</a:t>
            </a:r>
            <a:r>
              <a:rPr i="0" lang="fr-FR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i="0" lang="fr-FR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Float</a:t>
            </a:r>
            <a:r>
              <a:rPr i="0" lang="fr-FR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i="0" lang="fr-FR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Monetary</a:t>
            </a:r>
            <a:r>
              <a:rPr b="0" i="0" lang="fr-FR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(+ currency_id vers res.currency)</a:t>
            </a:r>
            <a:endParaRPr/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b="0" i="0" lang="fr-FR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Textuel : </a:t>
            </a:r>
            <a:r>
              <a:rPr b="1" i="0" lang="fr-FR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i="0" lang="fr-FR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i="0" lang="fr-FR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Text</a:t>
            </a:r>
            <a:r>
              <a:rPr i="0" lang="fr-FR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i="0" lang="fr-FR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i="0" lang="fr-FR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i="0" lang="fr-FR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Selection</a:t>
            </a:r>
            <a:r>
              <a:rPr b="0" i="0" lang="fr-FR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(liste de valeurs fixe)</a:t>
            </a:r>
            <a:endParaRPr/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b="0" i="0" lang="fr-FR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: </a:t>
            </a:r>
            <a:r>
              <a:rPr b="1" i="0" lang="fr-FR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Date</a:t>
            </a:r>
            <a:r>
              <a:rPr i="0" lang="fr-FR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i="0" lang="fr-FR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Datetime</a:t>
            </a:r>
            <a:r>
              <a:rPr b="0" i="0" lang="fr-FR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Fichier : </a:t>
            </a:r>
            <a:r>
              <a:rPr b="1" i="0" lang="fr-FR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Binary</a:t>
            </a:r>
            <a:r>
              <a:rPr i="0" lang="fr-FR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i="0" lang="fr-FR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Image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fr-FR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Champs réservés :</a:t>
            </a:r>
            <a:endParaRPr sz="1500"/>
          </a:p>
          <a:p>
            <a:pPr indent="-32385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●"/>
            </a:pPr>
            <a:r>
              <a:rPr b="1" i="0" lang="fr-FR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b="0" i="0" lang="fr-FR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fr-FR" sz="1500"/>
              <a:t>et</a:t>
            </a:r>
            <a:r>
              <a:rPr b="0" i="0" lang="fr-FR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fr-FR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display_name</a:t>
            </a:r>
            <a:r>
              <a:rPr b="0" i="0" lang="fr-FR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500"/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b="1" i="0" lang="fr-FR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active</a:t>
            </a:r>
            <a:r>
              <a:rPr b="0" i="0" lang="fr-FR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(masque le record)</a:t>
            </a:r>
            <a:endParaRPr sz="1500"/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ourier New"/>
              <a:buChar char="●"/>
            </a:pPr>
            <a:r>
              <a:rPr b="1" i="0" lang="fr-FR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i="0" lang="fr-FR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company_id</a:t>
            </a:r>
            <a:endParaRPr b="1" sz="15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fr-FR" sz="1500"/>
              <a:t>📚 </a:t>
            </a:r>
            <a:r>
              <a:rPr lang="fr-FR" sz="1500" u="sng">
                <a:solidFill>
                  <a:schemeClr val="hlink"/>
                </a:solidFill>
                <a:hlinkClick r:id="rId3"/>
              </a:rPr>
              <a:t>https://www.odoo.com/documentation/19.0/developer/reference/backend/orm.html#fields</a:t>
            </a:r>
            <a:r>
              <a:rPr b="1" lang="fr-FR" sz="1500"/>
              <a:t> </a:t>
            </a:r>
            <a:endParaRPr b="1" sz="1500"/>
          </a:p>
        </p:txBody>
      </p:sp>
      <p:pic>
        <p:nvPicPr>
          <p:cNvPr id="533" name="Google Shape;533;g3f83fd878ef_0_3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1056" y="4388148"/>
            <a:ext cx="1120314" cy="1295140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g3f83fd878ef_0_362"/>
          <p:cNvSpPr txBox="1"/>
          <p:nvPr/>
        </p:nvSpPr>
        <p:spPr>
          <a:xfrm>
            <a:off x="342900" y="5564449"/>
            <a:ext cx="1961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fr-FR" sz="1500">
                <a:solidFill>
                  <a:schemeClr val="dk1"/>
                </a:solidFill>
              </a:rPr>
              <a:t>Exercice ensemble</a:t>
            </a:r>
            <a:endParaRPr/>
          </a:p>
        </p:txBody>
      </p:sp>
      <p:sp>
        <p:nvSpPr>
          <p:cNvPr id="535" name="Google Shape;535;g3f83fd878ef_0_362"/>
          <p:cNvSpPr txBox="1"/>
          <p:nvPr/>
        </p:nvSpPr>
        <p:spPr>
          <a:xfrm>
            <a:off x="2304600" y="4377325"/>
            <a:ext cx="6842400" cy="1650900"/>
          </a:xfrm>
          <a:prstGeom prst="rect">
            <a:avLst/>
          </a:prstGeom>
          <a:solidFill>
            <a:srgbClr val="FFFFFF">
              <a:alpha val="70000"/>
            </a:srgbClr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ahoma"/>
              <a:buAutoNum type="arabicPeriod"/>
            </a:pP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Ouvrir le modèle </a:t>
            </a:r>
            <a:r>
              <a:rPr b="1"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res.company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déclaré dans le module de base.</a:t>
            </a:r>
            <a:b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Chemin : </a:t>
            </a:r>
            <a:r>
              <a:rPr b="1"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odoo/addons/base/models/res_company.py</a:t>
            </a:r>
            <a:b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C'est le modèle des sociétés Odoo (1 par défaut), configurable depuis </a:t>
            </a:r>
            <a:r>
              <a:rPr i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Paramètres &gt; Utilisateurs &amp; Sociétés &gt; Sociétés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ahoma"/>
              <a:buAutoNum type="arabicPeriod"/>
            </a:pP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Y lire les exemples de déclaration des champs.</a:t>
            </a:r>
            <a:endParaRPr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ahoma"/>
              <a:buAutoNum type="arabicPeriod"/>
            </a:pP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Remarquer les attributs de classe en entête : </a:t>
            </a:r>
            <a:r>
              <a:rPr b="1"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_name</a:t>
            </a:r>
            <a:r>
              <a:rPr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_description</a:t>
            </a:r>
            <a:endParaRPr b="1"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f83fd878ef_0_400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Créer un menu-item</a:t>
            </a:r>
            <a:endParaRPr/>
          </a:p>
        </p:txBody>
      </p:sp>
      <p:sp>
        <p:nvSpPr>
          <p:cNvPr id="541" name="Google Shape;541;g3f83fd878ef_0_400"/>
          <p:cNvSpPr txBox="1"/>
          <p:nvPr/>
        </p:nvSpPr>
        <p:spPr>
          <a:xfrm>
            <a:off x="468125" y="1583675"/>
            <a:ext cx="8757000" cy="4132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5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&lt;!-- Menu simple --&gt;</a:t>
            </a:r>
            <a:endParaRPr sz="13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menuitem</a:t>
            </a:r>
            <a:r>
              <a:rPr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id="</a:t>
            </a:r>
            <a:r>
              <a:rPr b="1"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xml_id</a:t>
            </a:r>
            <a:r>
              <a:rPr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endParaRPr sz="13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name="</a:t>
            </a:r>
            <a:r>
              <a:rPr b="1"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Libellé affiché (si vide : prend le 'name' de l'action)</a:t>
            </a:r>
            <a:r>
              <a:rPr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endParaRPr sz="13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parent="</a:t>
            </a:r>
            <a:r>
              <a:rPr b="1"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xml_id_du_parent</a:t>
            </a:r>
            <a:r>
              <a:rPr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endParaRPr sz="13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action="</a:t>
            </a:r>
            <a:r>
              <a:rPr b="1"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xml_id_de_laction</a:t>
            </a:r>
            <a:r>
              <a:rPr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endParaRPr sz="13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sequence="</a:t>
            </a:r>
            <a:r>
              <a:rPr b="1"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"/&gt;</a:t>
            </a:r>
            <a:endParaRPr sz="13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5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&lt;!-- Menus imbriqués (raccourci) --&gt;</a:t>
            </a:r>
            <a:endParaRPr sz="13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menuitem</a:t>
            </a:r>
            <a:r>
              <a:rPr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id="</a:t>
            </a:r>
            <a:r>
              <a:rPr b="1"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xml_id</a:t>
            </a:r>
            <a:r>
              <a:rPr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endParaRPr sz="13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name="</a:t>
            </a:r>
            <a:r>
              <a:rPr b="1"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Libellé affiché</a:t>
            </a:r>
            <a:r>
              <a:rPr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endParaRPr sz="13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parent="</a:t>
            </a:r>
            <a:r>
              <a:rPr b="1"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xml_id_du_parent (ou vide si Niveau 1)</a:t>
            </a:r>
            <a:r>
              <a:rPr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endParaRPr sz="13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sequence="</a:t>
            </a:r>
            <a:r>
              <a:rPr b="1"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endParaRPr sz="13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5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i="1" lang="fr-FR" sz="135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&lt;!-- L'arg 'parent' peut exceptionnellement être omis dans les sous-menu --&gt;</a:t>
            </a:r>
            <a:endParaRPr sz="1350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b="1"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menuitem</a:t>
            </a:r>
            <a:r>
              <a:rPr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id="</a:t>
            </a:r>
            <a:r>
              <a:rPr b="1"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xml_id</a:t>
            </a:r>
            <a:r>
              <a:rPr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endParaRPr sz="13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name="</a:t>
            </a:r>
            <a:r>
              <a:rPr b="1"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Libellé affiché</a:t>
            </a:r>
            <a:r>
              <a:rPr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endParaRPr sz="13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action="</a:t>
            </a:r>
            <a:r>
              <a:rPr b="1"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xml_id_de_laction</a:t>
            </a:r>
            <a:r>
              <a:rPr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endParaRPr sz="13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sequence="</a:t>
            </a:r>
            <a:r>
              <a:rPr b="1"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"/&gt;</a:t>
            </a:r>
            <a:endParaRPr sz="13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1"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menuitem</a:t>
            </a:r>
            <a:r>
              <a:rPr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42" name="Google Shape;542;g3f83fd878ef_0_400"/>
          <p:cNvSpPr txBox="1"/>
          <p:nvPr/>
        </p:nvSpPr>
        <p:spPr>
          <a:xfrm>
            <a:off x="468125" y="1168175"/>
            <a:ext cx="8757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Les menu-items bénéficient de l’une des rares “balises XML raccourcies” pour créer un record :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91"/>
          <p:cNvSpPr txBox="1"/>
          <p:nvPr>
            <p:ph type="title"/>
          </p:nvPr>
        </p:nvSpPr>
        <p:spPr>
          <a:xfrm>
            <a:off x="681038" y="307978"/>
            <a:ext cx="8543925" cy="577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Créer une règle de sécurité</a:t>
            </a:r>
            <a:endParaRPr/>
          </a:p>
        </p:txBody>
      </p:sp>
      <p:sp>
        <p:nvSpPr>
          <p:cNvPr id="548" name="Google Shape;548;p91"/>
          <p:cNvSpPr txBox="1"/>
          <p:nvPr/>
        </p:nvSpPr>
        <p:spPr>
          <a:xfrm>
            <a:off x="4741075" y="5123475"/>
            <a:ext cx="63045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49" name="Google Shape;549;p91"/>
          <p:cNvSpPr txBox="1"/>
          <p:nvPr/>
        </p:nvSpPr>
        <p:spPr>
          <a:xfrm>
            <a:off x="403425" y="1188300"/>
            <a:ext cx="90057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>
                <a:latin typeface="Tahoma"/>
                <a:ea typeface="Tahoma"/>
                <a:cs typeface="Tahoma"/>
                <a:sym typeface="Tahoma"/>
              </a:rPr>
              <a:t>Les droits créés par le code se définissent dans le fichier </a:t>
            </a:r>
            <a:r>
              <a:rPr b="1" lang="fr-FR" sz="1500">
                <a:latin typeface="Courier New"/>
                <a:ea typeface="Courier New"/>
                <a:cs typeface="Courier New"/>
                <a:sym typeface="Courier New"/>
              </a:rPr>
              <a:t>security/ir.model.access.csv</a:t>
            </a:r>
            <a:r>
              <a:rPr lang="fr-FR" sz="1500">
                <a:latin typeface="Tahoma"/>
                <a:ea typeface="Tahoma"/>
                <a:cs typeface="Tahoma"/>
                <a:sym typeface="Tahoma"/>
              </a:rPr>
              <a:t>.</a:t>
            </a:r>
            <a:endParaRPr sz="15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>
                <a:latin typeface="Tahoma"/>
                <a:ea typeface="Tahoma"/>
                <a:cs typeface="Tahoma"/>
                <a:sym typeface="Tahoma"/>
              </a:rPr>
              <a:t>Une ligne de </a:t>
            </a:r>
            <a:r>
              <a:rPr b="1" lang="fr-FR" sz="1500">
                <a:latin typeface="Tahoma"/>
                <a:ea typeface="Tahoma"/>
                <a:cs typeface="Tahoma"/>
                <a:sym typeface="Tahoma"/>
              </a:rPr>
              <a:t>ir.model.access</a:t>
            </a:r>
            <a:r>
              <a:rPr lang="fr-FR" sz="1500">
                <a:latin typeface="Tahoma"/>
                <a:ea typeface="Tahoma"/>
                <a:cs typeface="Tahoma"/>
                <a:sym typeface="Tahoma"/>
              </a:rPr>
              <a:t> confie à des groupes sur un modèle les droits CRUD (</a:t>
            </a:r>
            <a:r>
              <a:rPr b="1" lang="fr-FR" sz="1500">
                <a:latin typeface="Courier New"/>
                <a:ea typeface="Courier New"/>
                <a:cs typeface="Courier New"/>
                <a:sym typeface="Courier New"/>
              </a:rPr>
              <a:t>Create</a:t>
            </a:r>
            <a:r>
              <a:rPr b="1" lang="fr-FR" sz="1500"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b="1" lang="fr-FR" sz="1500">
                <a:latin typeface="Courier New"/>
                <a:ea typeface="Courier New"/>
                <a:cs typeface="Courier New"/>
                <a:sym typeface="Courier New"/>
              </a:rPr>
              <a:t>Read</a:t>
            </a:r>
            <a:r>
              <a:rPr b="1" lang="fr-FR" sz="1500"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b="1" lang="fr-FR" sz="1500">
                <a:latin typeface="Courier New"/>
                <a:ea typeface="Courier New"/>
                <a:cs typeface="Courier New"/>
                <a:sym typeface="Courier New"/>
              </a:rPr>
              <a:t>Write</a:t>
            </a:r>
            <a:r>
              <a:rPr b="1" lang="fr-FR" sz="1500"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b="1" lang="fr-FR" sz="1500">
                <a:latin typeface="Courier New"/>
                <a:ea typeface="Courier New"/>
                <a:cs typeface="Courier New"/>
                <a:sym typeface="Courier New"/>
              </a:rPr>
              <a:t>Unlink</a:t>
            </a:r>
            <a:r>
              <a:rPr lang="fr-FR" sz="1500">
                <a:latin typeface="Tahoma"/>
                <a:ea typeface="Tahoma"/>
                <a:cs typeface="Tahoma"/>
                <a:sym typeface="Tahoma"/>
              </a:rPr>
              <a:t>) :</a:t>
            </a:r>
            <a:endParaRPr sz="1500">
              <a:latin typeface="Tahoma"/>
              <a:ea typeface="Tahoma"/>
              <a:cs typeface="Tahoma"/>
              <a:sym typeface="Tahom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ahoma"/>
              <a:buChar char="●"/>
            </a:pPr>
            <a:r>
              <a:rPr b="1" lang="fr-FR" sz="1500"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b="1" lang="fr-FR" sz="1500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fr-FR" sz="1500">
                <a:latin typeface="Tahoma"/>
                <a:ea typeface="Tahoma"/>
                <a:cs typeface="Tahoma"/>
                <a:sym typeface="Tahoma"/>
              </a:rPr>
              <a:t>: XML ID de la règle d’accès</a:t>
            </a:r>
            <a:endParaRPr sz="1500">
              <a:latin typeface="Tahoma"/>
              <a:ea typeface="Tahoma"/>
              <a:cs typeface="Tahoma"/>
              <a:sym typeface="Tahom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ahoma"/>
              <a:buChar char="●"/>
            </a:pPr>
            <a:r>
              <a:rPr b="1" lang="fr-FR" sz="1500"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b="1" lang="fr-FR" sz="1500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fr-FR" sz="1500">
                <a:latin typeface="Tahoma"/>
                <a:ea typeface="Tahoma"/>
                <a:cs typeface="Tahoma"/>
                <a:sym typeface="Tahoma"/>
              </a:rPr>
              <a:t>: nom affiché dans les paramètres techniques</a:t>
            </a:r>
            <a:endParaRPr sz="1500">
              <a:latin typeface="Tahoma"/>
              <a:ea typeface="Tahoma"/>
              <a:cs typeface="Tahoma"/>
              <a:sym typeface="Tahom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ahoma"/>
              <a:buChar char="●"/>
            </a:pPr>
            <a:r>
              <a:rPr b="1" lang="fr-FR" sz="1500">
                <a:latin typeface="Courier New"/>
                <a:ea typeface="Courier New"/>
                <a:cs typeface="Courier New"/>
                <a:sym typeface="Courier New"/>
              </a:rPr>
              <a:t>model_id:id</a:t>
            </a:r>
            <a:r>
              <a:rPr lang="fr-FR" sz="1500">
                <a:latin typeface="Tahoma"/>
                <a:ea typeface="Tahoma"/>
                <a:cs typeface="Tahoma"/>
                <a:sym typeface="Tahoma"/>
              </a:rPr>
              <a:t> :référence le modèle via son external ID auto-généré par Odoo pour chaque modèle Python : model_&lt;nom_du_modèle_avec_underscores&gt;.</a:t>
            </a:r>
            <a:endParaRPr sz="1500">
              <a:latin typeface="Tahoma"/>
              <a:ea typeface="Tahoma"/>
              <a:cs typeface="Tahoma"/>
              <a:sym typeface="Tahom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ahoma"/>
              <a:buChar char="●"/>
            </a:pPr>
            <a:r>
              <a:rPr b="1" lang="fr-FR" sz="1500">
                <a:latin typeface="Courier New"/>
                <a:ea typeface="Courier New"/>
                <a:cs typeface="Courier New"/>
                <a:sym typeface="Courier New"/>
              </a:rPr>
              <a:t>group_id:id</a:t>
            </a:r>
            <a:r>
              <a:rPr lang="fr-FR" sz="1500">
                <a:latin typeface="Tahoma"/>
                <a:ea typeface="Tahoma"/>
                <a:cs typeface="Tahoma"/>
                <a:sym typeface="Tahoma"/>
              </a:rPr>
              <a:t> : référence le groupe concerné, ex. base.group_user (groupe "Utilisateur interne"), l'un des plus générique — pas encore de groupe métier dédié à ce stade.</a:t>
            </a:r>
            <a:endParaRPr sz="1500">
              <a:latin typeface="Tahoma"/>
              <a:ea typeface="Tahoma"/>
              <a:cs typeface="Tahoma"/>
              <a:sym typeface="Tahom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Courier New"/>
              <a:buChar char="●"/>
            </a:pPr>
            <a:r>
              <a:rPr b="1" lang="fr-FR" sz="1500">
                <a:latin typeface="Courier New"/>
                <a:ea typeface="Courier New"/>
                <a:cs typeface="Courier New"/>
                <a:sym typeface="Courier New"/>
              </a:rPr>
              <a:t>perm_read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Courier New"/>
              <a:buChar char="●"/>
            </a:pPr>
            <a:r>
              <a:rPr b="1" lang="fr-FR" sz="1500">
                <a:latin typeface="Courier New"/>
                <a:ea typeface="Courier New"/>
                <a:cs typeface="Courier New"/>
                <a:sym typeface="Courier New"/>
              </a:rPr>
              <a:t>perm_write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Courier New"/>
              <a:buChar char="●"/>
            </a:pPr>
            <a:r>
              <a:rPr b="1" lang="fr-FR" sz="1500">
                <a:latin typeface="Courier New"/>
                <a:ea typeface="Courier New"/>
                <a:cs typeface="Courier New"/>
                <a:sym typeface="Courier New"/>
              </a:rPr>
              <a:t>perm_create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Courier New"/>
              <a:buChar char="●"/>
            </a:pPr>
            <a:r>
              <a:rPr b="1" lang="fr-FR" sz="1500">
                <a:latin typeface="Courier New"/>
                <a:ea typeface="Courier New"/>
                <a:cs typeface="Courier New"/>
                <a:sym typeface="Courier New"/>
              </a:rPr>
              <a:t>perm_unlink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Pour l'instant, nous définirons temporairement un accès complet pour tous les utilisateurs internes.</a:t>
            </a:r>
            <a:b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Nous avons 2 chapitres dédiés à la sécurité demain pour explorer les notions de sécurité.</a:t>
            </a:r>
            <a:endParaRPr sz="15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550" name="Google Shape;550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131" y="5184149"/>
            <a:ext cx="1120314" cy="1295140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91"/>
          <p:cNvSpPr txBox="1"/>
          <p:nvPr/>
        </p:nvSpPr>
        <p:spPr>
          <a:xfrm>
            <a:off x="1878775" y="5632385"/>
            <a:ext cx="6842400" cy="323100"/>
          </a:xfrm>
          <a:prstGeom prst="rect">
            <a:avLst/>
          </a:prstGeom>
          <a:solidFill>
            <a:srgbClr val="FFFFFF">
              <a:alpha val="70000"/>
            </a:srgbClr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Consulter </a:t>
            </a:r>
            <a:r>
              <a:rPr b="1"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odoo/addons/base/security/ir.model.access.csv</a:t>
            </a:r>
            <a:endParaRPr b="1"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f83fd878ef_0_382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Créer une action de fen</a:t>
            </a:r>
            <a:r>
              <a:rPr lang="fr-FR"/>
              <a:t>être (ir.actions.act_window)</a:t>
            </a:r>
            <a:endParaRPr/>
          </a:p>
        </p:txBody>
      </p:sp>
      <p:sp>
        <p:nvSpPr>
          <p:cNvPr id="557" name="Google Shape;557;g3f83fd878ef_0_382"/>
          <p:cNvSpPr txBox="1"/>
          <p:nvPr/>
        </p:nvSpPr>
        <p:spPr>
          <a:xfrm>
            <a:off x="4741075" y="5123475"/>
            <a:ext cx="63045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58" name="Google Shape;558;g3f83fd878ef_0_382"/>
          <p:cNvSpPr txBox="1"/>
          <p:nvPr/>
        </p:nvSpPr>
        <p:spPr>
          <a:xfrm>
            <a:off x="468125" y="1583675"/>
            <a:ext cx="8757000" cy="1477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latin typeface="Courier New"/>
                <a:ea typeface="Courier New"/>
                <a:cs typeface="Courier New"/>
                <a:sym typeface="Courier New"/>
              </a:rPr>
              <a:t>&lt;data&gt;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latin typeface="Courier New"/>
                <a:ea typeface="Courier New"/>
                <a:cs typeface="Courier New"/>
                <a:sym typeface="Courier New"/>
              </a:rPr>
              <a:t>&lt;record </a:t>
            </a:r>
            <a:r>
              <a:rPr b="1" lang="fr-FR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fr-FR">
                <a:latin typeface="Courier New"/>
                <a:ea typeface="Courier New"/>
                <a:cs typeface="Courier New"/>
                <a:sym typeface="Courier New"/>
              </a:rPr>
              <a:t>="</a:t>
            </a:r>
            <a:r>
              <a:rPr b="1" lang="fr-FR">
                <a:latin typeface="Courier New"/>
                <a:ea typeface="Courier New"/>
                <a:cs typeface="Courier New"/>
                <a:sym typeface="Courier New"/>
              </a:rPr>
              <a:t>xml_id</a:t>
            </a:r>
            <a:r>
              <a:rPr lang="fr-FR">
                <a:latin typeface="Courier New"/>
                <a:ea typeface="Courier New"/>
                <a:cs typeface="Courier New"/>
                <a:sym typeface="Courier New"/>
              </a:rPr>
              <a:t>" </a:t>
            </a:r>
            <a:r>
              <a:rPr b="1" lang="fr-FR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model</a:t>
            </a:r>
            <a:r>
              <a:rPr lang="fr-FR">
                <a:latin typeface="Courier New"/>
                <a:ea typeface="Courier New"/>
                <a:cs typeface="Courier New"/>
                <a:sym typeface="Courier New"/>
              </a:rPr>
              <a:t>="</a:t>
            </a:r>
            <a:r>
              <a:rPr b="1" lang="fr-FR">
                <a:latin typeface="Courier New"/>
                <a:ea typeface="Courier New"/>
                <a:cs typeface="Courier New"/>
                <a:sym typeface="Courier New"/>
              </a:rPr>
              <a:t>nom.technique.du.modele</a:t>
            </a:r>
            <a:r>
              <a:rPr lang="fr-FR">
                <a:latin typeface="Courier New"/>
                <a:ea typeface="Courier New"/>
                <a:cs typeface="Courier New"/>
                <a:sym typeface="Courier New"/>
              </a:rPr>
              <a:t>"&gt;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latin typeface="Courier New"/>
                <a:ea typeface="Courier New"/>
                <a:cs typeface="Courier New"/>
                <a:sym typeface="Courier New"/>
              </a:rPr>
              <a:t>    &lt;field name="</a:t>
            </a:r>
            <a:r>
              <a:rPr b="1" lang="fr-FR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nom_du_champ</a:t>
            </a:r>
            <a:r>
              <a:rPr lang="fr-FR">
                <a:latin typeface="Courier New"/>
                <a:ea typeface="Courier New"/>
                <a:cs typeface="Courier New"/>
                <a:sym typeface="Courier New"/>
              </a:rPr>
              <a:t>"&gt;</a:t>
            </a:r>
            <a:r>
              <a:rPr b="1" lang="fr-FR">
                <a:latin typeface="Courier New"/>
                <a:ea typeface="Courier New"/>
                <a:cs typeface="Courier New"/>
                <a:sym typeface="Courier New"/>
              </a:rPr>
              <a:t>valeur</a:t>
            </a:r>
            <a:r>
              <a:rPr lang="fr-FR">
                <a:latin typeface="Courier New"/>
                <a:ea typeface="Courier New"/>
                <a:cs typeface="Courier New"/>
                <a:sym typeface="Courier New"/>
              </a:rPr>
              <a:t>&lt;/field&gt;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latin typeface="Courier New"/>
                <a:ea typeface="Courier New"/>
                <a:cs typeface="Courier New"/>
                <a:sym typeface="Courier New"/>
              </a:rPr>
              <a:t>    &lt;field name="</a:t>
            </a:r>
            <a:r>
              <a:rPr b="1" lang="fr-FR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un_autre_champ</a:t>
            </a:r>
            <a:r>
              <a:rPr lang="fr-FR">
                <a:latin typeface="Courier New"/>
                <a:ea typeface="Courier New"/>
                <a:cs typeface="Courier New"/>
                <a:sym typeface="Courier New"/>
              </a:rPr>
              <a:t>"&gt;</a:t>
            </a:r>
            <a:r>
              <a:rPr b="1" lang="fr-FR">
                <a:latin typeface="Courier New"/>
                <a:ea typeface="Courier New"/>
                <a:cs typeface="Courier New"/>
                <a:sym typeface="Courier New"/>
              </a:rPr>
              <a:t>une autre valeur</a:t>
            </a:r>
            <a:r>
              <a:rPr lang="fr-FR">
                <a:latin typeface="Courier New"/>
                <a:ea typeface="Courier New"/>
                <a:cs typeface="Courier New"/>
                <a:sym typeface="Courier New"/>
              </a:rPr>
              <a:t>&lt;/field&gt;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latin typeface="Courier New"/>
                <a:ea typeface="Courier New"/>
                <a:cs typeface="Courier New"/>
                <a:sym typeface="Courier New"/>
              </a:rPr>
              <a:t>&lt;/record&gt;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latin typeface="Courier New"/>
                <a:ea typeface="Courier New"/>
                <a:cs typeface="Courier New"/>
                <a:sym typeface="Courier New"/>
              </a:rPr>
              <a:t>&lt;/data&gt;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59" name="Google Shape;559;g3f83fd878ef_0_382"/>
          <p:cNvSpPr txBox="1"/>
          <p:nvPr/>
        </p:nvSpPr>
        <p:spPr>
          <a:xfrm>
            <a:off x="468125" y="1168175"/>
            <a:ext cx="8757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Créer un record dans Odoo (dans un fichier </a:t>
            </a: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.xml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indexé dans le </a:t>
            </a: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__manifest__.py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):</a:t>
            </a:r>
            <a:endParaRPr/>
          </a:p>
        </p:txBody>
      </p:sp>
      <p:graphicFrame>
        <p:nvGraphicFramePr>
          <p:cNvPr id="560" name="Google Shape;560;g3f83fd878ef_0_382"/>
          <p:cNvGraphicFramePr/>
          <p:nvPr/>
        </p:nvGraphicFramePr>
        <p:xfrm>
          <a:off x="468125" y="4332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{3EDB087D-598B-4024-8A61-DCB6C5ED28FB}</a:tableStyleId>
              </a:tblPr>
              <a:tblGrid>
                <a:gridCol w="1363675"/>
                <a:gridCol w="695200"/>
                <a:gridCol w="6698100"/>
              </a:tblGrid>
              <a:tr h="257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fr-FR" sz="1450">
                          <a:solidFill>
                            <a:schemeClr val="dk1"/>
                          </a:solidFill>
                        </a:rPr>
                        <a:t>Champ</a:t>
                      </a:r>
                      <a:endParaRPr b="1" sz="14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fr-FR" sz="1450">
                          <a:solidFill>
                            <a:schemeClr val="dk1"/>
                          </a:solidFill>
                        </a:rPr>
                        <a:t>Type</a:t>
                      </a:r>
                      <a:endParaRPr b="1" sz="14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fr-FR" sz="1450">
                          <a:solidFill>
                            <a:schemeClr val="dk1"/>
                          </a:solidFill>
                        </a:rPr>
                        <a:t>Rôle</a:t>
                      </a:r>
                      <a:endParaRPr b="1" sz="14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4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name</a:t>
                      </a:r>
                      <a:endParaRPr sz="14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450">
                          <a:solidFill>
                            <a:schemeClr val="dk1"/>
                          </a:solidFill>
                        </a:rPr>
                        <a:t>Char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450">
                          <a:solidFill>
                            <a:schemeClr val="dk1"/>
                          </a:solidFill>
                        </a:rPr>
                        <a:t>Le titre affiché en haut de la fenêtre/de l'onglet du navigateur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4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res_model</a:t>
                      </a:r>
                      <a:endParaRPr sz="14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450">
                          <a:solidFill>
                            <a:schemeClr val="dk1"/>
                          </a:solidFill>
                        </a:rPr>
                        <a:t>Char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450">
                          <a:solidFill>
                            <a:schemeClr val="dk1"/>
                          </a:solidFill>
                        </a:rPr>
                        <a:t>Le nom technique du modèle à ouvrir (ex. celui créé en section 1)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4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view_mode</a:t>
                      </a:r>
                      <a:endParaRPr sz="14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450">
                          <a:solidFill>
                            <a:schemeClr val="dk1"/>
                          </a:solidFill>
                        </a:rPr>
                        <a:t>Char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450">
                          <a:solidFill>
                            <a:schemeClr val="dk1"/>
                          </a:solidFill>
                        </a:rPr>
                        <a:t>Les types de vue proposés, séparés par des virgules, dans l'ordre d'apparition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561" name="Google Shape;561;g3f83fd878ef_0_382"/>
          <p:cNvSpPr txBox="1"/>
          <p:nvPr/>
        </p:nvSpPr>
        <p:spPr>
          <a:xfrm>
            <a:off x="468125" y="3689500"/>
            <a:ext cx="8757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Principaux champs du modèle </a:t>
            </a: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ir.actions.act_window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: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f83fd878ef_0_417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fr-FR"/>
              <a:t>A vous de jouer !</a:t>
            </a:r>
            <a:br>
              <a:rPr lang="fr-FR"/>
            </a:br>
            <a:r>
              <a:rPr lang="fr-FR"/>
              <a:t>P</a:t>
            </a:r>
            <a:r>
              <a:rPr lang="fr-FR"/>
              <a:t>remiers modèle, champs, menu, action et sécurité minimale</a:t>
            </a:r>
            <a:endParaRPr/>
          </a:p>
        </p:txBody>
      </p:sp>
      <p:pic>
        <p:nvPicPr>
          <p:cNvPr id="567" name="Google Shape;567;g3f83fd878ef_0_4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056" y="1528424"/>
            <a:ext cx="1120314" cy="129514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g3f83fd878ef_0_417"/>
          <p:cNvSpPr txBox="1"/>
          <p:nvPr/>
        </p:nvSpPr>
        <p:spPr>
          <a:xfrm>
            <a:off x="1963325" y="1528425"/>
            <a:ext cx="7183800" cy="4262400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Créer </a:t>
            </a: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library.book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avec les champs de base : </a:t>
            </a: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name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isbn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date_release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page_count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notes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price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cover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(image de la 1ère de couverture)</a:t>
            </a:r>
            <a:endParaRPr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Permettre l'accès au modèle en ajoutant un record </a:t>
            </a: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ir.model.access</a:t>
            </a:r>
            <a:endParaRPr b="1"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ahoma"/>
              <a:buChar char="●"/>
            </a:pP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Ajouter 2 menus : 1 principale "Bibliothèque" avec une icône, et un sous-menu "Livres"</a:t>
            </a:r>
            <a:endParaRPr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Ajouter et lier l'action ouvrant notre modèle </a:t>
            </a: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library.book</a:t>
            </a:r>
            <a:endParaRPr b="1"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ahoma"/>
              <a:buChar char="●"/>
            </a:pP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Vérifier l'affichage d'une vue liste minimale auto-générée (voir section 3)</a:t>
            </a:r>
            <a:endParaRPr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Indices</a:t>
            </a:r>
            <a:endParaRPr b="1"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On oublie souvent de tenir à jour la clé </a:t>
            </a: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data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du </a:t>
            </a: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__manifest__.py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pour charger les fichiers </a:t>
            </a: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.xml</a:t>
            </a:r>
            <a:endParaRPr b="1"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Rappel : </a:t>
            </a: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odoo -i mon_module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pour installer un module et </a:t>
            </a: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odoo -u mon_module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pour le mettre à jour</a:t>
            </a:r>
            <a:endParaRPr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Construire des Vues </a:t>
            </a: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list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form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et </a:t>
            </a: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kanban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 Nous les corrigerons en chapitre 7.</a:t>
            </a:r>
            <a:endParaRPr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569" name="Google Shape;569;g3f83fd878ef_0_4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056" y="4795674"/>
            <a:ext cx="1120314" cy="1295140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g3f83fd878ef_0_417"/>
          <p:cNvSpPr txBox="1"/>
          <p:nvPr/>
        </p:nvSpPr>
        <p:spPr>
          <a:xfrm>
            <a:off x="342413" y="5996425"/>
            <a:ext cx="1797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Exercice avancé</a:t>
            </a:r>
            <a:endParaRPr b="1"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71" name="Google Shape;571;g3f83fd878ef_0_417"/>
          <p:cNvSpPr txBox="1"/>
          <p:nvPr/>
        </p:nvSpPr>
        <p:spPr>
          <a:xfrm>
            <a:off x="342413" y="2823575"/>
            <a:ext cx="1797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Exercice</a:t>
            </a:r>
            <a:endParaRPr b="1"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f8a5c5757b_0_266"/>
          <p:cNvSpPr txBox="1"/>
          <p:nvPr>
            <p:ph type="title"/>
          </p:nvPr>
        </p:nvSpPr>
        <p:spPr>
          <a:xfrm>
            <a:off x="4588662" y="803277"/>
            <a:ext cx="4822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Partage / Remédiation</a:t>
            </a:r>
            <a:endParaRPr/>
          </a:p>
        </p:txBody>
      </p:sp>
      <p:sp>
        <p:nvSpPr>
          <p:cNvPr id="577" name="Google Shape;577;g3f8a5c5757b_0_266"/>
          <p:cNvSpPr txBox="1"/>
          <p:nvPr/>
        </p:nvSpPr>
        <p:spPr>
          <a:xfrm>
            <a:off x="4588662" y="1900000"/>
            <a:ext cx="48225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Qu'est-ce qui a bloqué ? Qu'est-ce qui a bien fonctionné 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Un volontaire partage son écran (2-3 min)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fr-FR" sz="1600"/>
              <a:t>Correction : </a:t>
            </a:r>
            <a:r>
              <a:rPr b="1" lang="fr-FR" sz="1600">
                <a:latin typeface="Courier New"/>
                <a:ea typeface="Courier New"/>
                <a:cs typeface="Courier New"/>
                <a:sym typeface="Courier New"/>
              </a:rPr>
              <a:t>chapter_05_first_fields</a:t>
            </a:r>
            <a:endParaRPr sz="16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24"/>
          <p:cNvSpPr txBox="1"/>
          <p:nvPr>
            <p:ph type="title"/>
          </p:nvPr>
        </p:nvSpPr>
        <p:spPr>
          <a:xfrm>
            <a:off x="240684" y="2289491"/>
            <a:ext cx="6914831" cy="650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Pause – 15 min</a:t>
            </a:r>
            <a:endParaRPr/>
          </a:p>
        </p:txBody>
      </p:sp>
      <p:sp>
        <p:nvSpPr>
          <p:cNvPr id="583" name="Google Shape;583;p24"/>
          <p:cNvSpPr txBox="1"/>
          <p:nvPr>
            <p:ph type="title"/>
          </p:nvPr>
        </p:nvSpPr>
        <p:spPr>
          <a:xfrm>
            <a:off x="240678" y="3104000"/>
            <a:ext cx="4287300" cy="6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lang="fr-FR"/>
              <a:t>15h00 - 15h15</a:t>
            </a:r>
            <a:endParaRPr b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25"/>
          <p:cNvSpPr txBox="1"/>
          <p:nvPr>
            <p:ph type="title"/>
          </p:nvPr>
        </p:nvSpPr>
        <p:spPr>
          <a:xfrm>
            <a:off x="285750" y="2334723"/>
            <a:ext cx="4822480" cy="577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Chapitre 6 (15h15 - 16h00)</a:t>
            </a:r>
            <a:endParaRPr/>
          </a:p>
        </p:txBody>
      </p:sp>
      <p:sp>
        <p:nvSpPr>
          <p:cNvPr id="589" name="Google Shape;589;p25"/>
          <p:cNvSpPr txBox="1"/>
          <p:nvPr>
            <p:ph idx="1" type="body"/>
          </p:nvPr>
        </p:nvSpPr>
        <p:spPr>
          <a:xfrm>
            <a:off x="285750" y="3192944"/>
            <a:ext cx="4713300" cy="17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fr-FR"/>
              <a:t>Champs relationnels : Many2one et sont inverse One2many ; et Many2many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fr-FR"/>
              <a:t>🎯 Pouvoir (plus tard) classer et filtrer les livres avec 2 nouveaux champs Catégories et Étiquettes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26"/>
          <p:cNvSpPr txBox="1"/>
          <p:nvPr>
            <p:ph type="title"/>
          </p:nvPr>
        </p:nvSpPr>
        <p:spPr>
          <a:xfrm>
            <a:off x="681038" y="307978"/>
            <a:ext cx="8543925" cy="577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Many2one, One2many, Many2many</a:t>
            </a:r>
            <a:endParaRPr/>
          </a:p>
        </p:txBody>
      </p:sp>
      <p:sp>
        <p:nvSpPr>
          <p:cNvPr id="595" name="Google Shape;595;p26"/>
          <p:cNvSpPr txBox="1"/>
          <p:nvPr>
            <p:ph idx="1" type="body"/>
          </p:nvPr>
        </p:nvSpPr>
        <p:spPr>
          <a:xfrm>
            <a:off x="766251" y="1286867"/>
            <a:ext cx="3407350" cy="6943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fr-FR"/>
              <a:t>Many2one (N→1) / One2many (1→N)</a:t>
            </a:r>
            <a:endParaRPr/>
          </a:p>
        </p:txBody>
      </p:sp>
      <p:sp>
        <p:nvSpPr>
          <p:cNvPr id="596" name="Google Shape;596;p26"/>
          <p:cNvSpPr txBox="1"/>
          <p:nvPr>
            <p:ph idx="2" type="body"/>
          </p:nvPr>
        </p:nvSpPr>
        <p:spPr>
          <a:xfrm>
            <a:off x="904875" y="2143125"/>
            <a:ext cx="3758100" cy="3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495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fr-FR" sz="1400">
                <a:latin typeface="Courier New"/>
                <a:ea typeface="Courier New"/>
                <a:cs typeface="Courier New"/>
                <a:sym typeface="Courier New"/>
              </a:rPr>
              <a:t>Many2one</a:t>
            </a:r>
            <a:r>
              <a:rPr lang="fr-FR" sz="1400"/>
              <a:t> : vraie colonne SQL + contrainte FOREIGN KEY (ex. book.category_id)</a:t>
            </a:r>
            <a:endParaRPr b="1" sz="1400">
              <a:solidFill>
                <a:schemeClr val="accent6"/>
              </a:solidFill>
            </a:endParaRPr>
          </a:p>
          <a:p>
            <a:pPr indent="-23495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fr-FR" sz="1400">
                <a:latin typeface="Courier New"/>
                <a:ea typeface="Courier New"/>
                <a:cs typeface="Courier New"/>
                <a:sym typeface="Courier New"/>
              </a:rPr>
              <a:t>One2many</a:t>
            </a:r>
            <a:r>
              <a:rPr lang="fr-FR" sz="1400"/>
              <a:t> : PAS de colonne SQL — pur ORM, miroir d'un Many2one (</a:t>
            </a:r>
            <a:r>
              <a:rPr b="1" lang="fr-FR" sz="1400">
                <a:latin typeface="Courier New"/>
                <a:ea typeface="Courier New"/>
                <a:cs typeface="Courier New"/>
                <a:sym typeface="Courier New"/>
              </a:rPr>
              <a:t>comodel_name</a:t>
            </a:r>
            <a:r>
              <a:rPr lang="fr-FR" sz="1400"/>
              <a:t> + </a:t>
            </a:r>
            <a:r>
              <a:rPr b="1" lang="fr-FR" sz="1400">
                <a:latin typeface="Courier New"/>
                <a:ea typeface="Courier New"/>
                <a:cs typeface="Courier New"/>
                <a:sym typeface="Courier New"/>
              </a:rPr>
              <a:t>inverse_name</a:t>
            </a:r>
            <a:r>
              <a:rPr lang="fr-FR" sz="1400"/>
              <a:t>)</a:t>
            </a:r>
            <a:endParaRPr b="1" sz="1400">
              <a:solidFill>
                <a:schemeClr val="accent6"/>
              </a:solidFill>
            </a:endParaRPr>
          </a:p>
          <a:p>
            <a:pPr indent="-23495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fr-FR" sz="1400"/>
              <a:t>Widget par défaut du </a:t>
            </a:r>
            <a:r>
              <a:rPr lang="fr-FR" sz="1400">
                <a:latin typeface="Courier New"/>
                <a:ea typeface="Courier New"/>
                <a:cs typeface="Courier New"/>
                <a:sym typeface="Courier New"/>
              </a:rPr>
              <a:t>One2many</a:t>
            </a:r>
            <a:r>
              <a:rPr lang="fr-FR" sz="1400"/>
              <a:t> : tableau imbriqué qui crée plutôt qu'il ne cherche</a:t>
            </a:r>
            <a:endParaRPr b="1" sz="1400">
              <a:solidFill>
                <a:schemeClr val="accent6"/>
              </a:solidFill>
            </a:endParaRPr>
          </a:p>
          <a:p>
            <a:pPr indent="-23495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fr-FR" sz="1400"/>
              <a:t>Attributs utiles : </a:t>
            </a:r>
            <a:r>
              <a:rPr b="1" lang="fr-FR" sz="1400">
                <a:latin typeface="Courier New"/>
                <a:ea typeface="Courier New"/>
                <a:cs typeface="Courier New"/>
                <a:sym typeface="Courier New"/>
              </a:rPr>
              <a:t>domain</a:t>
            </a:r>
            <a:r>
              <a:rPr lang="fr-FR" sz="1400"/>
              <a:t> (restreint les choix), </a:t>
            </a:r>
            <a:r>
              <a:rPr b="1" lang="fr-FR" sz="1400">
                <a:latin typeface="Courier New"/>
                <a:ea typeface="Courier New"/>
                <a:cs typeface="Courier New"/>
                <a:sym typeface="Courier New"/>
              </a:rPr>
              <a:t>context</a:t>
            </a:r>
            <a:r>
              <a:rPr lang="fr-FR" sz="1400"/>
              <a:t> (valeurs par défaut à la création)</a:t>
            </a:r>
            <a:endParaRPr b="1" sz="1400">
              <a:solidFill>
                <a:schemeClr val="accent6"/>
              </a:solidFill>
            </a:endParaRPr>
          </a:p>
        </p:txBody>
      </p:sp>
      <p:sp>
        <p:nvSpPr>
          <p:cNvPr id="597" name="Google Shape;597;p26"/>
          <p:cNvSpPr txBox="1"/>
          <p:nvPr>
            <p:ph idx="4" type="body"/>
          </p:nvPr>
        </p:nvSpPr>
        <p:spPr>
          <a:xfrm>
            <a:off x="5381625" y="2162174"/>
            <a:ext cx="3678225" cy="3762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495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fr-FR" sz="1400"/>
              <a:t>Crée une table de jonction PostgreSQL avec 2 clés étrangères</a:t>
            </a:r>
            <a:endParaRPr b="1" sz="1400">
              <a:solidFill>
                <a:schemeClr val="accent6"/>
              </a:solidFill>
            </a:endParaRPr>
          </a:p>
          <a:p>
            <a:pPr indent="-23495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fr-FR" sz="1400"/>
              <a:t>1 seul argument obligatoire : </a:t>
            </a:r>
            <a:r>
              <a:rPr b="1" lang="fr-FR" sz="1400">
                <a:latin typeface="Courier New"/>
                <a:ea typeface="Courier New"/>
                <a:cs typeface="Courier New"/>
                <a:sym typeface="Courier New"/>
              </a:rPr>
              <a:t>comodel_name</a:t>
            </a:r>
            <a:r>
              <a:rPr lang="fr-FR" sz="1400"/>
              <a:t> (column1/column2/relation optionnels)</a:t>
            </a:r>
            <a:endParaRPr b="1" sz="1400">
              <a:solidFill>
                <a:schemeClr val="accent6"/>
              </a:solidFill>
            </a:endParaRPr>
          </a:p>
          <a:p>
            <a:pPr indent="-23495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fr-FR" sz="1400"/>
              <a:t>Widgets : </a:t>
            </a:r>
            <a:r>
              <a:rPr b="1" lang="fr-FR" sz="1400">
                <a:latin typeface="Courier New"/>
                <a:ea typeface="Courier New"/>
                <a:cs typeface="Courier New"/>
                <a:sym typeface="Courier New"/>
              </a:rPr>
              <a:t>many2many_tags</a:t>
            </a:r>
            <a:r>
              <a:rPr lang="fr-FR" sz="1400"/>
              <a:t>, </a:t>
            </a:r>
            <a:r>
              <a:rPr b="1" lang="fr-FR" sz="1400">
                <a:latin typeface="Courier New"/>
                <a:ea typeface="Courier New"/>
                <a:cs typeface="Courier New"/>
                <a:sym typeface="Courier New"/>
              </a:rPr>
              <a:t>one2many</a:t>
            </a:r>
            <a:r>
              <a:rPr lang="fr-FR" sz="1400"/>
              <a:t> en liste inline</a:t>
            </a:r>
            <a:endParaRPr b="1" sz="1400">
              <a:solidFill>
                <a:schemeClr val="accent6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accent6"/>
              </a:solidFill>
            </a:endParaRPr>
          </a:p>
        </p:txBody>
      </p:sp>
      <p:sp>
        <p:nvSpPr>
          <p:cNvPr id="598" name="Google Shape;598;p26"/>
          <p:cNvSpPr txBox="1"/>
          <p:nvPr>
            <p:ph idx="3" type="body"/>
          </p:nvPr>
        </p:nvSpPr>
        <p:spPr>
          <a:xfrm>
            <a:off x="5162646" y="1283494"/>
            <a:ext cx="3332041" cy="689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fr-FR"/>
              <a:t>Many2many (N-N)</a:t>
            </a:r>
            <a:endParaRPr/>
          </a:p>
        </p:txBody>
      </p:sp>
      <p:sp>
        <p:nvSpPr>
          <p:cNvPr id="599" name="Google Shape;599;p26"/>
          <p:cNvSpPr/>
          <p:nvPr/>
        </p:nvSpPr>
        <p:spPr>
          <a:xfrm>
            <a:off x="4250986" y="1381327"/>
            <a:ext cx="468000" cy="468000"/>
          </a:xfrm>
          <a:prstGeom prst="ellipse">
            <a:avLst/>
          </a:prstGeom>
          <a:solidFill>
            <a:srgbClr val="F1E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00" name="Google Shape;600;p26"/>
          <p:cNvSpPr/>
          <p:nvPr/>
        </p:nvSpPr>
        <p:spPr>
          <a:xfrm>
            <a:off x="8648916" y="1394154"/>
            <a:ext cx="468000" cy="468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f83fd878ef_0_434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Many2one, One2many, Many2many</a:t>
            </a:r>
            <a:endParaRPr/>
          </a:p>
        </p:txBody>
      </p:sp>
      <p:sp>
        <p:nvSpPr>
          <p:cNvPr id="606" name="Google Shape;606;g3f83fd878ef_0_434"/>
          <p:cNvSpPr txBox="1"/>
          <p:nvPr>
            <p:ph idx="1" type="body"/>
          </p:nvPr>
        </p:nvSpPr>
        <p:spPr>
          <a:xfrm>
            <a:off x="766251" y="1286867"/>
            <a:ext cx="3407400" cy="6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fr-FR"/>
              <a:t>Many2one (N→1) / One2many (1→N)</a:t>
            </a:r>
            <a:endParaRPr/>
          </a:p>
        </p:txBody>
      </p:sp>
      <p:sp>
        <p:nvSpPr>
          <p:cNvPr id="607" name="Google Shape;607;g3f83fd878ef_0_434"/>
          <p:cNvSpPr txBox="1"/>
          <p:nvPr>
            <p:ph idx="3" type="body"/>
          </p:nvPr>
        </p:nvSpPr>
        <p:spPr>
          <a:xfrm>
            <a:off x="5162646" y="1283494"/>
            <a:ext cx="3332100" cy="689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fr-FR"/>
              <a:t>Many2many (N-N)</a:t>
            </a:r>
            <a:endParaRPr/>
          </a:p>
        </p:txBody>
      </p:sp>
      <p:sp>
        <p:nvSpPr>
          <p:cNvPr id="608" name="Google Shape;608;g3f83fd878ef_0_434"/>
          <p:cNvSpPr/>
          <p:nvPr/>
        </p:nvSpPr>
        <p:spPr>
          <a:xfrm>
            <a:off x="4250986" y="1381327"/>
            <a:ext cx="468000" cy="468000"/>
          </a:xfrm>
          <a:prstGeom prst="ellipse">
            <a:avLst/>
          </a:prstGeom>
          <a:solidFill>
            <a:srgbClr val="F1E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09" name="Google Shape;609;g3f83fd878ef_0_434"/>
          <p:cNvSpPr/>
          <p:nvPr/>
        </p:nvSpPr>
        <p:spPr>
          <a:xfrm>
            <a:off x="8648916" y="1394154"/>
            <a:ext cx="468000" cy="468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10" name="Google Shape;610;g3f83fd878ef_0_434"/>
          <p:cNvSpPr txBox="1"/>
          <p:nvPr/>
        </p:nvSpPr>
        <p:spPr>
          <a:xfrm>
            <a:off x="681050" y="2554925"/>
            <a:ext cx="4145100" cy="8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category_id = fields.Many2one(</a:t>
            </a:r>
            <a:endParaRPr sz="12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comodel_name="library.book.category"</a:t>
            </a:r>
            <a:endParaRPr sz="12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11" name="Google Shape;611;g3f83fd878ef_0_434"/>
          <p:cNvSpPr txBox="1"/>
          <p:nvPr/>
        </p:nvSpPr>
        <p:spPr>
          <a:xfrm>
            <a:off x="711363" y="4216325"/>
            <a:ext cx="4145100" cy="14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book_ids = fields.One2many(</a:t>
            </a:r>
            <a:endParaRPr sz="12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comodel_name="library.book",</a:t>
            </a:r>
            <a:endParaRPr sz="12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inverse_name="category_id",</a:t>
            </a:r>
            <a:endParaRPr sz="12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string="Livres"</a:t>
            </a:r>
            <a:endParaRPr sz="12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12" name="Google Shape;612;g3f83fd878ef_0_434"/>
          <p:cNvSpPr txBox="1"/>
          <p:nvPr/>
        </p:nvSpPr>
        <p:spPr>
          <a:xfrm>
            <a:off x="5148175" y="2669900"/>
            <a:ext cx="4145100" cy="14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book_ids = fields.One2many(</a:t>
            </a:r>
            <a:endParaRPr sz="12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comodel_name="library.book",</a:t>
            </a:r>
            <a:endParaRPr sz="12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inverse_name="category_id",</a:t>
            </a:r>
            <a:endParaRPr sz="12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string="Livres"</a:t>
            </a:r>
            <a:endParaRPr sz="12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13" name="Google Shape;613;g3f83fd878ef_0_434"/>
          <p:cNvSpPr txBox="1"/>
          <p:nvPr>
            <p:ph idx="2" type="body"/>
          </p:nvPr>
        </p:nvSpPr>
        <p:spPr>
          <a:xfrm>
            <a:off x="766250" y="2143125"/>
            <a:ext cx="3896700" cy="3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fr-FR" sz="1300"/>
              <a:t>Sur </a:t>
            </a:r>
            <a:r>
              <a:rPr b="1" lang="fr-FR" sz="1300"/>
              <a:t>library.book :</a:t>
            </a:r>
            <a:endParaRPr b="1" sz="1300">
              <a:solidFill>
                <a:schemeClr val="accent6"/>
              </a:solidFill>
            </a:endParaRPr>
          </a:p>
        </p:txBody>
      </p:sp>
      <p:sp>
        <p:nvSpPr>
          <p:cNvPr id="614" name="Google Shape;614;g3f83fd878ef_0_434"/>
          <p:cNvSpPr txBox="1"/>
          <p:nvPr>
            <p:ph idx="2" type="body"/>
          </p:nvPr>
        </p:nvSpPr>
        <p:spPr>
          <a:xfrm>
            <a:off x="766250" y="3856275"/>
            <a:ext cx="3896700" cy="3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fr-FR" sz="1300"/>
              <a:t>Sur </a:t>
            </a:r>
            <a:r>
              <a:rPr b="1" lang="fr-FR" sz="1300"/>
              <a:t>library.book.category :</a:t>
            </a:r>
            <a:endParaRPr b="1" sz="1300">
              <a:solidFill>
                <a:schemeClr val="accent6"/>
              </a:solidFill>
            </a:endParaRPr>
          </a:p>
        </p:txBody>
      </p:sp>
      <p:sp>
        <p:nvSpPr>
          <p:cNvPr id="615" name="Google Shape;615;g3f83fd878ef_0_434"/>
          <p:cNvSpPr txBox="1"/>
          <p:nvPr>
            <p:ph idx="2" type="body"/>
          </p:nvPr>
        </p:nvSpPr>
        <p:spPr>
          <a:xfrm>
            <a:off x="5162650" y="2163513"/>
            <a:ext cx="3896700" cy="3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fr-FR" sz="1300"/>
              <a:t>Par exemple sur</a:t>
            </a:r>
            <a:r>
              <a:rPr lang="fr-FR" sz="1300"/>
              <a:t> </a:t>
            </a:r>
            <a:r>
              <a:rPr b="1" lang="fr-FR" sz="1300"/>
              <a:t>res.partner</a:t>
            </a:r>
            <a:r>
              <a:rPr b="1" lang="fr-FR" sz="1300"/>
              <a:t> :</a:t>
            </a:r>
            <a:endParaRPr b="1" sz="130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f83fd878ef_0_450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fr-FR"/>
              <a:t>A vous de jouer !</a:t>
            </a:r>
            <a:br>
              <a:rPr lang="fr-FR"/>
            </a:br>
            <a:r>
              <a:rPr lang="fr-FR"/>
              <a:t>Catégories et Etiquettes de livres</a:t>
            </a:r>
            <a:endParaRPr/>
          </a:p>
        </p:txBody>
      </p:sp>
      <p:pic>
        <p:nvPicPr>
          <p:cNvPr id="621" name="Google Shape;621;g3f83fd878ef_0_4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056" y="1416349"/>
            <a:ext cx="1120314" cy="1295140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g3f83fd878ef_0_450"/>
          <p:cNvSpPr txBox="1"/>
          <p:nvPr/>
        </p:nvSpPr>
        <p:spPr>
          <a:xfrm>
            <a:off x="1963325" y="1528425"/>
            <a:ext cx="7183800" cy="4086600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Créer le nouveau modèle </a:t>
            </a: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library.book.category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avec uniquement 2 champs : </a:t>
            </a: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name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et </a:t>
            </a: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books_ids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(</a:t>
            </a: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O2m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ahoma"/>
              <a:buAutoNum type="arabicPeriod"/>
            </a:pP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Tester l'UI de création des livres et catégories</a:t>
            </a:r>
            <a:endParaRPr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Aide</a:t>
            </a:r>
            <a:endParaRPr b="1"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N'oubliez pas tous les prérequis nécessaires :</a:t>
            </a:r>
            <a:endParaRPr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ahoma"/>
              <a:buChar char="●"/>
            </a:pP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entrée de menu</a:t>
            </a:r>
            <a:endParaRPr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ahoma"/>
              <a:buChar char="●"/>
            </a:pP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action</a:t>
            </a:r>
            <a:endParaRPr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ahoma"/>
              <a:buChar char="●"/>
            </a:pP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droits d'accès</a:t>
            </a:r>
            <a:endParaRPr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Créer un autre modèle </a:t>
            </a: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library.book.tag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indépendant de la hiérarchie de catégories, avec uniquement un champ </a:t>
            </a: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name</a:t>
            </a:r>
            <a:endParaRPr b="1"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Définir un </a:t>
            </a: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Many2many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vers ce modèle depuis </a:t>
            </a: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library.book</a:t>
            </a:r>
            <a:endParaRPr b="1"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ahoma"/>
              <a:buChar char="●"/>
            </a:pP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Tester l'UI</a:t>
            </a:r>
            <a:endParaRPr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623" name="Google Shape;623;g3f83fd878ef_0_4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056" y="4268999"/>
            <a:ext cx="1120314" cy="1295140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g3f83fd878ef_0_450"/>
          <p:cNvSpPr txBox="1"/>
          <p:nvPr/>
        </p:nvSpPr>
        <p:spPr>
          <a:xfrm>
            <a:off x="407363" y="5520150"/>
            <a:ext cx="1667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Exercice bonus</a:t>
            </a:r>
            <a:endParaRPr b="1"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25" name="Google Shape;625;g3f83fd878ef_0_450"/>
          <p:cNvSpPr txBox="1"/>
          <p:nvPr/>
        </p:nvSpPr>
        <p:spPr>
          <a:xfrm>
            <a:off x="407363" y="2711500"/>
            <a:ext cx="1667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Exercice</a:t>
            </a:r>
            <a:endParaRPr b="1"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f8a5c5757b_0_274"/>
          <p:cNvSpPr txBox="1"/>
          <p:nvPr>
            <p:ph type="title"/>
          </p:nvPr>
        </p:nvSpPr>
        <p:spPr>
          <a:xfrm>
            <a:off x="4588662" y="803277"/>
            <a:ext cx="4822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Partage / Remédiation</a:t>
            </a:r>
            <a:endParaRPr/>
          </a:p>
        </p:txBody>
      </p:sp>
      <p:sp>
        <p:nvSpPr>
          <p:cNvPr id="631" name="Google Shape;631;g3f8a5c5757b_0_274"/>
          <p:cNvSpPr txBox="1"/>
          <p:nvPr/>
        </p:nvSpPr>
        <p:spPr>
          <a:xfrm>
            <a:off x="4588662" y="1900000"/>
            <a:ext cx="48225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Qu'est-ce qui a bloqué ? Qu'est-ce qui a bien fonctionné 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Un volontaire partage son écran (2-3 min)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fr-FR" sz="1600"/>
              <a:t>Correction : </a:t>
            </a:r>
            <a:r>
              <a:rPr b="1" lang="fr-FR" sz="1600">
                <a:latin typeface="Courier New"/>
                <a:ea typeface="Courier New"/>
                <a:cs typeface="Courier New"/>
                <a:sym typeface="Courier New"/>
              </a:rPr>
              <a:t>chapter_06_relational_fields</a:t>
            </a:r>
            <a:endParaRPr sz="16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f83fd878ef_0_341"/>
          <p:cNvSpPr txBox="1"/>
          <p:nvPr>
            <p:ph type="title"/>
          </p:nvPr>
        </p:nvSpPr>
        <p:spPr>
          <a:xfrm>
            <a:off x="285750" y="2334723"/>
            <a:ext cx="4822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Chapitre 7 (16h00 - 17h00)</a:t>
            </a:r>
            <a:endParaRPr/>
          </a:p>
        </p:txBody>
      </p:sp>
      <p:sp>
        <p:nvSpPr>
          <p:cNvPr id="637" name="Google Shape;637;g3f83fd878ef_0_341"/>
          <p:cNvSpPr txBox="1"/>
          <p:nvPr>
            <p:ph idx="1" type="body"/>
          </p:nvPr>
        </p:nvSpPr>
        <p:spPr>
          <a:xfrm>
            <a:off x="285750" y="3192950"/>
            <a:ext cx="4713300" cy="19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fr-FR"/>
              <a:t>Vues </a:t>
            </a:r>
            <a:r>
              <a:rPr b="1" lang="fr-FR"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fr-FR"/>
              <a:t> </a:t>
            </a:r>
            <a:r>
              <a:rPr lang="fr-FR"/>
              <a:t>et </a:t>
            </a:r>
            <a:r>
              <a:rPr b="1" lang="fr-FR">
                <a:latin typeface="Courier New"/>
                <a:ea typeface="Courier New"/>
                <a:cs typeface="Courier New"/>
                <a:sym typeface="Courier New"/>
              </a:rPr>
              <a:t>form</a:t>
            </a:r>
            <a:r>
              <a:rPr lang="fr-FR"/>
              <a:t>, et </a:t>
            </a:r>
            <a:r>
              <a:rPr b="1" lang="fr-FR"/>
              <a:t>Actions de fen</a:t>
            </a:r>
            <a:r>
              <a:rPr b="1" lang="fr-FR"/>
              <a:t>être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fr-FR"/>
              <a:t>🎯 </a:t>
            </a:r>
            <a:r>
              <a:rPr lang="fr-FR"/>
              <a:t>Personnaliser l’ergonomie en utilisant les vues et widgets prédéfinies du framework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3f8a5c5757b_0_299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Les vues</a:t>
            </a:r>
            <a:endParaRPr/>
          </a:p>
        </p:txBody>
      </p:sp>
      <p:sp>
        <p:nvSpPr>
          <p:cNvPr id="643" name="Google Shape;643;g3f8a5c5757b_0_299"/>
          <p:cNvSpPr txBox="1"/>
          <p:nvPr/>
        </p:nvSpPr>
        <p:spPr>
          <a:xfrm>
            <a:off x="432950" y="998075"/>
            <a:ext cx="9023700" cy="10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fr-FR"/>
              <a:t>Héritage : toujours définir des vues minimums (non auto-générées)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fr-FR"/>
              <a:t>Principale difficulté : de connaître fonctionnellement les ergonomies standards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fr-FR"/>
              <a:t>Bible : </a:t>
            </a:r>
            <a:r>
              <a:rPr lang="fr-FR" u="sng">
                <a:solidFill>
                  <a:schemeClr val="hlink"/>
                </a:solidFill>
                <a:hlinkClick r:id="rId3"/>
              </a:rPr>
              <a:t>https://www.odoo.com/documentation/19.0/fr/developer/reference/user_interface/view_architectures.html</a:t>
            </a:r>
            <a:r>
              <a:rPr lang="fr-FR"/>
              <a:t> </a:t>
            </a:r>
            <a:endParaRPr/>
          </a:p>
        </p:txBody>
      </p:sp>
      <p:graphicFrame>
        <p:nvGraphicFramePr>
          <p:cNvPr id="644" name="Google Shape;644;g3f8a5c5757b_0_299"/>
          <p:cNvGraphicFramePr/>
          <p:nvPr/>
        </p:nvGraphicFramePr>
        <p:xfrm>
          <a:off x="432950" y="2146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{96AE6E51-4A5E-41A3-BEF3-BEBD5F100DFB}</a:tableStyleId>
              </a:tblPr>
              <a:tblGrid>
                <a:gridCol w="2499600"/>
                <a:gridCol w="6451875"/>
              </a:tblGrid>
              <a:tr h="200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>
                          <a:solidFill>
                            <a:schemeClr val="lt1"/>
                          </a:solidFill>
                        </a:rPr>
                        <a:t>Type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8803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8803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8803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8803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>
                          <a:solidFill>
                            <a:schemeClr val="lt1"/>
                          </a:solidFill>
                        </a:rPr>
                        <a:t>Usage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8803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8803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8803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8803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761D"/>
                    </a:solidFill>
                  </a:tcPr>
                </a:tc>
              </a:tr>
              <a:tr h="30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list</a:t>
                      </a:r>
                      <a:r>
                        <a:rPr b="1" lang="fr-FR"/>
                        <a:t> </a:t>
                      </a:r>
                      <a:r>
                        <a:rPr lang="fr-FR"/>
                        <a:t>(ancien. “tree”)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18803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/>
                        <a:t>Visualiser et/ou éditer.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/>
                        <a:t>Cliquer sur 1 ligne ouvre la vue Form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18803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>
                        <a:alpha val="70000"/>
                      </a:srgbClr>
                    </a:solidFill>
                  </a:tcPr>
                </a:tc>
              </a:tr>
              <a:tr h="200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form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/>
                        <a:t>Afficher 1 record (OWL + HTML)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>
                        <a:alpha val="70000"/>
                      </a:srgbClr>
                    </a:solidFill>
                  </a:tcPr>
                </a:tc>
              </a:tr>
              <a:tr h="200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search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/>
                        <a:t>Configure le panneau de recherche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>
                        <a:alpha val="70000"/>
                      </a:srgbClr>
                    </a:solidFill>
                  </a:tcPr>
                </a:tc>
              </a:tr>
              <a:tr h="200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kanban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/>
                        <a:t>Tableau de carte (~</a:t>
                      </a:r>
                      <a:r>
                        <a:rPr lang="fr-FR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List</a:t>
                      </a:r>
                      <a:r>
                        <a:rPr lang="fr-FR"/>
                        <a:t>/</a:t>
                      </a:r>
                      <a:r>
                        <a:rPr lang="fr-FR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Form</a:t>
                      </a:r>
                      <a:r>
                        <a:rPr lang="fr-FR"/>
                        <a:t>). En </a:t>
                      </a:r>
                      <a:r>
                        <a:rPr lang="fr-FR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Qweb</a:t>
                      </a:r>
                      <a:r>
                        <a:rPr lang="fr-FR"/>
                        <a:t>.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>
                        <a:alpha val="70000"/>
                      </a:srgbClr>
                    </a:solidFill>
                  </a:tcPr>
                </a:tc>
              </a:tr>
              <a:tr h="200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pivot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/>
                        <a:t>Tableau croisé dynamique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>
                        <a:alpha val="70000"/>
                      </a:srgbClr>
                    </a:solidFill>
                  </a:tcPr>
                </a:tc>
              </a:tr>
              <a:tr h="200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graph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/>
                        <a:t>Graphique (courbes, barres, …)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>
                        <a:alpha val="70000"/>
                      </a:srgbClr>
                    </a:solidFill>
                  </a:tcPr>
                </a:tc>
              </a:tr>
              <a:tr h="200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calendar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/>
                        <a:t>Calendrier (jour, mois, …)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>
                        <a:alpha val="70000"/>
                      </a:srgbClr>
                    </a:solidFill>
                  </a:tcPr>
                </a:tc>
              </a:tr>
              <a:tr h="200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hierarchy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/>
                        <a:t>Ex : organigrame d’entreprise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>
                        <a:alpha val="70000"/>
                      </a:srgbClr>
                    </a:solidFill>
                  </a:tcPr>
                </a:tc>
              </a:tr>
              <a:tr h="200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activity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/>
                        <a:t>Tableau “todo list”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>
                        <a:alpha val="7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45" name="Google Shape;645;g3f8a5c5757b_0_299"/>
          <p:cNvSpPr txBox="1"/>
          <p:nvPr/>
        </p:nvSpPr>
        <p:spPr>
          <a:xfrm>
            <a:off x="432950" y="6413825"/>
            <a:ext cx="902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fr-FR"/>
              <a:t>Vues “Entreprise” : </a:t>
            </a:r>
            <a:r>
              <a:rPr lang="fr-FR">
                <a:latin typeface="Courier New"/>
                <a:ea typeface="Courier New"/>
                <a:cs typeface="Courier New"/>
                <a:sym typeface="Courier New"/>
              </a:rPr>
              <a:t>Cohort</a:t>
            </a:r>
            <a:r>
              <a:rPr lang="fr-FR"/>
              <a:t>, </a:t>
            </a:r>
            <a:r>
              <a:rPr lang="fr-FR">
                <a:latin typeface="Courier New"/>
                <a:ea typeface="Courier New"/>
                <a:cs typeface="Courier New"/>
                <a:sym typeface="Courier New"/>
              </a:rPr>
              <a:t>Gridd</a:t>
            </a:r>
            <a:r>
              <a:rPr lang="fr-FR"/>
              <a:t>, </a:t>
            </a:r>
            <a:r>
              <a:rPr lang="fr-FR">
                <a:latin typeface="Courier New"/>
                <a:ea typeface="Courier New"/>
                <a:cs typeface="Courier New"/>
                <a:sym typeface="Courier New"/>
              </a:rPr>
              <a:t>Gantt</a:t>
            </a:r>
            <a:r>
              <a:rPr lang="fr-FR"/>
              <a:t> (équivalent OCA : </a:t>
            </a:r>
            <a:r>
              <a:rPr lang="fr-FR"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fr-FR">
                <a:latin typeface="Courier New"/>
                <a:ea typeface="Courier New"/>
                <a:cs typeface="Courier New"/>
                <a:sym typeface="Courier New"/>
              </a:rPr>
              <a:t>imeline</a:t>
            </a:r>
            <a:r>
              <a:rPr lang="fr-FR"/>
              <a:t>), </a:t>
            </a:r>
            <a:r>
              <a:rPr lang="fr-FR">
                <a:latin typeface="Courier New"/>
                <a:ea typeface="Courier New"/>
                <a:cs typeface="Courier New"/>
                <a:sym typeface="Courier New"/>
              </a:rPr>
              <a:t>Map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3f8a5c5757b_0_318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Créer une vue</a:t>
            </a:r>
            <a:endParaRPr/>
          </a:p>
        </p:txBody>
      </p:sp>
      <p:sp>
        <p:nvSpPr>
          <p:cNvPr id="651" name="Google Shape;651;g3f8a5c5757b_0_318"/>
          <p:cNvSpPr txBox="1"/>
          <p:nvPr/>
        </p:nvSpPr>
        <p:spPr>
          <a:xfrm>
            <a:off x="432950" y="998075"/>
            <a:ext cx="90237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fr-FR"/>
              <a:t>Comme </a:t>
            </a:r>
            <a:r>
              <a:rPr lang="fr-FR">
                <a:latin typeface="Courier New"/>
                <a:ea typeface="Courier New"/>
                <a:cs typeface="Courier New"/>
                <a:sym typeface="Courier New"/>
              </a:rPr>
              <a:t>ir.actions.act_window</a:t>
            </a:r>
            <a:r>
              <a:rPr lang="fr-FR"/>
              <a:t> → des records classique dans un fichier.xml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Font typeface="Courier New"/>
              <a:buChar char="●"/>
            </a:pPr>
            <a:r>
              <a:rPr lang="fr-FR">
                <a:solidFill>
                  <a:schemeClr val="dk1"/>
                </a:solidFill>
              </a:rPr>
              <a:t>La </a:t>
            </a:r>
            <a:r>
              <a:rPr b="1" lang="fr-FR">
                <a:solidFill>
                  <a:schemeClr val="dk1"/>
                </a:solidFill>
              </a:rPr>
              <a:t>balise racine</a:t>
            </a:r>
            <a:r>
              <a:rPr lang="fr-FR">
                <a:solidFill>
                  <a:schemeClr val="dk1"/>
                </a:solidFill>
              </a:rPr>
              <a:t> à l’intérieur l’argument </a:t>
            </a:r>
            <a:r>
              <a:rPr b="1"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arch</a:t>
            </a:r>
            <a:r>
              <a:rPr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-FR">
                <a:solidFill>
                  <a:schemeClr val="dk1"/>
                </a:solidFill>
              </a:rPr>
              <a:t>qui défini le type de la vue, ex : </a:t>
            </a:r>
            <a:r>
              <a:rPr b="1"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&lt;list&gt;</a:t>
            </a:r>
            <a:r>
              <a:rPr b="1" lang="fr-FR">
                <a:solidFill>
                  <a:schemeClr val="dk1"/>
                </a:solidFill>
              </a:rPr>
              <a:t>, </a:t>
            </a:r>
            <a:r>
              <a:rPr b="1"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&lt;form&gt;</a:t>
            </a:r>
            <a:r>
              <a:rPr b="1" lang="fr-FR">
                <a:solidFill>
                  <a:schemeClr val="dk1"/>
                </a:solidFill>
              </a:rPr>
              <a:t>, …</a:t>
            </a:r>
            <a:endParaRPr b="1">
              <a:solidFill>
                <a:schemeClr val="dk1"/>
              </a:solidFill>
            </a:endParaRPr>
          </a:p>
        </p:txBody>
      </p:sp>
      <p:graphicFrame>
        <p:nvGraphicFramePr>
          <p:cNvPr id="652" name="Google Shape;652;g3f8a5c5757b_0_318"/>
          <p:cNvGraphicFramePr/>
          <p:nvPr/>
        </p:nvGraphicFramePr>
        <p:xfrm>
          <a:off x="432950" y="22117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{3EDB087D-598B-4024-8A61-DCB6C5ED28FB}</a:tableStyleId>
              </a:tblPr>
              <a:tblGrid>
                <a:gridCol w="1363675"/>
                <a:gridCol w="695200"/>
                <a:gridCol w="6698100"/>
              </a:tblGrid>
              <a:tr h="223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fr-FR">
                          <a:solidFill>
                            <a:schemeClr val="dk1"/>
                          </a:solidFill>
                        </a:rPr>
                        <a:t>Champ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fr-FR">
                          <a:solidFill>
                            <a:schemeClr val="dk1"/>
                          </a:solidFill>
                        </a:rPr>
                        <a:t>Type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fr-FR">
                          <a:solidFill>
                            <a:schemeClr val="dk1"/>
                          </a:solidFill>
                        </a:rPr>
                        <a:t>Rôle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4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name</a:t>
                      </a:r>
                      <a:endParaRPr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>
                          <a:solidFill>
                            <a:schemeClr val="dk1"/>
                          </a:solidFill>
                        </a:rPr>
                        <a:t>Char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>
                          <a:solidFill>
                            <a:schemeClr val="dk1"/>
                          </a:solidFill>
                        </a:rPr>
                        <a:t>Nom technique, convention : </a:t>
                      </a:r>
                      <a:r>
                        <a:rPr b="1" lang="fr-FR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mon.modele.type[.inherited]</a:t>
                      </a:r>
                      <a:r>
                        <a:rPr lang="fr-FR">
                          <a:solidFill>
                            <a:schemeClr val="dk1"/>
                          </a:solidFill>
                        </a:rPr>
                        <a:t> où :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b="1" lang="fr-FR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type</a:t>
                      </a:r>
                      <a:r>
                        <a:rPr lang="fr-FR">
                          <a:solidFill>
                            <a:schemeClr val="dk1"/>
                          </a:solidFill>
                        </a:rPr>
                        <a:t> : type de vue (list, form, …)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b="1" lang="fr-FR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inherited</a:t>
                      </a:r>
                      <a:r>
                        <a:rPr lang="fr-FR">
                          <a:solidFill>
                            <a:schemeClr val="dk1"/>
                          </a:solidFill>
                        </a:rPr>
                        <a:t> : nom raccourci du module héritant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model</a:t>
                      </a:r>
                      <a:endParaRPr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>
                          <a:solidFill>
                            <a:schemeClr val="dk1"/>
                          </a:solidFill>
                        </a:rPr>
                        <a:t>Char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>
                          <a:solidFill>
                            <a:schemeClr val="dk1"/>
                          </a:solidFill>
                        </a:rPr>
                        <a:t>Le nom technique du modèle affiché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9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arch</a:t>
                      </a:r>
                      <a:endParaRPr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>
                          <a:solidFill>
                            <a:schemeClr val="dk1"/>
                          </a:solidFill>
                        </a:rPr>
                        <a:t>XML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>
                          <a:solidFill>
                            <a:schemeClr val="dk1"/>
                          </a:solidFill>
                        </a:rPr>
                        <a:t>Le squelette de la vue : sera parsé par l’ORM pour produire du HTML/OWL</a:t>
                      </a:r>
                      <a:br>
                        <a:rPr lang="fr-FR">
                          <a:solidFill>
                            <a:schemeClr val="dk1"/>
                          </a:solidFill>
                        </a:rPr>
                      </a:br>
                      <a:r>
                        <a:rPr lang="fr-FR">
                          <a:solidFill>
                            <a:schemeClr val="dk1"/>
                          </a:solidFill>
                        </a:rPr>
                        <a:t>Commence par la balise racine : </a:t>
                      </a:r>
                      <a:r>
                        <a:rPr lang="fr-FR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&lt;list&gt;, &lt;form&gt;</a:t>
                      </a:r>
                      <a:r>
                        <a:rPr lang="fr-FR">
                          <a:solidFill>
                            <a:schemeClr val="dk1"/>
                          </a:solidFill>
                        </a:rPr>
                        <a:t>, … (sauf en cas d’héritage)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inherit_id</a:t>
                      </a:r>
                      <a:endParaRPr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>
                          <a:solidFill>
                            <a:schemeClr val="dk1"/>
                          </a:solidFill>
                        </a:rPr>
                        <a:t>M2o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>
                          <a:solidFill>
                            <a:schemeClr val="dk1"/>
                          </a:solidFill>
                        </a:rPr>
                        <a:t>XML ID de la vue héritée </a:t>
                      </a:r>
                      <a:r>
                        <a:rPr i="1" lang="fr-FR">
                          <a:solidFill>
                            <a:schemeClr val="dk1"/>
                          </a:solidFill>
                        </a:rPr>
                        <a:t>(optionnel)</a:t>
                      </a:r>
                      <a:endParaRPr i="1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653" name="Google Shape;653;g3f8a5c5757b_0_318"/>
          <p:cNvSpPr txBox="1"/>
          <p:nvPr/>
        </p:nvSpPr>
        <p:spPr>
          <a:xfrm>
            <a:off x="432950" y="1750482"/>
            <a:ext cx="8757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Principaux champs du modèle </a:t>
            </a: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ir.ui.view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:</a:t>
            </a:r>
            <a:endParaRPr/>
          </a:p>
        </p:txBody>
      </p:sp>
      <p:sp>
        <p:nvSpPr>
          <p:cNvPr id="654" name="Google Shape;654;g3f8a5c5757b_0_318"/>
          <p:cNvSpPr txBox="1"/>
          <p:nvPr/>
        </p:nvSpPr>
        <p:spPr>
          <a:xfrm>
            <a:off x="468125" y="4951446"/>
            <a:ext cx="8757000" cy="1847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&lt;record </a:t>
            </a:r>
            <a:r>
              <a:rPr b="1"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="</a:t>
            </a:r>
            <a:r>
              <a:rPr lang="fr-FR" sz="135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view_module_model_list</a:t>
            </a:r>
            <a:r>
              <a:rPr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 </a:t>
            </a:r>
            <a:r>
              <a:rPr b="1"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model</a:t>
            </a:r>
            <a:r>
              <a:rPr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="</a:t>
            </a:r>
            <a:r>
              <a:rPr lang="fr-FR" sz="135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ir.ui.view</a:t>
            </a:r>
            <a:r>
              <a:rPr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"&gt;</a:t>
            </a:r>
            <a:endParaRPr sz="13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&lt;field name="</a:t>
            </a:r>
            <a:r>
              <a:rPr b="1"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"&gt;</a:t>
            </a:r>
            <a:r>
              <a:rPr lang="fr-FR" sz="135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my.model.list</a:t>
            </a:r>
            <a:r>
              <a:rPr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&lt;/field&gt;</a:t>
            </a:r>
            <a:endParaRPr sz="13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&lt;field name="</a:t>
            </a:r>
            <a:r>
              <a:rPr b="1"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model</a:t>
            </a:r>
            <a:r>
              <a:rPr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"&gt;</a:t>
            </a:r>
            <a:r>
              <a:rPr lang="fr-FR" sz="135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my.model</a:t>
            </a:r>
            <a:r>
              <a:rPr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&lt;/field&gt;</a:t>
            </a:r>
            <a:endParaRPr sz="13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&lt;field name="</a:t>
            </a:r>
            <a:r>
              <a:rPr b="1"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inherit_id</a:t>
            </a:r>
            <a:r>
              <a:rPr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 ref="</a:t>
            </a:r>
            <a:r>
              <a:rPr lang="fr-FR" sz="135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my_module.view_module_model_list</a:t>
            </a:r>
            <a:r>
              <a:rPr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 /&gt;</a:t>
            </a:r>
            <a:endParaRPr sz="13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&lt;field name="</a:t>
            </a:r>
            <a:r>
              <a:rPr b="1"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arch</a:t>
            </a:r>
            <a:r>
              <a:rPr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 type="xml"&gt;</a:t>
            </a:r>
            <a:endParaRPr sz="13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</a:t>
            </a:r>
            <a:r>
              <a:rPr b="1" lang="fr-FR" sz="1350">
                <a:solidFill>
                  <a:srgbClr val="38761D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&lt;list&gt;...&lt;/list&gt;</a:t>
            </a:r>
            <a:endParaRPr b="1" sz="1350">
              <a:solidFill>
                <a:srgbClr val="38761D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&lt;/field&gt;</a:t>
            </a:r>
            <a:endParaRPr sz="13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&lt;/record&gt;</a:t>
            </a:r>
            <a:endParaRPr sz="13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3f8a5c5757b_0_360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fr-FR"/>
              <a:t>Anatomie d’une vue </a:t>
            </a:r>
            <a:r>
              <a:rPr lang="fr-FR"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fr-FR"/>
              <a:t> (</a:t>
            </a:r>
            <a:r>
              <a:rPr lang="fr-FR"/>
              <a:t>1/3</a:t>
            </a:r>
            <a:r>
              <a:rPr lang="fr-FR"/>
              <a:t>) :</a:t>
            </a:r>
            <a:br>
              <a:rPr lang="fr-FR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fr-FR"/>
              <a:t>les </a:t>
            </a:r>
            <a:r>
              <a:rPr lang="fr-FR"/>
              <a:t>attributs racines (principaux)</a:t>
            </a:r>
            <a:endParaRPr/>
          </a:p>
        </p:txBody>
      </p:sp>
      <p:graphicFrame>
        <p:nvGraphicFramePr>
          <p:cNvPr id="660" name="Google Shape;660;g3f8a5c5757b_0_360"/>
          <p:cNvGraphicFramePr/>
          <p:nvPr/>
        </p:nvGraphicFramePr>
        <p:xfrm>
          <a:off x="432950" y="9757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{3EDB087D-598B-4024-8A61-DCB6C5ED28FB}</a:tableStyleId>
              </a:tblPr>
              <a:tblGrid>
                <a:gridCol w="1636825"/>
                <a:gridCol w="1118375"/>
                <a:gridCol w="6311325"/>
              </a:tblGrid>
              <a:tr h="257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fr-FR" sz="1450">
                          <a:solidFill>
                            <a:schemeClr val="dk1"/>
                          </a:solidFill>
                        </a:rPr>
                        <a:t>Attribut</a:t>
                      </a:r>
                      <a:endParaRPr b="1" sz="14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fr-FR" sz="1450">
                          <a:solidFill>
                            <a:schemeClr val="dk1"/>
                          </a:solidFill>
                        </a:rPr>
                        <a:t>Valeurs</a:t>
                      </a:r>
                      <a:endParaRPr b="1" sz="14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fr-FR" sz="1450">
                          <a:solidFill>
                            <a:schemeClr val="dk1"/>
                          </a:solidFill>
                        </a:rPr>
                        <a:t>Effet</a:t>
                      </a:r>
                      <a:endParaRPr b="1" sz="14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string</a:t>
                      </a:r>
                      <a:endParaRPr b="1"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‘’</a:t>
                      </a:r>
                      <a:endParaRPr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Utilisé si “</a:t>
                      </a:r>
                      <a:r>
                        <a:rPr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name</a:t>
                      </a: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” de l’action appelante est vide (rare)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default_order</a:t>
                      </a:r>
                      <a:endParaRPr b="1"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‘id ASC’</a:t>
                      </a:r>
                      <a:endParaRPr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Outre passe l’arg </a:t>
                      </a: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_order</a:t>
                      </a: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 sur le modèle. Clause “</a:t>
                      </a: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ORDER BY</a:t>
                      </a: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” en SQL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edit</a:t>
                      </a:r>
                      <a:endParaRPr b="1"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1, 0</a:t>
                      </a:r>
                      <a:endParaRPr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Modifier les records sélectionner (peu utilisé)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multi_edit</a:t>
                      </a:r>
                      <a:endParaRPr b="1"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1, 0</a:t>
                      </a:r>
                      <a:endParaRPr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Modifier en masse les records sélectionnés (avec la m</a:t>
                      </a: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ême valeur)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editable</a:t>
                      </a:r>
                      <a:endParaRPr b="1"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top</a:t>
                      </a: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, </a:t>
                      </a:r>
                      <a:r>
                        <a:rPr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bottom</a:t>
                      </a: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 ou </a:t>
                      </a:r>
                      <a:r>
                        <a:rPr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‘’</a:t>
                      </a:r>
                      <a:endParaRPr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Bypass la vue Form : </a:t>
                      </a: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Créer et modifier un record sans cliquer sur la ligne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open_form_view</a:t>
                      </a:r>
                      <a:endParaRPr b="1"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1, 0</a:t>
                      </a:r>
                      <a:endParaRPr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Bouton “Ouvrir” en dernière colonne pour ouvrir la vue Form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create</a:t>
                      </a:r>
                      <a:endParaRPr b="1"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1, 0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Affiche / cache le bouton </a:t>
                      </a:r>
                      <a:r>
                        <a:rPr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[+ Nouveau]</a:t>
                      </a:r>
                      <a:endParaRPr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delete</a:t>
                      </a:r>
                      <a:endParaRPr b="1"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1, 0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Affiche / cache l’action “</a:t>
                      </a:r>
                      <a:r>
                        <a:rPr i="1" lang="fr-FR" sz="1200">
                          <a:solidFill>
                            <a:schemeClr val="dk1"/>
                          </a:solidFill>
                        </a:rPr>
                        <a:t>Supprimer</a:t>
                      </a: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”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decoration</a:t>
                      </a:r>
                      <a:r>
                        <a:rPr b="1" lang="fr-FR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-&lt;style&gt;</a:t>
                      </a:r>
                      <a:endParaRPr b="1"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Python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&lt;style&gt; : </a:t>
                      </a:r>
                      <a:r>
                        <a:rPr lang="fr-FR" sz="12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bf</a:t>
                      </a: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 (bold), </a:t>
                      </a:r>
                      <a:r>
                        <a:rPr lang="fr-FR" sz="12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it</a:t>
                      </a: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 (italic), </a:t>
                      </a:r>
                      <a:r>
                        <a:rPr lang="fr-FR" sz="12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info</a:t>
                      </a: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, </a:t>
                      </a:r>
                      <a:r>
                        <a:rPr lang="fr-FR" sz="12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warning</a:t>
                      </a: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, </a:t>
                      </a:r>
                      <a:r>
                        <a:rPr lang="fr-FR" sz="12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danger</a:t>
                      </a: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, </a:t>
                      </a:r>
                      <a:r>
                        <a:rPr lang="fr-FR" sz="12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muted</a:t>
                      </a: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, </a:t>
                      </a:r>
                      <a:r>
                        <a:rPr lang="fr-FR" sz="12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primary</a:t>
                      </a: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, et </a:t>
                      </a:r>
                      <a:r>
                        <a:rPr lang="fr-FR" sz="12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success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5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import, export_xlsx</a:t>
                      </a:r>
                      <a:endParaRPr b="1" sz="1200"/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1, 0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Autoriser l’export / l’import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5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expand</a:t>
                      </a:r>
                      <a:endParaRPr b="1"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1, 0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Quand la vue est grouppée, si le 1er niveau devrait être déroulé (uniquement 1er niveau)</a:t>
                      </a:r>
                      <a:br>
                        <a:rPr lang="fr-FR" sz="1200">
                          <a:solidFill>
                            <a:schemeClr val="dk1"/>
                          </a:solidFill>
                        </a:rPr>
                      </a:b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Très pratique mais peut être lent si beaucoup de groupe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661" name="Google Shape;661;g3f8a5c5757b_0_360"/>
          <p:cNvSpPr txBox="1"/>
          <p:nvPr/>
        </p:nvSpPr>
        <p:spPr>
          <a:xfrm>
            <a:off x="432950" y="6442025"/>
            <a:ext cx="9066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u="sng">
                <a:solidFill>
                  <a:schemeClr val="hlink"/>
                </a:solidFill>
                <a:hlinkClick r:id="rId3"/>
              </a:rPr>
              <a:t>https://www.odoo.com/documentation/19.0/fr/developer/reference/user_interface/view_architectures.html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3f8a5c5757b_0_376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fr-FR"/>
              <a:t>Anatomie d’une vue </a:t>
            </a:r>
            <a:r>
              <a:rPr lang="fr-FR"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fr-FR"/>
              <a:t> (2/3) :</a:t>
            </a:r>
            <a:br>
              <a:rPr lang="fr-FR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fr-FR"/>
              <a:t>les noeuds (ou “composants”)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667" name="Google Shape;667;g3f8a5c5757b_0_376"/>
          <p:cNvGraphicFramePr/>
          <p:nvPr/>
        </p:nvGraphicFramePr>
        <p:xfrm>
          <a:off x="432950" y="25773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{3EDB087D-598B-4024-8A61-DCB6C5ED28FB}</a:tableStyleId>
              </a:tblPr>
              <a:tblGrid>
                <a:gridCol w="1232225"/>
                <a:gridCol w="7724575"/>
              </a:tblGrid>
              <a:tr h="412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fr-FR" sz="1450">
                          <a:solidFill>
                            <a:schemeClr val="dk1"/>
                          </a:solidFill>
                        </a:rPr>
                        <a:t>Composant</a:t>
                      </a:r>
                      <a:endParaRPr b="1" sz="14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fr-FR" sz="1450">
                          <a:solidFill>
                            <a:schemeClr val="dk1"/>
                          </a:solidFill>
                        </a:rPr>
                        <a:t>Fonction</a:t>
                      </a:r>
                      <a:endParaRPr b="1" sz="14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715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i="1" lang="fr-FR" sz="1200">
                          <a:solidFill>
                            <a:schemeClr val="dk1"/>
                          </a:solidFill>
                        </a:rPr>
                        <a:t>Agissant sur les lignes</a:t>
                      </a:r>
                      <a:endParaRPr b="1" i="1" sz="120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 hMerge="1"/>
              </a:tr>
              <a:tr h="377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fr-FR" sz="1200">
                          <a:solidFill>
                            <a:srgbClr val="38761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field</a:t>
                      </a:r>
                      <a:endParaRPr b="1" sz="1200">
                        <a:solidFill>
                          <a:srgbClr val="38761D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200">
                          <a:solidFill>
                            <a:srgbClr val="38761D"/>
                          </a:solidFill>
                        </a:rPr>
                        <a:t>Afficher une colonne : très largement le plus utilisé de </a:t>
                      </a:r>
                      <a:r>
                        <a:rPr lang="fr-FR" sz="1200">
                          <a:solidFill>
                            <a:srgbClr val="38761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&lt;list&gt;</a:t>
                      </a:r>
                      <a:endParaRPr sz="1200">
                        <a:solidFill>
                          <a:srgbClr val="38761D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7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button</a:t>
                      </a:r>
                      <a:endParaRPr b="1"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Affiche un bouton d’action sur la ligne (~field)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0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groupby</a:t>
                      </a:r>
                      <a:endParaRPr b="1"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Quand les records sont grouppés, permet d’afficher des boutons d’actions sur le grouppement</a:t>
                      </a:r>
                      <a:br>
                        <a:rPr lang="fr-FR" sz="1200">
                          <a:solidFill>
                            <a:schemeClr val="dk1"/>
                          </a:solidFill>
                        </a:rPr>
                      </a:b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Ex : quand on groupe les livres par catégories, bouton “Modifier la catégorie” dans la vue liste des livres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715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i="1" lang="fr-FR" sz="1200">
                          <a:solidFill>
                            <a:schemeClr val="dk1"/>
                          </a:solidFill>
                        </a:rPr>
                        <a:t>Agissant sur le control panel (i.e. qui contient la vue &lt;search&gt;)</a:t>
                      </a:r>
                      <a:endParaRPr b="1" i="1" sz="120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 hMerge="1"/>
              </a:tr>
              <a:tr h="570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header</a:t>
                      </a:r>
                      <a:endParaRPr b="1"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Pour afficher des boutons qui peuvent agir sur les lignes sélectionnés.</a:t>
                      </a:r>
                      <a:br>
                        <a:rPr lang="fr-FR" sz="1200">
                          <a:solidFill>
                            <a:schemeClr val="dk1"/>
                          </a:solidFill>
                        </a:rPr>
                      </a:b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Nouvelle possibilité </a:t>
                      </a: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display=”always”</a:t>
                      </a: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 très utile !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6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control</a:t>
                      </a:r>
                      <a:endParaRPr b="1"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Personalise les actions de </a:t>
                      </a:r>
                      <a:r>
                        <a:rPr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create</a:t>
                      </a: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 et </a:t>
                      </a:r>
                      <a:r>
                        <a:rPr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delete</a:t>
                      </a: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. Rare : uniquement dans les vues listes imbriquées (champs O2m et M2M). Exemples : dans les lignes de commandes / factures, boutons textuels “</a:t>
                      </a:r>
                      <a:r>
                        <a:rPr i="1" lang="fr-FR" sz="1200">
                          <a:solidFill>
                            <a:schemeClr val="dk1"/>
                          </a:solidFill>
                        </a:rPr>
                        <a:t>Ajouter une ligne</a:t>
                      </a: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”, “</a:t>
                      </a:r>
                      <a:r>
                        <a:rPr i="1" lang="fr-FR" sz="1200">
                          <a:solidFill>
                            <a:schemeClr val="dk1"/>
                          </a:solidFill>
                        </a:rPr>
                        <a:t>Ajouter une section</a:t>
                      </a: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”, …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68" name="Google Shape;668;g3f8a5c5757b_0_376"/>
          <p:cNvSpPr txBox="1"/>
          <p:nvPr/>
        </p:nvSpPr>
        <p:spPr>
          <a:xfrm>
            <a:off x="432950" y="1297689"/>
            <a:ext cx="89568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>
                <a:solidFill>
                  <a:schemeClr val="dk1"/>
                </a:solidFill>
              </a:rPr>
              <a:t>Les composants sont les balises à l’intérieur de &lt;list&gt;, &lt;form&gt;, &lt;search&gt;, &lt;kanban&gt;, …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>
                <a:solidFill>
                  <a:schemeClr val="dk1"/>
                </a:solidFill>
              </a:rPr>
              <a:t>Ils varient donc selon la vue, avec beaucoup de similarité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>
                <a:solidFill>
                  <a:schemeClr val="dk1"/>
                </a:solidFill>
              </a:rPr>
              <a:t>Priorité d’apprentissage : composant </a:t>
            </a:r>
            <a:r>
              <a:rPr b="1"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&lt;field /&gt;</a:t>
            </a:r>
            <a:r>
              <a:rPr lang="fr-FR">
                <a:solidFill>
                  <a:schemeClr val="dk1"/>
                </a:solidFill>
              </a:rPr>
              <a:t> et ses arguments (largement le plus utilisé) et les attributs racines. Les autres composants sont plus attypiques.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f8a5c5757b_0_395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fr-FR"/>
              <a:t>Anatomie d’une vue </a:t>
            </a:r>
            <a:r>
              <a:rPr lang="fr-FR">
                <a:latin typeface="Courier New"/>
                <a:ea typeface="Courier New"/>
                <a:cs typeface="Courier New"/>
                <a:sym typeface="Courier New"/>
              </a:rPr>
              <a:t>form</a:t>
            </a:r>
            <a:r>
              <a:rPr lang="fr-FR"/>
              <a:t> (1/2) :</a:t>
            </a:r>
            <a:br>
              <a:rPr lang="fr-FR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fr-FR"/>
              <a:t>les composants</a:t>
            </a:r>
            <a:endParaRPr/>
          </a:p>
        </p:txBody>
      </p:sp>
      <p:graphicFrame>
        <p:nvGraphicFramePr>
          <p:cNvPr id="674" name="Google Shape;674;g3f8a5c5757b_0_395"/>
          <p:cNvGraphicFramePr/>
          <p:nvPr/>
        </p:nvGraphicFramePr>
        <p:xfrm>
          <a:off x="398911" y="231887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{3EDB087D-598B-4024-8A61-DCB6C5ED28FB}</a:tableStyleId>
              </a:tblPr>
              <a:tblGrid>
                <a:gridCol w="1232225"/>
                <a:gridCol w="7724575"/>
              </a:tblGrid>
              <a:tr h="412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fr-FR" sz="1450">
                          <a:solidFill>
                            <a:schemeClr val="dk1"/>
                          </a:solidFill>
                        </a:rPr>
                        <a:t>Composant</a:t>
                      </a:r>
                      <a:endParaRPr b="1" sz="14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fr-FR" sz="1450">
                          <a:solidFill>
                            <a:schemeClr val="dk1"/>
                          </a:solidFill>
                        </a:rPr>
                        <a:t>Fonction</a:t>
                      </a:r>
                      <a:endParaRPr b="1" sz="14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7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field</a:t>
                      </a:r>
                      <a:endParaRPr b="1"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Arguments s</a:t>
                      </a: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imilaire à </a:t>
                      </a: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&lt;list&gt;</a:t>
                      </a: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. Ceux utiles en plus :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-3048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id</a:t>
                      </a: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 : notamment pour faciliter l’héritage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-3048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string</a:t>
                      </a: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 : outre passe </a:t>
                      </a: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string</a:t>
                      </a: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 de l’ORM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-3048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nolabel</a:t>
                      </a: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 : explicite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-3048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help</a:t>
                      </a: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 : tooltip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-3048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options</a:t>
                      </a: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 : selon le widget, pour le personaliser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-3048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domain</a:t>
                      </a: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 et </a:t>
                      </a: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context</a:t>
                      </a: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 : pour les champs relationnels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-3048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class</a:t>
                      </a:r>
                      <a:r>
                        <a:rPr b="1" lang="fr-FR" sz="1200">
                          <a:solidFill>
                            <a:schemeClr val="dk1"/>
                          </a:solidFill>
                        </a:rPr>
                        <a:t> : </a:t>
                      </a: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style CSS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-3048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mode</a:t>
                      </a: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 : pour x2many (list, form, kanban, graph). Sur smartphone : Kanban par défaut</a:t>
                      </a:r>
                      <a:endParaRPr b="1"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7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label</a:t>
                      </a:r>
                      <a:endParaRPr b="1"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Affiche le </a:t>
                      </a: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&lt;label&gt; </a:t>
                      </a: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d’un champ</a:t>
                      </a: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, utile pour personnaliser sa position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button</a:t>
                      </a:r>
                      <a:endParaRPr b="1"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Explicite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Autres</a:t>
                      </a:r>
                      <a:endParaRPr b="1"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Chatter et Attachments preview : voir doc.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75" name="Google Shape;675;g3f8a5c5757b_0_395"/>
          <p:cNvSpPr txBox="1"/>
          <p:nvPr/>
        </p:nvSpPr>
        <p:spPr>
          <a:xfrm>
            <a:off x="432950" y="1156825"/>
            <a:ext cx="9023700" cy="10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Font typeface="Courier New"/>
              <a:buChar char="●"/>
            </a:pPr>
            <a:r>
              <a:rPr lang="fr-FR"/>
              <a:t>La vue </a:t>
            </a:r>
            <a:r>
              <a:rPr b="1"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&lt;form&gt;</a:t>
            </a:r>
            <a:r>
              <a:rPr b="1" lang="fr-FR">
                <a:solidFill>
                  <a:schemeClr val="dk1"/>
                </a:solidFill>
              </a:rPr>
              <a:t> </a:t>
            </a:r>
            <a:r>
              <a:rPr lang="fr-FR">
                <a:solidFill>
                  <a:schemeClr val="dk1"/>
                </a:solidFill>
              </a:rPr>
              <a:t>a quelques </a:t>
            </a:r>
            <a:r>
              <a:rPr i="1" lang="fr-FR">
                <a:solidFill>
                  <a:schemeClr val="dk1"/>
                </a:solidFill>
              </a:rPr>
              <a:t>Root attributes</a:t>
            </a:r>
            <a:r>
              <a:rPr lang="fr-FR">
                <a:solidFill>
                  <a:schemeClr val="dk1"/>
                </a:solidFill>
              </a:rPr>
              <a:t> mais peu souvent utilisés : voir la doc si besoin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>
                <a:solidFill>
                  <a:schemeClr val="dk1"/>
                </a:solidFill>
              </a:rPr>
              <a:t>Les composants sont proche de la vue</a:t>
            </a:r>
            <a:r>
              <a:rPr b="1" lang="fr-FR">
                <a:solidFill>
                  <a:schemeClr val="dk1"/>
                </a:solidFill>
              </a:rPr>
              <a:t> </a:t>
            </a:r>
            <a:r>
              <a:rPr b="1"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&lt;tree&gt;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●"/>
            </a:pPr>
            <a:r>
              <a:rPr lang="fr-FR">
                <a:solidFill>
                  <a:schemeClr val="dk1"/>
                </a:solidFill>
              </a:rPr>
              <a:t>Le plus important sont les </a:t>
            </a:r>
            <a:r>
              <a:rPr b="1" lang="fr-FR">
                <a:solidFill>
                  <a:schemeClr val="dk1"/>
                </a:solidFill>
              </a:rPr>
              <a:t>composants de structure</a:t>
            </a:r>
            <a:r>
              <a:rPr lang="fr-FR">
                <a:solidFill>
                  <a:schemeClr val="dk1"/>
                </a:solidFill>
              </a:rPr>
              <a:t> (page suivante) pour formatter la page à souhait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3f8a5c5757b_0_412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fr-FR"/>
              <a:t>Anatomie d’une vue </a:t>
            </a:r>
            <a:r>
              <a:rPr lang="fr-FR">
                <a:latin typeface="Courier New"/>
                <a:ea typeface="Courier New"/>
                <a:cs typeface="Courier New"/>
                <a:sym typeface="Courier New"/>
              </a:rPr>
              <a:t>form</a:t>
            </a:r>
            <a:r>
              <a:rPr lang="fr-FR"/>
              <a:t> (2/2) :</a:t>
            </a:r>
            <a:br>
              <a:rPr lang="fr-FR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fr-FR"/>
              <a:t>les composants de structure</a:t>
            </a:r>
            <a:endParaRPr/>
          </a:p>
        </p:txBody>
      </p:sp>
      <p:graphicFrame>
        <p:nvGraphicFramePr>
          <p:cNvPr id="681" name="Google Shape;681;g3f8a5c5757b_0_412"/>
          <p:cNvGraphicFramePr/>
          <p:nvPr/>
        </p:nvGraphicFramePr>
        <p:xfrm>
          <a:off x="398911" y="9241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{3EDB087D-598B-4024-8A61-DCB6C5ED28FB}</a:tableStyleId>
              </a:tblPr>
              <a:tblGrid>
                <a:gridCol w="1232225"/>
                <a:gridCol w="7724575"/>
              </a:tblGrid>
              <a:tr h="412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fr-FR" sz="1450">
                          <a:solidFill>
                            <a:schemeClr val="dk1"/>
                          </a:solidFill>
                        </a:rPr>
                        <a:t>Structure</a:t>
                      </a:r>
                      <a:endParaRPr b="1" sz="14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fr-FR" sz="1450">
                          <a:solidFill>
                            <a:schemeClr val="dk1"/>
                          </a:solidFill>
                        </a:rPr>
                        <a:t>Fonction</a:t>
                      </a:r>
                      <a:endParaRPr b="1" sz="14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7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&lt;header&gt;</a:t>
                      </a:r>
                      <a:endParaRPr b="1"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Boutons d’entête (à gauche, à côté de </a:t>
                      </a: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[+ Nouveau]</a:t>
                      </a: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) et widget </a:t>
                      </a: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statusbar</a:t>
                      </a:r>
                      <a:endParaRPr b="1"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>
                          <a:solidFill>
                            <a:schemeClr val="dk1"/>
                          </a:solidFill>
                          <a:highlight>
                            <a:srgbClr val="EFEFE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&lt;header&gt;</a:t>
                      </a:r>
                      <a:endParaRPr sz="1000">
                        <a:solidFill>
                          <a:schemeClr val="dk1"/>
                        </a:solidFill>
                        <a:highlight>
                          <a:srgbClr val="EFEFE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>
                          <a:solidFill>
                            <a:schemeClr val="dk1"/>
                          </a:solidFill>
                          <a:highlight>
                            <a:srgbClr val="EFEFE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&lt;button string="Reset" type="object" name="set_draft" invisible="state != 'done'" /&gt;</a:t>
                      </a:r>
                      <a:endParaRPr sz="1000">
                        <a:solidFill>
                          <a:schemeClr val="dk1"/>
                        </a:solidFill>
                        <a:highlight>
                          <a:srgbClr val="EFEFE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>
                          <a:solidFill>
                            <a:schemeClr val="dk1"/>
                          </a:solidFill>
                          <a:highlight>
                            <a:srgbClr val="EFEFE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&lt;field name="state" </a:t>
                      </a:r>
                      <a:r>
                        <a:rPr b="1" lang="fr-FR" sz="1000">
                          <a:solidFill>
                            <a:schemeClr val="dk1"/>
                          </a:solidFill>
                          <a:highlight>
                            <a:srgbClr val="EFEFE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widget="statusbar"</a:t>
                      </a:r>
                      <a:r>
                        <a:rPr lang="fr-FR" sz="1000">
                          <a:solidFill>
                            <a:schemeClr val="dk1"/>
                          </a:solidFill>
                          <a:highlight>
                            <a:srgbClr val="EFEFE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/&gt;</a:t>
                      </a:r>
                      <a:endParaRPr sz="1000">
                        <a:solidFill>
                          <a:schemeClr val="dk1"/>
                        </a:solidFill>
                        <a:highlight>
                          <a:srgbClr val="EFEFE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>
                          <a:solidFill>
                            <a:schemeClr val="dk1"/>
                          </a:solidFill>
                          <a:highlight>
                            <a:srgbClr val="EFEFE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&lt;/header&gt;</a:t>
                      </a:r>
                      <a:endParaRPr sz="1000">
                        <a:solidFill>
                          <a:schemeClr val="dk1"/>
                        </a:solidFill>
                        <a:highlight>
                          <a:srgbClr val="EFEFE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5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&lt;sheet&gt;</a:t>
                      </a:r>
                      <a:endParaRPr b="1"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Corps de page responsive (majoritairement utilisé) : tout le contenu sauf </a:t>
                      </a: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&lt;header&gt;</a:t>
                      </a: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 et </a:t>
                      </a: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&lt;footer&gt;</a:t>
                      </a: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 est à l’intérieur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&lt;footer&gt;</a:t>
                      </a:r>
                      <a:endParaRPr b="1"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Uniquement sur wizzard, boutons de pied de page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>
                          <a:solidFill>
                            <a:schemeClr val="dk1"/>
                          </a:solidFill>
                          <a:highlight>
                            <a:srgbClr val="EFEFE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&lt;footer&gt;</a:t>
                      </a:r>
                      <a:endParaRPr sz="1000">
                        <a:solidFill>
                          <a:schemeClr val="dk1"/>
                        </a:solidFill>
                        <a:highlight>
                          <a:srgbClr val="EFEFE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>
                          <a:solidFill>
                            <a:schemeClr val="dk1"/>
                          </a:solidFill>
                          <a:highlight>
                            <a:srgbClr val="EFEFE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&lt;button string="Save" special="save"/&gt;</a:t>
                      </a:r>
                      <a:endParaRPr sz="1000">
                        <a:solidFill>
                          <a:schemeClr val="dk1"/>
                        </a:solidFill>
                        <a:highlight>
                          <a:srgbClr val="EFEFE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>
                          <a:solidFill>
                            <a:schemeClr val="dk1"/>
                          </a:solidFill>
                          <a:highlight>
                            <a:srgbClr val="EFEFE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&lt;button string="Feature action" type="object" name="my_action" class="btn-primary"/&gt;</a:t>
                      </a:r>
                      <a:endParaRPr sz="1000">
                        <a:solidFill>
                          <a:schemeClr val="dk1"/>
                        </a:solidFill>
                        <a:highlight>
                          <a:srgbClr val="EFEFE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>
                          <a:solidFill>
                            <a:schemeClr val="dk1"/>
                          </a:solidFill>
                          <a:highlight>
                            <a:srgbClr val="EFEFE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&lt;button string="Discard" special="cancel"/&gt;</a:t>
                      </a:r>
                      <a:endParaRPr sz="1000">
                        <a:solidFill>
                          <a:schemeClr val="dk1"/>
                        </a:solidFill>
                        <a:highlight>
                          <a:srgbClr val="EFEFE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>
                          <a:solidFill>
                            <a:schemeClr val="dk1"/>
                          </a:solidFill>
                          <a:highlight>
                            <a:srgbClr val="EFEFE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&lt;/footer&gt;</a:t>
                      </a:r>
                      <a:endParaRPr sz="1000">
                        <a:solidFill>
                          <a:schemeClr val="dk1"/>
                        </a:solidFill>
                        <a:highlight>
                          <a:srgbClr val="EFEFE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button_box</a:t>
                      </a:r>
                      <a:endParaRPr b="1"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Smart buttons, centrés en haut : statistiques et records “en relation” (ex : membres ayants empruntés un livre)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>
                          <a:solidFill>
                            <a:schemeClr val="dk1"/>
                          </a:solidFill>
                          <a:highlight>
                            <a:srgbClr val="EFEFE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&lt;div class="oe_button_box" name="button_box"&gt; ... &lt;/div&gt;</a:t>
                      </a:r>
                      <a:endParaRPr sz="1000">
                        <a:solidFill>
                          <a:schemeClr val="dk1"/>
                        </a:solidFill>
                        <a:highlight>
                          <a:srgbClr val="EFEFE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title</a:t>
                      </a:r>
                      <a:endParaRPr b="1"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>
                          <a:solidFill>
                            <a:schemeClr val="dk1"/>
                          </a:solidFill>
                          <a:highlight>
                            <a:srgbClr val="EFEFE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&lt;div class="oe_title"&gt;</a:t>
                      </a:r>
                      <a:endParaRPr sz="1000">
                        <a:solidFill>
                          <a:schemeClr val="dk1"/>
                        </a:solidFill>
                        <a:highlight>
                          <a:srgbClr val="EFEFE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>
                          <a:solidFill>
                            <a:schemeClr val="dk1"/>
                          </a:solidFill>
                          <a:highlight>
                            <a:srgbClr val="EFEFE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&lt;label for=”name” /&gt;</a:t>
                      </a:r>
                      <a:endParaRPr sz="1000">
                        <a:solidFill>
                          <a:schemeClr val="dk1"/>
                        </a:solidFill>
                        <a:highlight>
                          <a:srgbClr val="EFEFE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>
                          <a:solidFill>
                            <a:schemeClr val="dk1"/>
                          </a:solidFill>
                          <a:highlight>
                            <a:srgbClr val="EFEFE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&lt;h1&gt; &lt;field name=”name” placeholder=”Name ..." /&gt; &lt;/h1&gt;</a:t>
                      </a:r>
                      <a:endParaRPr sz="1000">
                        <a:solidFill>
                          <a:schemeClr val="dk1"/>
                        </a:solidFill>
                        <a:highlight>
                          <a:srgbClr val="EFEFE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>
                          <a:solidFill>
                            <a:schemeClr val="dk1"/>
                          </a:solidFill>
                          <a:highlight>
                            <a:srgbClr val="EFEFE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&lt;/div&gt;</a:t>
                      </a:r>
                      <a:endParaRPr sz="1200">
                        <a:solidFill>
                          <a:schemeClr val="dk1"/>
                        </a:solidFill>
                        <a:highlight>
                          <a:srgbClr val="EFEFEF"/>
                        </a:highlight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&lt;group&gt;</a:t>
                      </a:r>
                      <a:endParaRPr b="1"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Découpe la page en colonne. Les</a:t>
                      </a: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&lt;field /&gt; </a:t>
                      </a: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sont majoritairement dans des groupes</a:t>
                      </a:r>
                      <a:br>
                        <a:rPr lang="fr-FR" sz="1200">
                          <a:solidFill>
                            <a:schemeClr val="dk1"/>
                          </a:solidFill>
                        </a:rPr>
                      </a:b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col</a:t>
                      </a: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 et </a:t>
                      </a: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colspan</a:t>
                      </a: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 sur-écrivent la taille attendue / prise par un groupe.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>
                          <a:solidFill>
                            <a:schemeClr val="dk1"/>
                          </a:solidFill>
                          <a:highlight>
                            <a:srgbClr val="EFEFE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&lt;group name=”main”&gt;</a:t>
                      </a:r>
                      <a:endParaRPr sz="1000">
                        <a:solidFill>
                          <a:schemeClr val="dk1"/>
                        </a:solidFill>
                        <a:highlight>
                          <a:srgbClr val="EFEFE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>
                          <a:solidFill>
                            <a:schemeClr val="dk1"/>
                          </a:solidFill>
                          <a:highlight>
                            <a:srgbClr val="EFEFE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&lt;group name=”left”&gt; &lt;field name=”description” /&gt; &lt;/group&gt;</a:t>
                      </a:r>
                      <a:endParaRPr sz="1000">
                        <a:solidFill>
                          <a:schemeClr val="dk1"/>
                        </a:solidFill>
                        <a:highlight>
                          <a:srgbClr val="EFEFE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>
                          <a:solidFill>
                            <a:schemeClr val="dk1"/>
                          </a:solidFill>
                          <a:highlight>
                            <a:srgbClr val="EFEFE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&lt;group name=”right”&gt; &lt;field name=”date” /&gt; &lt;/group&gt;</a:t>
                      </a:r>
                      <a:endParaRPr sz="1000">
                        <a:solidFill>
                          <a:schemeClr val="dk1"/>
                        </a:solidFill>
                        <a:highlight>
                          <a:srgbClr val="EFEFE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>
                          <a:solidFill>
                            <a:schemeClr val="dk1"/>
                          </a:solidFill>
                          <a:highlight>
                            <a:srgbClr val="EFEFE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&lt;/group&gt;</a:t>
                      </a:r>
                      <a:endParaRPr sz="1000">
                        <a:solidFill>
                          <a:schemeClr val="dk1"/>
                        </a:solidFill>
                        <a:highlight>
                          <a:srgbClr val="EFEFE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&lt;notebook&gt;</a:t>
                      </a:r>
                      <a:endParaRPr b="1"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En combinaison avec </a:t>
                      </a: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&lt;page&gt;</a:t>
                      </a: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 à l’intérieur : section par onglet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3f8a5c5757b_0_426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Action de fenêtre : allons plus loin</a:t>
            </a:r>
            <a:endParaRPr/>
          </a:p>
        </p:txBody>
      </p:sp>
      <p:sp>
        <p:nvSpPr>
          <p:cNvPr id="687" name="Google Shape;687;g3f8a5c5757b_0_426"/>
          <p:cNvSpPr txBox="1"/>
          <p:nvPr/>
        </p:nvSpPr>
        <p:spPr>
          <a:xfrm>
            <a:off x="4741075" y="5123475"/>
            <a:ext cx="63045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688" name="Google Shape;688;g3f8a5c5757b_0_426"/>
          <p:cNvGraphicFramePr/>
          <p:nvPr/>
        </p:nvGraphicFramePr>
        <p:xfrm>
          <a:off x="468125" y="1735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{3EDB087D-598B-4024-8A61-DCB6C5ED28FB}</a:tableStyleId>
              </a:tblPr>
              <a:tblGrid>
                <a:gridCol w="1363675"/>
                <a:gridCol w="695200"/>
                <a:gridCol w="6698100"/>
              </a:tblGrid>
              <a:tr h="257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fr-FR" sz="1450">
                          <a:solidFill>
                            <a:schemeClr val="dk1"/>
                          </a:solidFill>
                        </a:rPr>
                        <a:t>Champ</a:t>
                      </a:r>
                      <a:endParaRPr b="1" sz="14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fr-FR" sz="1450">
                          <a:solidFill>
                            <a:schemeClr val="dk1"/>
                          </a:solidFill>
                        </a:rPr>
                        <a:t>Type</a:t>
                      </a:r>
                      <a:endParaRPr b="1" sz="14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fr-FR" sz="1450">
                          <a:solidFill>
                            <a:schemeClr val="dk1"/>
                          </a:solidFill>
                        </a:rPr>
                        <a:t>Rôle</a:t>
                      </a:r>
                      <a:endParaRPr b="1" sz="14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fr-FR" sz="14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view_mode</a:t>
                      </a:r>
                      <a:endParaRPr b="1" sz="14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450">
                          <a:solidFill>
                            <a:schemeClr val="dk1"/>
                          </a:solidFill>
                        </a:rPr>
                        <a:t>Char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450">
                          <a:solidFill>
                            <a:schemeClr val="dk1"/>
                          </a:solidFill>
                        </a:rPr>
                        <a:t>Liste ordonnée des types de vues à afficher</a:t>
                      </a:r>
                      <a:br>
                        <a:rPr lang="fr-FR" sz="1450">
                          <a:solidFill>
                            <a:schemeClr val="dk1"/>
                          </a:solidFill>
                        </a:rPr>
                      </a:br>
                      <a:r>
                        <a:rPr lang="fr-FR" sz="1450">
                          <a:solidFill>
                            <a:schemeClr val="dk1"/>
                          </a:solidFill>
                        </a:rPr>
                        <a:t>Exemple : </a:t>
                      </a:r>
                      <a:r>
                        <a:rPr b="1" lang="fr-FR" sz="14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’list,form’</a:t>
                      </a:r>
                      <a:endParaRPr b="1" sz="14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fr-FR" sz="14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domain</a:t>
                      </a:r>
                      <a:endParaRPr b="1" sz="14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450">
                          <a:solidFill>
                            <a:schemeClr val="dk1"/>
                          </a:solidFill>
                        </a:rPr>
                        <a:t>List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50">
                          <a:solidFill>
                            <a:schemeClr val="dk1"/>
                          </a:solidFill>
                        </a:rPr>
                        <a:t>Filtre SQL-like appliqué à l’action, pour filtrer les records affichés. Idem que l’attribut </a:t>
                      </a:r>
                      <a:r>
                        <a:rPr b="1" lang="fr-FR" sz="14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domain</a:t>
                      </a:r>
                      <a:r>
                        <a:rPr lang="fr-FR" sz="1450">
                          <a:solidFill>
                            <a:schemeClr val="dk1"/>
                          </a:solidFill>
                        </a:rPr>
                        <a:t> sur les </a:t>
                      </a:r>
                      <a:r>
                        <a:rPr b="1" lang="fr-FR" sz="14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&lt;field /&gt;</a:t>
                      </a:r>
                      <a:r>
                        <a:rPr lang="fr-FR" sz="1450">
                          <a:solidFill>
                            <a:schemeClr val="dk1"/>
                          </a:solidFill>
                        </a:rPr>
                        <a:t> relationels.</a:t>
                      </a:r>
                      <a:br>
                        <a:rPr lang="fr-FR" sz="1450">
                          <a:solidFill>
                            <a:schemeClr val="dk1"/>
                          </a:solidFill>
                        </a:rPr>
                      </a:br>
                      <a:r>
                        <a:rPr lang="fr-FR" sz="1450">
                          <a:solidFill>
                            <a:schemeClr val="dk1"/>
                          </a:solidFill>
                        </a:rPr>
                        <a:t>L’utilisateur </a:t>
                      </a:r>
                      <a:r>
                        <a:rPr lang="fr-FR" sz="1450" u="sng">
                          <a:solidFill>
                            <a:schemeClr val="dk1"/>
                          </a:solidFill>
                        </a:rPr>
                        <a:t>ne pourra pas jouer dessus</a:t>
                      </a:r>
                      <a:r>
                        <a:rPr lang="fr-FR" sz="1450">
                          <a:solidFill>
                            <a:schemeClr val="dk1"/>
                          </a:solidFill>
                        </a:rPr>
                        <a:t>.</a:t>
                      </a:r>
                      <a:br>
                        <a:rPr lang="fr-FR" sz="1450">
                          <a:solidFill>
                            <a:schemeClr val="dk1"/>
                          </a:solidFill>
                        </a:rPr>
                      </a:br>
                      <a:r>
                        <a:rPr lang="fr-FR" sz="1450">
                          <a:solidFill>
                            <a:schemeClr val="dk1"/>
                          </a:solidFill>
                        </a:rPr>
                        <a:t>Très utile pour créer 2 pages différentes avec la même vue, ex : </a:t>
                      </a:r>
                      <a:r>
                        <a:rPr i="1" lang="fr-FR" sz="1450">
                          <a:solidFill>
                            <a:schemeClr val="dk1"/>
                          </a:solidFill>
                        </a:rPr>
                        <a:t>factures clients</a:t>
                      </a:r>
                      <a:r>
                        <a:rPr lang="fr-FR" sz="1450">
                          <a:solidFill>
                            <a:schemeClr val="dk1"/>
                          </a:solidFill>
                        </a:rPr>
                        <a:t> vs </a:t>
                      </a:r>
                      <a:r>
                        <a:rPr i="1" lang="fr-FR" sz="1450">
                          <a:solidFill>
                            <a:schemeClr val="dk1"/>
                          </a:solidFill>
                        </a:rPr>
                        <a:t>factures fournisseurs</a:t>
                      </a:r>
                      <a:r>
                        <a:rPr lang="fr-FR" sz="1450">
                          <a:solidFill>
                            <a:schemeClr val="dk1"/>
                          </a:solidFill>
                        </a:rPr>
                        <a:t>.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450">
                          <a:solidFill>
                            <a:schemeClr val="dk1"/>
                          </a:solidFill>
                        </a:rPr>
                        <a:t>Exemple pour une page “</a:t>
                      </a:r>
                      <a:r>
                        <a:rPr i="1" lang="fr-FR" sz="1450">
                          <a:solidFill>
                            <a:schemeClr val="dk1"/>
                          </a:solidFill>
                        </a:rPr>
                        <a:t>Sorties à venir</a:t>
                      </a:r>
                      <a:r>
                        <a:rPr lang="fr-FR" sz="1450">
                          <a:solidFill>
                            <a:schemeClr val="dk1"/>
                          </a:solidFill>
                        </a:rPr>
                        <a:t>” : </a:t>
                      </a:r>
                      <a:r>
                        <a:rPr lang="fr-FR" sz="145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[("date_release", "&gt;", </a:t>
                      </a:r>
                      <a:r>
                        <a:rPr lang="fr-FR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today</a:t>
                      </a:r>
                      <a:r>
                        <a:rPr lang="fr-FR" sz="145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)]</a:t>
                      </a:r>
                      <a:endParaRPr sz="1450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fr-FR" sz="14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context</a:t>
                      </a:r>
                      <a:endParaRPr b="1" sz="14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fr-FR" sz="1450">
                          <a:solidFill>
                            <a:schemeClr val="dk1"/>
                          </a:solidFill>
                        </a:rPr>
                        <a:t>Dict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50">
                          <a:solidFill>
                            <a:schemeClr val="dk1"/>
                          </a:solidFill>
                        </a:rPr>
                        <a:t>Très utilisé, fonctionalités variées. Des clefs interprétées par l’ORM et OWL :</a:t>
                      </a:r>
                      <a:br>
                        <a:rPr lang="fr-FR" sz="14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</a:br>
                      <a:r>
                        <a:rPr lang="fr-FR" sz="14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{</a:t>
                      </a:r>
                      <a:endParaRPr sz="14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</a:t>
                      </a:r>
                      <a:r>
                        <a:rPr b="1" lang="fr-FR" sz="14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</a:t>
                      </a:r>
                      <a:r>
                        <a:rPr b="1" lang="fr-FR" sz="1450">
                          <a:solidFill>
                            <a:srgbClr val="38761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TYPE</a:t>
                      </a:r>
                      <a:r>
                        <a:rPr b="1" lang="fr-FR" sz="14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_view_ref'</a:t>
                      </a:r>
                      <a:r>
                        <a:rPr lang="fr-FR" sz="14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: 'XML_ID',</a:t>
                      </a:r>
                      <a:endParaRPr sz="14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'</a:t>
                      </a:r>
                      <a:r>
                        <a:rPr b="1" lang="fr-FR" sz="14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group_by</a:t>
                      </a:r>
                      <a:r>
                        <a:rPr lang="fr-FR" sz="14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': </a:t>
                      </a:r>
                      <a:r>
                        <a:rPr lang="fr-FR" sz="14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'field</a:t>
                      </a:r>
                      <a:r>
                        <a:rPr lang="fr-FR" sz="14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',</a:t>
                      </a:r>
                      <a:endParaRPr sz="14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'</a:t>
                      </a:r>
                      <a:r>
                        <a:rPr b="1" lang="fr-FR" sz="14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default_</a:t>
                      </a:r>
                      <a:r>
                        <a:rPr b="1" lang="fr-FR" sz="1450">
                          <a:solidFill>
                            <a:srgbClr val="38761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FIELD_NAME</a:t>
                      </a:r>
                      <a:r>
                        <a:rPr lang="fr-FR" sz="14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': anything,</a:t>
                      </a:r>
                      <a:endParaRPr sz="14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'</a:t>
                      </a:r>
                      <a:r>
                        <a:rPr b="1" lang="fr-FR" sz="14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search_default_</a:t>
                      </a:r>
                      <a:r>
                        <a:rPr b="1" lang="fr-FR" sz="1450">
                          <a:solidFill>
                            <a:srgbClr val="38761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FIELD_NAME</a:t>
                      </a:r>
                      <a:r>
                        <a:rPr lang="fr-FR" sz="14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': True,</a:t>
                      </a:r>
                      <a:endParaRPr sz="14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'</a:t>
                      </a:r>
                      <a:r>
                        <a:rPr b="1" lang="fr-FR" sz="1450">
                          <a:solidFill>
                            <a:srgbClr val="38761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OTHER_BUSINESS_KEY</a:t>
                      </a:r>
                      <a:r>
                        <a:rPr lang="fr-FR" sz="14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': anything,</a:t>
                      </a:r>
                      <a:endParaRPr sz="14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}</a:t>
                      </a:r>
                      <a:endParaRPr sz="14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689" name="Google Shape;689;g3f8a5c5757b_0_426"/>
          <p:cNvSpPr txBox="1"/>
          <p:nvPr/>
        </p:nvSpPr>
        <p:spPr>
          <a:xfrm>
            <a:off x="468125" y="1092800"/>
            <a:ext cx="8757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>
                <a:solidFill>
                  <a:schemeClr val="dk1"/>
                </a:solidFill>
              </a:rPr>
              <a:t>C</a:t>
            </a:r>
            <a:r>
              <a:rPr lang="fr-FR" sz="1500">
                <a:solidFill>
                  <a:schemeClr val="dk1"/>
                </a:solidFill>
              </a:rPr>
              <a:t>hamps plus avancés du modèle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ir.actions.act_window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: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3f8a5c5757b_0_336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fr-FR"/>
              <a:t>Comment prendre un compte le changement dans le code d’une vue ?</a:t>
            </a:r>
            <a:endParaRPr/>
          </a:p>
        </p:txBody>
      </p:sp>
      <p:sp>
        <p:nvSpPr>
          <p:cNvPr id="695" name="Google Shape;695;g3f8a5c5757b_0_336"/>
          <p:cNvSpPr txBox="1"/>
          <p:nvPr/>
        </p:nvSpPr>
        <p:spPr>
          <a:xfrm>
            <a:off x="441150" y="5827932"/>
            <a:ext cx="954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fr-FR" sz="4800"/>
              <a:t>ℹ️</a:t>
            </a:r>
            <a:endParaRPr sz="4800">
              <a:solidFill>
                <a:schemeClr val="dk1"/>
              </a:solidFill>
            </a:endParaRPr>
          </a:p>
        </p:txBody>
      </p:sp>
      <p:sp>
        <p:nvSpPr>
          <p:cNvPr id="696" name="Google Shape;696;g3f8a5c5757b_0_336"/>
          <p:cNvSpPr txBox="1"/>
          <p:nvPr/>
        </p:nvSpPr>
        <p:spPr>
          <a:xfrm>
            <a:off x="1286325" y="5997350"/>
            <a:ext cx="8296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click-odoo-update</a:t>
            </a:r>
            <a:r>
              <a:rPr lang="fr-FR">
                <a:solidFill>
                  <a:schemeClr val="dk1"/>
                </a:solidFill>
              </a:rPr>
              <a:t> : équivalent à </a:t>
            </a:r>
            <a:r>
              <a:rPr b="1"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odoo -u module1,module2,module3,...</a:t>
            </a:r>
            <a:r>
              <a:rPr lang="fr-FR">
                <a:solidFill>
                  <a:schemeClr val="dk1"/>
                </a:solidFill>
              </a:rPr>
              <a:t> si le hash des sources de </a:t>
            </a:r>
            <a:r>
              <a:rPr b="1"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module1-3</a:t>
            </a:r>
            <a:r>
              <a:rPr lang="fr-FR">
                <a:solidFill>
                  <a:schemeClr val="dk1"/>
                </a:solidFill>
              </a:rPr>
              <a:t> a été modifié (peu importe le fichier modifié : Python, XML, OWL, …)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97" name="Google Shape;697;g3f8a5c5757b_0_336"/>
          <p:cNvSpPr txBox="1"/>
          <p:nvPr/>
        </p:nvSpPr>
        <p:spPr>
          <a:xfrm>
            <a:off x="441150" y="977554"/>
            <a:ext cx="8757000" cy="19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fr-FR"/>
              <a:t>Apparté important pour </a:t>
            </a:r>
            <a:r>
              <a:rPr lang="fr-FR"/>
              <a:t>être efficace dans les tests d’ergonomie.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fr-FR"/>
              <a:t>La source du XML interprété par l’ORM pour produire du HTML est soit :</a:t>
            </a:r>
            <a:endParaRPr/>
          </a:p>
          <a:p>
            <a:pPr indent="-317500" lvl="1" marL="914400" rtl="0" algn="l">
              <a:spcBef>
                <a:spcPts val="200"/>
              </a:spcBef>
              <a:spcAft>
                <a:spcPts val="0"/>
              </a:spcAft>
              <a:buSzPts val="1400"/>
              <a:buChar char="○"/>
            </a:pPr>
            <a:r>
              <a:rPr lang="fr-FR"/>
              <a:t>le XML en base</a:t>
            </a:r>
            <a:endParaRPr/>
          </a:p>
          <a:p>
            <a:pPr indent="-317500" lvl="1" marL="914400" rtl="0" algn="l">
              <a:spcBef>
                <a:spcPts val="200"/>
              </a:spcBef>
              <a:spcAft>
                <a:spcPts val="0"/>
              </a:spcAft>
              <a:buSzPts val="1400"/>
              <a:buChar char="○"/>
            </a:pPr>
            <a:r>
              <a:rPr i="1" lang="fr-FR"/>
              <a:t>ou bien</a:t>
            </a:r>
            <a:r>
              <a:rPr lang="fr-FR"/>
              <a:t> le </a:t>
            </a:r>
            <a:r>
              <a:rPr lang="fr-FR" u="sng"/>
              <a:t>XML des fichiers</a:t>
            </a:r>
            <a:r>
              <a:rPr lang="fr-FR"/>
              <a:t> si odoo est lancé avec l’arg </a:t>
            </a:r>
            <a:r>
              <a:rPr b="1" lang="fr-FR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--</a:t>
            </a:r>
            <a:r>
              <a:rPr b="1" lang="fr-FR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dev=xml</a:t>
            </a:r>
            <a:r>
              <a:rPr lang="fr-FR"/>
              <a:t> (command line)</a:t>
            </a:r>
            <a:br>
              <a:rPr lang="fr-FR"/>
            </a:br>
            <a:r>
              <a:rPr lang="fr-FR"/>
              <a:t>⚠️ uniquement pour les vues déjà créées, et pas pour les </a:t>
            </a:r>
            <a:r>
              <a:rPr b="1" i="1" lang="fr-FR"/>
              <a:t>actions</a:t>
            </a:r>
            <a:r>
              <a:rPr lang="fr-FR"/>
              <a:t> ni </a:t>
            </a:r>
            <a:r>
              <a:rPr b="1" i="1" lang="fr-FR"/>
              <a:t>menuitems</a:t>
            </a:r>
            <a:endParaRPr b="1" i="1"/>
          </a:p>
          <a:p>
            <a:pPr indent="-317500" lvl="0" marL="457200" rtl="0" algn="l">
              <a:spcBef>
                <a:spcPts val="200"/>
              </a:spcBef>
              <a:spcAft>
                <a:spcPts val="0"/>
              </a:spcAft>
              <a:buClr>
                <a:srgbClr val="FF0000"/>
              </a:buClr>
              <a:buSzPts val="1400"/>
              <a:buChar char="●"/>
            </a:pPr>
            <a:r>
              <a:rPr b="1" lang="fr-FR">
                <a:solidFill>
                  <a:srgbClr val="FF0000"/>
                </a:solidFill>
              </a:rPr>
              <a:t>toujours besoin de rafraîchir le navigateur ensuite pour tester tester un changement de XML</a:t>
            </a:r>
            <a:endParaRPr b="1">
              <a:solidFill>
                <a:srgbClr val="FF0000"/>
              </a:solidFill>
            </a:endParaRPr>
          </a:p>
          <a:p>
            <a:pPr indent="-317500" lvl="0" marL="457200" rtl="0" algn="l">
              <a:spcBef>
                <a:spcPts val="200"/>
              </a:spcBef>
              <a:spcAft>
                <a:spcPts val="0"/>
              </a:spcAft>
              <a:buSzPts val="1400"/>
              <a:buChar char="●"/>
            </a:pPr>
            <a:r>
              <a:rPr lang="fr-FR"/>
              <a:t>(pour aller plus loin : si modification d’un asset, notamment OWL : besoin du mode </a:t>
            </a:r>
            <a:r>
              <a:rPr b="1" lang="fr-FR">
                <a:latin typeface="Courier New"/>
                <a:ea typeface="Courier New"/>
                <a:cs typeface="Courier New"/>
                <a:sym typeface="Courier New"/>
              </a:rPr>
              <a:t>?debug=assets</a:t>
            </a:r>
            <a:r>
              <a:rPr lang="fr-FR"/>
              <a:t>)</a:t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698" name="Google Shape;698;g3f8a5c5757b_0_336"/>
          <p:cNvGraphicFramePr/>
          <p:nvPr/>
        </p:nvGraphicFramePr>
        <p:xfrm>
          <a:off x="1008114" y="292452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{96AE6E51-4A5E-41A3-BEF3-BEBD5F100DFB}</a:tableStyleId>
              </a:tblPr>
              <a:tblGrid>
                <a:gridCol w="4000500"/>
                <a:gridCol w="4000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>
                          <a:solidFill>
                            <a:schemeClr val="lt1"/>
                          </a:solidFill>
                        </a:rPr>
                        <a:t>Evénement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>
                          <a:solidFill>
                            <a:schemeClr val="lt1"/>
                          </a:solidFill>
                        </a:rPr>
                        <a:t>Commande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38761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/>
                        <a:t>Modification du code XML d’une vue existante (use-case : tester en itération des changements)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>
                          <a:solidFill>
                            <a:schemeClr val="dk1"/>
                          </a:solidFill>
                        </a:rPr>
                        <a:t>Lancer o</a:t>
                      </a:r>
                      <a:r>
                        <a:rPr lang="fr-FR">
                          <a:solidFill>
                            <a:schemeClr val="dk1"/>
                          </a:solidFill>
                        </a:rPr>
                        <a:t>doo avec </a:t>
                      </a:r>
                      <a:r>
                        <a:rPr b="1" lang="fr-FR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odoo --dev=xml</a:t>
                      </a:r>
                      <a:br>
                        <a:rPr lang="fr-FR">
                          <a:solidFill>
                            <a:schemeClr val="dk1"/>
                          </a:solidFill>
                        </a:rPr>
                      </a:br>
                      <a:r>
                        <a:rPr lang="fr-FR">
                          <a:solidFill>
                            <a:schemeClr val="dk1"/>
                          </a:solidFill>
                        </a:rPr>
                        <a:t>Puis 1 refresh suffit</a:t>
                      </a:r>
                      <a:br>
                        <a:rPr lang="fr-FR">
                          <a:solidFill>
                            <a:schemeClr val="dk1"/>
                          </a:solidFill>
                        </a:rPr>
                      </a:br>
                      <a:r>
                        <a:rPr lang="fr-FR">
                          <a:solidFill>
                            <a:schemeClr val="dk1"/>
                          </a:solidFill>
                        </a:rPr>
                        <a:t>Ne pas oublier un </a:t>
                      </a:r>
                      <a:r>
                        <a:rPr b="1" lang="fr-FR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odoo -u module</a:t>
                      </a:r>
                      <a:r>
                        <a:rPr lang="fr-FR">
                          <a:solidFill>
                            <a:schemeClr val="dk1"/>
                          </a:solidFill>
                        </a:rPr>
                        <a:t> une fois satisfait pour recharger la vue en base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/>
                        <a:t>Nouvelle vue (nouveau record)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odoo -u module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/>
                        <a:t>Modification d’une action, d’un menu-item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fr-FR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odoo -u module </a:t>
                      </a:r>
                      <a:r>
                        <a:rPr lang="fr-FR">
                          <a:solidFill>
                            <a:schemeClr val="dk1"/>
                          </a:solidFill>
                        </a:rPr>
                        <a:t>obligatoire (</a:t>
                      </a:r>
                      <a:r>
                        <a:rPr b="1" lang="fr-FR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--dev=xml</a:t>
                      </a:r>
                      <a:r>
                        <a:rPr lang="fr-FR">
                          <a:solidFill>
                            <a:schemeClr val="dk1"/>
                          </a:solidFill>
                        </a:rPr>
                        <a:t> ne fonctionne pas pour les vues &amp; menuitems)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/>
                        <a:t>Modification des assets OWL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?debug=assets</a:t>
                      </a:r>
                      <a:r>
                        <a:rPr lang="fr-FR">
                          <a:solidFill>
                            <a:schemeClr val="dk1"/>
                          </a:solidFill>
                        </a:rPr>
                        <a:t> dans le navigateur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3f8a5c5757b_0_440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fr-FR"/>
              <a:t>A vous de jouer !</a:t>
            </a:r>
            <a:br>
              <a:rPr lang="fr-FR"/>
            </a:br>
            <a:r>
              <a:rPr lang="fr-FR"/>
              <a:t>De “vraies” vues pour </a:t>
            </a:r>
            <a:r>
              <a:rPr lang="fr-FR">
                <a:latin typeface="Courier New"/>
                <a:ea typeface="Courier New"/>
                <a:cs typeface="Courier New"/>
                <a:sym typeface="Courier New"/>
              </a:rPr>
              <a:t>library.book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704" name="Google Shape;704;g3f8a5c5757b_0_4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056" y="1416349"/>
            <a:ext cx="1120314" cy="1295140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g3f8a5c5757b_0_440"/>
          <p:cNvSpPr txBox="1"/>
          <p:nvPr/>
        </p:nvSpPr>
        <p:spPr>
          <a:xfrm>
            <a:off x="1963325" y="1528425"/>
            <a:ext cx="7183800" cy="1385400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ahoma"/>
              <a:buAutoNum type="arabicPeriod"/>
            </a:pP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Remplacer la vue liste auto-générée par une vraie vue </a:t>
            </a:r>
            <a:r>
              <a:rPr b="1"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&lt;list&gt;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avec colonnes choisies</a:t>
            </a:r>
            <a:endParaRPr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ahoma"/>
              <a:buAutoNum type="arabicPeriod"/>
            </a:pP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Construire une vraie vue</a:t>
            </a:r>
            <a:r>
              <a:rPr b="1"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&lt;form&gt;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soignée (</a:t>
            </a:r>
            <a:r>
              <a:rPr b="1"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sheet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b="1"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group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b="1"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notebook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</a:t>
            </a:r>
            <a:endParaRPr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ahoma"/>
              <a:buAutoNum type="arabicPeriod"/>
            </a:pP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Créer une 2e action fenêtre avec un `context`/`domain` par défaut, ex. livres disponibles</a:t>
            </a:r>
            <a:endParaRPr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706" name="Google Shape;706;g3f8a5c5757b_0_4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056" y="4268999"/>
            <a:ext cx="1120314" cy="1295140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g3f8a5c5757b_0_440"/>
          <p:cNvSpPr txBox="1"/>
          <p:nvPr/>
        </p:nvSpPr>
        <p:spPr>
          <a:xfrm>
            <a:off x="407363" y="5520150"/>
            <a:ext cx="1667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Bonus</a:t>
            </a:r>
            <a:endParaRPr b="1"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08" name="Google Shape;708;g3f8a5c5757b_0_440"/>
          <p:cNvSpPr txBox="1"/>
          <p:nvPr/>
        </p:nvSpPr>
        <p:spPr>
          <a:xfrm>
            <a:off x="407363" y="2711500"/>
            <a:ext cx="1667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Exercice</a:t>
            </a:r>
            <a:endParaRPr b="1"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09" name="Google Shape;709;g3f8a5c5757b_0_440"/>
          <p:cNvSpPr txBox="1"/>
          <p:nvPr/>
        </p:nvSpPr>
        <p:spPr>
          <a:xfrm>
            <a:off x="1963325" y="4269000"/>
            <a:ext cx="7183800" cy="944100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Une “button_box” avec 1 bouton sur le formulaire de </a:t>
            </a:r>
            <a:r>
              <a:rPr b="1"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library.book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Il ouvrira une vue liste vers ces livres. Dans le chapitre 10, nous y ajouterons le nombe de livre de la même catégorie (champ Compute).</a:t>
            </a:r>
            <a:endParaRPr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29"/>
          <p:cNvSpPr txBox="1"/>
          <p:nvPr>
            <p:ph type="title"/>
          </p:nvPr>
        </p:nvSpPr>
        <p:spPr>
          <a:xfrm>
            <a:off x="289324" y="2299219"/>
            <a:ext cx="4584234" cy="650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Fin de la journée</a:t>
            </a:r>
            <a:endParaRPr/>
          </a:p>
        </p:txBody>
      </p:sp>
      <p:sp>
        <p:nvSpPr>
          <p:cNvPr id="715" name="Google Shape;715;p29"/>
          <p:cNvSpPr txBox="1"/>
          <p:nvPr/>
        </p:nvSpPr>
        <p:spPr>
          <a:xfrm>
            <a:off x="289324" y="3150000"/>
            <a:ext cx="4584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3f83fd878ef_0_346"/>
          <p:cNvSpPr txBox="1"/>
          <p:nvPr>
            <p:ph idx="1" type="body"/>
          </p:nvPr>
        </p:nvSpPr>
        <p:spPr>
          <a:xfrm>
            <a:off x="209040" y="809625"/>
            <a:ext cx="4277100" cy="17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fr-FR"/>
              <a:t>EMARGEMENT FIN DE </a:t>
            </a:r>
            <a:r>
              <a:rPr lang="fr-FR"/>
              <a:t>JOURNÉE</a:t>
            </a:r>
            <a:r>
              <a:rPr lang="fr-FR"/>
              <a:t> 1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Bleu vert">
      <a:dk1>
        <a:srgbClr val="000000"/>
      </a:dk1>
      <a:lt1>
        <a:srgbClr val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2024-03-11T17:30:13Z</dcterms:created>
  <dc:creator>Laurence SALLER</dc:creator>
</cp:coreProperties>
</file>