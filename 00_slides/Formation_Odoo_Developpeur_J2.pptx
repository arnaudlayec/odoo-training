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6858000" cx="9906000"/>
  <p:notesSz cx="6858000" cy="9144000"/>
  <p:embeddedFontLst>
    <p:embeddedFont>
      <p:font typeface="Tahoma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4" roundtripDataSignature="AMtx7mhWSDVgaC3hxdP9/rQgqbd7YUYU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842A2F-27B4-4B56-B9CF-34256D6AE239}">
  <a:tblStyle styleId="{C9842A2F-27B4-4B56-B9CF-34256D6AE23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3BA5EB1-61CF-46FC-8746-04E1525EF4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Tahoma-regular.fntdata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customschemas.google.com/relationships/presentationmetadata" Target="metadata"/><Relationship Id="rId63" Type="http://schemas.openxmlformats.org/officeDocument/2006/relationships/font" Target="fonts/Tahoma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412d642b3_0_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f412d642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8a5c5757b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f8a5c5757b_0_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Séance 1 _ introduction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412d642b3_0_4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f412d642b3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Démonstrative – 1 heure pas à pas – prendre le temps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412d642b3_0_29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f412d642b3_0_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Démonstrative – 1 heure pas à pas – prendre le temps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412d642b3_0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f412d642b3_0_27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412d642b3_0_2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f412d642b3_0_28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412d642b3_0_3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f412d642b3_0_31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a5c5757b_0_27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f8a5c5757b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412d642b3_0_32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f412d642b3_0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Séance 1 _ introduction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412d642b3_0_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3f412d642b3_0_33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412d642b3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3f412d642b3_0_34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412d642b3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f412d642b3_0_41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412d642b3_0_4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f412d642b3_0_42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412d642b3_0_4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f412d642b3_0_43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8a5c5757b_0_4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f8a5c5757b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10h30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412d642b3_0_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f412d642b3_0_35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412d642b3_0_33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412d642b3_0_3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412d642b3_0_45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f412d642b3_0_4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Séance 1 _ introduction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8aecdb80c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g3f8aecdb80c_0_2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f8aecdb80c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f8aecdb80c_0_1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8aecdb80c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g3f8aecdb80c_0_4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8aecdb80c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g3f8aecdb80c_0_2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8aecdb80c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f8aecdb80c_0_5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412d642b3_0_46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f412d642b3_0_4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412d642b3_0_1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f412d642b3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Déjeuner 12h30 – emargement matin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8aecdb80c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g3f8aecdb80c_0_7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8aecdb80c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g3f8aecdb80c_0_20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8aecdb80c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g3f8aecdb80c_0_18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8aecdb80c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g3f8aecdb80c_0_19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8aecdb80c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3f8aecdb80c_0_13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8aecdb80c_0_17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g3f8aecdb80c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8aecdb80c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g3f8aecdb80c_0_1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8aecdb80c_0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f8aecdb80c_0_26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8aecdb80c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g3f8aecdb80c_0_22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8aecdb80c_0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g3f8aecdb80c_0_25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8aecdb80c_0_2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f8aecdb80c_0_27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f8aecdb80c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g3f8aecdb80c_0_14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8aecdb80c_0_33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f8aecdb80c_0_3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8aecdb80c_0_22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f8aecdb80c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10h30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f8aecdb80c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g3f8aecdb80c_0_12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8aecdb80c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g3f8aecdb80c_0_29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8aecdb80c_0_3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g3f8aecdb80c_0_32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8aecdb80c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g3f8aecdb80c_0_15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8aecdb80c_0_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g3f8aecdb80c_0_30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f8aecdb80c_0_33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f8aecdb80c_0_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f8aecdb80c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3f8aecdb80c_0_12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8aecdb80c_0_3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g3f8aecdb80c_0_35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f8aecdb80c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g3f8aecdb80c_0_36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8aecdb80c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g3f8aecdb80c_0_16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8aecdb80c_0_38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f8aecdb80c_0_3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8a5c5757b_0_23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f8a5c5757b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Partage des flux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/>
              <a:t>Tour de table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f83fd878ef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g3f83fd878ef_0_34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6.jpg"/><Relationship Id="rId4" Type="http://schemas.openxmlformats.org/officeDocument/2006/relationships/hyperlink" Target="mailto:formation@ambient-it.net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re">
  <p:cSld name="3 Titr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/>
          <p:cNvSpPr txBox="1"/>
          <p:nvPr>
            <p:ph type="title"/>
          </p:nvPr>
        </p:nvSpPr>
        <p:spPr>
          <a:xfrm>
            <a:off x="4953000" y="2851152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3"/>
          <p:cNvSpPr/>
          <p:nvPr/>
        </p:nvSpPr>
        <p:spPr>
          <a:xfrm>
            <a:off x="4953000" y="35194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63"/>
          <p:cNvSpPr txBox="1"/>
          <p:nvPr>
            <p:ph idx="1" type="body"/>
          </p:nvPr>
        </p:nvSpPr>
        <p:spPr>
          <a:xfrm>
            <a:off x="5019675" y="3648075"/>
            <a:ext cx="471328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4514850" cy="6857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86" y="836963"/>
            <a:ext cx="3819524" cy="70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ilosophie">
  <p:cSld name="philosophi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4"/>
          <p:cNvSpPr/>
          <p:nvPr/>
        </p:nvSpPr>
        <p:spPr>
          <a:xfrm>
            <a:off x="9555161" y="6531391"/>
            <a:ext cx="268288" cy="244952"/>
          </a:xfrm>
          <a:custGeom>
            <a:rect b="b" l="l" r="r" t="t"/>
            <a:pathLst>
              <a:path extrusionOk="0" h="228600" w="247650">
                <a:moveTo>
                  <a:pt x="2476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247649" y="0"/>
                </a:lnTo>
                <a:lnTo>
                  <a:pt x="247649" y="228599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3" name="Google Shape;23;p64"/>
          <p:cNvGrpSpPr/>
          <p:nvPr/>
        </p:nvGrpSpPr>
        <p:grpSpPr>
          <a:xfrm>
            <a:off x="10296" y="-1"/>
            <a:ext cx="9751178" cy="6875999"/>
            <a:chOff x="10296" y="0"/>
            <a:chExt cx="9133703" cy="6657974"/>
          </a:xfrm>
        </p:grpSpPr>
        <p:pic>
          <p:nvPicPr>
            <p:cNvPr id="24" name="Google Shape;24;p6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296" y="0"/>
              <a:ext cx="4448174" cy="66579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64"/>
            <p:cNvSpPr/>
            <p:nvPr/>
          </p:nvSpPr>
          <p:spPr>
            <a:xfrm>
              <a:off x="3809999" y="190499"/>
              <a:ext cx="5334000" cy="5810250"/>
            </a:xfrm>
            <a:custGeom>
              <a:rect b="b" l="l" r="r" t="t"/>
              <a:pathLst>
                <a:path extrusionOk="0" h="5810250" w="5334000">
                  <a:moveTo>
                    <a:pt x="5333999" y="5810249"/>
                  </a:moveTo>
                  <a:lnTo>
                    <a:pt x="0" y="5810249"/>
                  </a:lnTo>
                  <a:lnTo>
                    <a:pt x="0" y="0"/>
                  </a:lnTo>
                  <a:lnTo>
                    <a:pt x="5333999" y="0"/>
                  </a:lnTo>
                  <a:lnTo>
                    <a:pt x="5333999" y="5810249"/>
                  </a:lnTo>
                  <a:close/>
                </a:path>
              </a:pathLst>
            </a:custGeom>
            <a:solidFill>
              <a:srgbClr val="F1EC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" name="Google Shape;26;p64"/>
            <p:cNvSpPr/>
            <p:nvPr/>
          </p:nvSpPr>
          <p:spPr>
            <a:xfrm>
              <a:off x="3809999" y="190499"/>
              <a:ext cx="5334000" cy="5810250"/>
            </a:xfrm>
            <a:custGeom>
              <a:rect b="b" l="l" r="r" t="t"/>
              <a:pathLst>
                <a:path extrusionOk="0" h="5810250" w="5334000">
                  <a:moveTo>
                    <a:pt x="0" y="0"/>
                  </a:moveTo>
                  <a:lnTo>
                    <a:pt x="5333999" y="0"/>
                  </a:lnTo>
                  <a:lnTo>
                    <a:pt x="5333999" y="5810249"/>
                  </a:lnTo>
                  <a:lnTo>
                    <a:pt x="0" y="581024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" name="Google Shape;27;p64"/>
            <p:cNvSpPr/>
            <p:nvPr/>
          </p:nvSpPr>
          <p:spPr>
            <a:xfrm>
              <a:off x="4298746" y="1409699"/>
              <a:ext cx="952500" cy="0"/>
            </a:xfrm>
            <a:custGeom>
              <a:rect b="b" l="l" r="r" t="t"/>
              <a:pathLst>
                <a:path extrusionOk="0" h="120000" w="952500">
                  <a:moveTo>
                    <a:pt x="0" y="0"/>
                  </a:moveTo>
                  <a:lnTo>
                    <a:pt x="952499" y="0"/>
                  </a:lnTo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8" name="Google Shape;28;p64"/>
          <p:cNvSpPr txBox="1"/>
          <p:nvPr>
            <p:ph type="title"/>
          </p:nvPr>
        </p:nvSpPr>
        <p:spPr>
          <a:xfrm>
            <a:off x="4588662" y="803277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4"/>
          <p:cNvSpPr txBox="1"/>
          <p:nvPr>
            <p:ph idx="1" type="body"/>
          </p:nvPr>
        </p:nvSpPr>
        <p:spPr>
          <a:xfrm>
            <a:off x="4655337" y="1600200"/>
            <a:ext cx="4713288" cy="426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5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5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6" name="Google Shape;36;p65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feuille titre">
  <p:cSld name="5 feuille titr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2271" y="885826"/>
            <a:ext cx="6233729" cy="597217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6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3" name="Google Shape;43;p66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itre section">
  <p:cSld name="4 titre sec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11136" y="0"/>
            <a:ext cx="539486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7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" name="Google Shape;47;p67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" name="Google Shape;48;p67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7"/>
          <p:cNvSpPr txBox="1"/>
          <p:nvPr>
            <p:ph idx="1" type="body"/>
          </p:nvPr>
        </p:nvSpPr>
        <p:spPr>
          <a:xfrm>
            <a:off x="285750" y="3192955"/>
            <a:ext cx="471328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7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mparaison">
  <p:cSld name="4 comparais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2271" y="885826"/>
            <a:ext cx="6233729" cy="597217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8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7" name="Google Shape;57;p68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" name="Google Shape;58;p68"/>
          <p:cNvSpPr/>
          <p:nvPr/>
        </p:nvSpPr>
        <p:spPr>
          <a:xfrm>
            <a:off x="5124449" y="1243025"/>
            <a:ext cx="4140000" cy="4716000"/>
          </a:xfrm>
          <a:custGeom>
            <a:rect b="b" l="l" r="r" t="t"/>
            <a:pathLst>
              <a:path extrusionOk="0" h="3453129" w="3590925">
                <a:moveTo>
                  <a:pt x="3590340" y="3452786"/>
                </a:moveTo>
                <a:lnTo>
                  <a:pt x="0" y="3452786"/>
                </a:lnTo>
                <a:lnTo>
                  <a:pt x="0" y="0"/>
                </a:lnTo>
                <a:lnTo>
                  <a:pt x="3590340" y="0"/>
                </a:lnTo>
                <a:lnTo>
                  <a:pt x="3590340" y="34527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" name="Google Shape;59;p68"/>
          <p:cNvSpPr/>
          <p:nvPr/>
        </p:nvSpPr>
        <p:spPr>
          <a:xfrm>
            <a:off x="5124450" y="1243025"/>
            <a:ext cx="4100513" cy="4729148"/>
          </a:xfrm>
          <a:custGeom>
            <a:rect b="b" l="l" r="r" t="t"/>
            <a:pathLst>
              <a:path extrusionOk="0" h="3453129" w="3590925">
                <a:moveTo>
                  <a:pt x="0" y="0"/>
                </a:moveTo>
                <a:lnTo>
                  <a:pt x="3590340" y="0"/>
                </a:lnTo>
                <a:lnTo>
                  <a:pt x="3590340" y="3452786"/>
                </a:lnTo>
                <a:lnTo>
                  <a:pt x="0" y="3452786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" name="Google Shape;60;p68"/>
          <p:cNvSpPr/>
          <p:nvPr/>
        </p:nvSpPr>
        <p:spPr>
          <a:xfrm>
            <a:off x="5124449" y="1985962"/>
            <a:ext cx="4100513" cy="38100"/>
          </a:xfrm>
          <a:custGeom>
            <a:rect b="b" l="l" r="r" t="t"/>
            <a:pathLst>
              <a:path extrusionOk="0" h="38100" w="3590925">
                <a:moveTo>
                  <a:pt x="0" y="0"/>
                </a:moveTo>
                <a:lnTo>
                  <a:pt x="3590924" y="0"/>
                </a:lnTo>
                <a:lnTo>
                  <a:pt x="3590924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" name="Google Shape;61;p68"/>
          <p:cNvSpPr/>
          <p:nvPr/>
        </p:nvSpPr>
        <p:spPr>
          <a:xfrm>
            <a:off x="3773551" y="1790699"/>
            <a:ext cx="400050" cy="381000"/>
          </a:xfrm>
          <a:custGeom>
            <a:rect b="b" l="l" r="r" t="t"/>
            <a:pathLst>
              <a:path extrusionOk="0" h="381000" w="400050">
                <a:moveTo>
                  <a:pt x="400050" y="190500"/>
                </a:moveTo>
                <a:lnTo>
                  <a:pt x="394766" y="146824"/>
                </a:lnTo>
                <a:lnTo>
                  <a:pt x="379717" y="106730"/>
                </a:lnTo>
                <a:lnTo>
                  <a:pt x="356108" y="71361"/>
                </a:lnTo>
                <a:lnTo>
                  <a:pt x="325132" y="41859"/>
                </a:lnTo>
                <a:lnTo>
                  <a:pt x="300037" y="26670"/>
                </a:lnTo>
                <a:lnTo>
                  <a:pt x="300037" y="166687"/>
                </a:lnTo>
                <a:lnTo>
                  <a:pt x="300037" y="214312"/>
                </a:lnTo>
                <a:lnTo>
                  <a:pt x="225031" y="214312"/>
                </a:lnTo>
                <a:lnTo>
                  <a:pt x="225031" y="285750"/>
                </a:lnTo>
                <a:lnTo>
                  <a:pt x="175018" y="285750"/>
                </a:lnTo>
                <a:lnTo>
                  <a:pt x="175018" y="214312"/>
                </a:lnTo>
                <a:lnTo>
                  <a:pt x="100012" y="214312"/>
                </a:lnTo>
                <a:lnTo>
                  <a:pt x="100012" y="166687"/>
                </a:lnTo>
                <a:lnTo>
                  <a:pt x="175018" y="166687"/>
                </a:lnTo>
                <a:lnTo>
                  <a:pt x="175018" y="95250"/>
                </a:lnTo>
                <a:lnTo>
                  <a:pt x="225031" y="95250"/>
                </a:lnTo>
                <a:lnTo>
                  <a:pt x="225031" y="166687"/>
                </a:lnTo>
                <a:lnTo>
                  <a:pt x="300037" y="166687"/>
                </a:lnTo>
                <a:lnTo>
                  <a:pt x="300037" y="26670"/>
                </a:lnTo>
                <a:lnTo>
                  <a:pt x="245884" y="5041"/>
                </a:lnTo>
                <a:lnTo>
                  <a:pt x="200025" y="0"/>
                </a:lnTo>
                <a:lnTo>
                  <a:pt x="154165" y="5041"/>
                </a:lnTo>
                <a:lnTo>
                  <a:pt x="112064" y="19367"/>
                </a:lnTo>
                <a:lnTo>
                  <a:pt x="74917" y="41859"/>
                </a:lnTo>
                <a:lnTo>
                  <a:pt x="43942" y="71361"/>
                </a:lnTo>
                <a:lnTo>
                  <a:pt x="20332" y="106730"/>
                </a:lnTo>
                <a:lnTo>
                  <a:pt x="5283" y="146824"/>
                </a:lnTo>
                <a:lnTo>
                  <a:pt x="0" y="190500"/>
                </a:lnTo>
                <a:lnTo>
                  <a:pt x="5283" y="234188"/>
                </a:lnTo>
                <a:lnTo>
                  <a:pt x="20332" y="274281"/>
                </a:lnTo>
                <a:lnTo>
                  <a:pt x="43942" y="309651"/>
                </a:lnTo>
                <a:lnTo>
                  <a:pt x="74917" y="339153"/>
                </a:lnTo>
                <a:lnTo>
                  <a:pt x="112064" y="361645"/>
                </a:lnTo>
                <a:lnTo>
                  <a:pt x="154165" y="375970"/>
                </a:lnTo>
                <a:lnTo>
                  <a:pt x="200025" y="381000"/>
                </a:lnTo>
                <a:lnTo>
                  <a:pt x="245884" y="375970"/>
                </a:lnTo>
                <a:lnTo>
                  <a:pt x="287985" y="361645"/>
                </a:lnTo>
                <a:lnTo>
                  <a:pt x="325132" y="339153"/>
                </a:lnTo>
                <a:lnTo>
                  <a:pt x="356108" y="309651"/>
                </a:lnTo>
                <a:lnTo>
                  <a:pt x="372059" y="285750"/>
                </a:lnTo>
                <a:lnTo>
                  <a:pt x="379717" y="274281"/>
                </a:lnTo>
                <a:lnTo>
                  <a:pt x="394766" y="234188"/>
                </a:lnTo>
                <a:lnTo>
                  <a:pt x="400050" y="190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" name="Google Shape;62;p68"/>
          <p:cNvSpPr/>
          <p:nvPr/>
        </p:nvSpPr>
        <p:spPr>
          <a:xfrm>
            <a:off x="8659800" y="1426363"/>
            <a:ext cx="400050" cy="381000"/>
          </a:xfrm>
          <a:custGeom>
            <a:rect b="b" l="l" r="r" t="t"/>
            <a:pathLst>
              <a:path extrusionOk="0" h="381000" w="400050">
                <a:moveTo>
                  <a:pt x="399999" y="190500"/>
                </a:moveTo>
                <a:lnTo>
                  <a:pt x="397116" y="166687"/>
                </a:lnTo>
                <a:lnTo>
                  <a:pt x="394716" y="146824"/>
                </a:lnTo>
                <a:lnTo>
                  <a:pt x="379666" y="106730"/>
                </a:lnTo>
                <a:lnTo>
                  <a:pt x="356057" y="71361"/>
                </a:lnTo>
                <a:lnTo>
                  <a:pt x="325081" y="41859"/>
                </a:lnTo>
                <a:lnTo>
                  <a:pt x="299999" y="26670"/>
                </a:lnTo>
                <a:lnTo>
                  <a:pt x="299999" y="166687"/>
                </a:lnTo>
                <a:lnTo>
                  <a:pt x="299999" y="214312"/>
                </a:lnTo>
                <a:lnTo>
                  <a:pt x="99999" y="214312"/>
                </a:lnTo>
                <a:lnTo>
                  <a:pt x="99999" y="166687"/>
                </a:lnTo>
                <a:lnTo>
                  <a:pt x="299999" y="166687"/>
                </a:lnTo>
                <a:lnTo>
                  <a:pt x="299999" y="26670"/>
                </a:lnTo>
                <a:lnTo>
                  <a:pt x="287947" y="19367"/>
                </a:lnTo>
                <a:lnTo>
                  <a:pt x="245846" y="5041"/>
                </a:lnTo>
                <a:lnTo>
                  <a:pt x="199999" y="0"/>
                </a:lnTo>
                <a:lnTo>
                  <a:pt x="154139" y="5041"/>
                </a:lnTo>
                <a:lnTo>
                  <a:pt x="112039" y="19367"/>
                </a:lnTo>
                <a:lnTo>
                  <a:pt x="74904" y="41859"/>
                </a:lnTo>
                <a:lnTo>
                  <a:pt x="43942" y="71361"/>
                </a:lnTo>
                <a:lnTo>
                  <a:pt x="20332" y="106730"/>
                </a:lnTo>
                <a:lnTo>
                  <a:pt x="5283" y="146824"/>
                </a:lnTo>
                <a:lnTo>
                  <a:pt x="0" y="190500"/>
                </a:lnTo>
                <a:lnTo>
                  <a:pt x="5283" y="234188"/>
                </a:lnTo>
                <a:lnTo>
                  <a:pt x="20332" y="274281"/>
                </a:lnTo>
                <a:lnTo>
                  <a:pt x="43942" y="309651"/>
                </a:lnTo>
                <a:lnTo>
                  <a:pt x="74904" y="339153"/>
                </a:lnTo>
                <a:lnTo>
                  <a:pt x="112039" y="361645"/>
                </a:lnTo>
                <a:lnTo>
                  <a:pt x="154139" y="375970"/>
                </a:lnTo>
                <a:lnTo>
                  <a:pt x="199999" y="381000"/>
                </a:lnTo>
                <a:lnTo>
                  <a:pt x="245846" y="375970"/>
                </a:lnTo>
                <a:lnTo>
                  <a:pt x="287947" y="361645"/>
                </a:lnTo>
                <a:lnTo>
                  <a:pt x="325081" y="339153"/>
                </a:lnTo>
                <a:lnTo>
                  <a:pt x="356057" y="309651"/>
                </a:lnTo>
                <a:lnTo>
                  <a:pt x="379666" y="274281"/>
                </a:lnTo>
                <a:lnTo>
                  <a:pt x="394716" y="234188"/>
                </a:lnTo>
                <a:lnTo>
                  <a:pt x="397116" y="214312"/>
                </a:lnTo>
                <a:lnTo>
                  <a:pt x="399999" y="190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68"/>
          <p:cNvSpPr/>
          <p:nvPr/>
        </p:nvSpPr>
        <p:spPr>
          <a:xfrm>
            <a:off x="693301" y="1208550"/>
            <a:ext cx="4140000" cy="4716000"/>
          </a:xfrm>
          <a:prstGeom prst="rect">
            <a:avLst/>
          </a:prstGeom>
          <a:solidFill>
            <a:srgbClr val="F1E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68"/>
          <p:cNvSpPr/>
          <p:nvPr/>
        </p:nvSpPr>
        <p:spPr>
          <a:xfrm>
            <a:off x="708977" y="2005012"/>
            <a:ext cx="4176000" cy="38100"/>
          </a:xfrm>
          <a:custGeom>
            <a:rect b="b" l="l" r="r" t="t"/>
            <a:pathLst>
              <a:path extrusionOk="0" h="38100" w="3600450">
                <a:moveTo>
                  <a:pt x="0" y="0"/>
                </a:moveTo>
                <a:lnTo>
                  <a:pt x="3600449" y="0"/>
                </a:lnTo>
                <a:lnTo>
                  <a:pt x="3600449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68"/>
          <p:cNvSpPr/>
          <p:nvPr/>
        </p:nvSpPr>
        <p:spPr>
          <a:xfrm>
            <a:off x="4262918" y="1426363"/>
            <a:ext cx="400050" cy="381000"/>
          </a:xfrm>
          <a:custGeom>
            <a:rect b="b" l="l" r="r" t="t"/>
            <a:pathLst>
              <a:path extrusionOk="0" h="381000" w="400050">
                <a:moveTo>
                  <a:pt x="400050" y="190500"/>
                </a:moveTo>
                <a:lnTo>
                  <a:pt x="394766" y="146824"/>
                </a:lnTo>
                <a:lnTo>
                  <a:pt x="379717" y="106730"/>
                </a:lnTo>
                <a:lnTo>
                  <a:pt x="356108" y="71361"/>
                </a:lnTo>
                <a:lnTo>
                  <a:pt x="325132" y="41859"/>
                </a:lnTo>
                <a:lnTo>
                  <a:pt x="300037" y="26670"/>
                </a:lnTo>
                <a:lnTo>
                  <a:pt x="300037" y="166687"/>
                </a:lnTo>
                <a:lnTo>
                  <a:pt x="300037" y="214312"/>
                </a:lnTo>
                <a:lnTo>
                  <a:pt x="225031" y="214312"/>
                </a:lnTo>
                <a:lnTo>
                  <a:pt x="225031" y="285750"/>
                </a:lnTo>
                <a:lnTo>
                  <a:pt x="175018" y="285750"/>
                </a:lnTo>
                <a:lnTo>
                  <a:pt x="175018" y="214312"/>
                </a:lnTo>
                <a:lnTo>
                  <a:pt x="100012" y="214312"/>
                </a:lnTo>
                <a:lnTo>
                  <a:pt x="100012" y="166687"/>
                </a:lnTo>
                <a:lnTo>
                  <a:pt x="175018" y="166687"/>
                </a:lnTo>
                <a:lnTo>
                  <a:pt x="175018" y="95250"/>
                </a:lnTo>
                <a:lnTo>
                  <a:pt x="225031" y="95250"/>
                </a:lnTo>
                <a:lnTo>
                  <a:pt x="225031" y="166687"/>
                </a:lnTo>
                <a:lnTo>
                  <a:pt x="300037" y="166687"/>
                </a:lnTo>
                <a:lnTo>
                  <a:pt x="300037" y="26670"/>
                </a:lnTo>
                <a:lnTo>
                  <a:pt x="245884" y="5041"/>
                </a:lnTo>
                <a:lnTo>
                  <a:pt x="200025" y="0"/>
                </a:lnTo>
                <a:lnTo>
                  <a:pt x="154165" y="5041"/>
                </a:lnTo>
                <a:lnTo>
                  <a:pt x="112064" y="19367"/>
                </a:lnTo>
                <a:lnTo>
                  <a:pt x="74917" y="41859"/>
                </a:lnTo>
                <a:lnTo>
                  <a:pt x="43942" y="71361"/>
                </a:lnTo>
                <a:lnTo>
                  <a:pt x="20332" y="106730"/>
                </a:lnTo>
                <a:lnTo>
                  <a:pt x="5283" y="146824"/>
                </a:lnTo>
                <a:lnTo>
                  <a:pt x="0" y="190500"/>
                </a:lnTo>
                <a:lnTo>
                  <a:pt x="5283" y="234188"/>
                </a:lnTo>
                <a:lnTo>
                  <a:pt x="20332" y="274281"/>
                </a:lnTo>
                <a:lnTo>
                  <a:pt x="43942" y="309651"/>
                </a:lnTo>
                <a:lnTo>
                  <a:pt x="74917" y="339153"/>
                </a:lnTo>
                <a:lnTo>
                  <a:pt x="112064" y="361645"/>
                </a:lnTo>
                <a:lnTo>
                  <a:pt x="154165" y="375970"/>
                </a:lnTo>
                <a:lnTo>
                  <a:pt x="200025" y="381000"/>
                </a:lnTo>
                <a:lnTo>
                  <a:pt x="245884" y="375970"/>
                </a:lnTo>
                <a:lnTo>
                  <a:pt x="287985" y="361645"/>
                </a:lnTo>
                <a:lnTo>
                  <a:pt x="325132" y="339153"/>
                </a:lnTo>
                <a:lnTo>
                  <a:pt x="356108" y="309651"/>
                </a:lnTo>
                <a:lnTo>
                  <a:pt x="372059" y="285750"/>
                </a:lnTo>
                <a:lnTo>
                  <a:pt x="379717" y="274281"/>
                </a:lnTo>
                <a:lnTo>
                  <a:pt x="394766" y="234188"/>
                </a:lnTo>
                <a:lnTo>
                  <a:pt x="400050" y="1905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" name="Google Shape;66;p68"/>
          <p:cNvSpPr txBox="1"/>
          <p:nvPr>
            <p:ph idx="1" type="body"/>
          </p:nvPr>
        </p:nvSpPr>
        <p:spPr>
          <a:xfrm>
            <a:off x="766251" y="1286867"/>
            <a:ext cx="3407350" cy="6943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68"/>
          <p:cNvSpPr txBox="1"/>
          <p:nvPr>
            <p:ph idx="2" type="body"/>
          </p:nvPr>
        </p:nvSpPr>
        <p:spPr>
          <a:xfrm>
            <a:off x="904875" y="2143125"/>
            <a:ext cx="3758093" cy="378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68"/>
          <p:cNvSpPr txBox="1"/>
          <p:nvPr>
            <p:ph idx="3" type="body"/>
          </p:nvPr>
        </p:nvSpPr>
        <p:spPr>
          <a:xfrm>
            <a:off x="5162646" y="1283494"/>
            <a:ext cx="3332041" cy="689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68"/>
          <p:cNvSpPr txBox="1"/>
          <p:nvPr>
            <p:ph idx="4" type="body"/>
          </p:nvPr>
        </p:nvSpPr>
        <p:spPr>
          <a:xfrm>
            <a:off x="5381625" y="2162174"/>
            <a:ext cx="3678225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e matin" showMasterSp="0">
  <p:cSld name="Pause matin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69"/>
          <p:cNvPicPr preferRelativeResize="0"/>
          <p:nvPr/>
        </p:nvPicPr>
        <p:blipFill rotWithShape="1">
          <a:blip r:embed="rId2">
            <a:alphaModFix/>
          </a:blip>
          <a:srcRect b="8055" l="26528" r="10470" t="12361"/>
          <a:stretch/>
        </p:blipFill>
        <p:spPr>
          <a:xfrm>
            <a:off x="4467224" y="11754"/>
            <a:ext cx="542903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9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Google Shape;73;p69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Google Shape;74;p69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9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69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xte images">
  <p:cSld name="2 texte image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1"/>
          <p:cNvSpPr/>
          <p:nvPr/>
        </p:nvSpPr>
        <p:spPr>
          <a:xfrm>
            <a:off x="9555161" y="6531391"/>
            <a:ext cx="268288" cy="244952"/>
          </a:xfrm>
          <a:custGeom>
            <a:rect b="b" l="l" r="r" t="t"/>
            <a:pathLst>
              <a:path extrusionOk="0" h="228600" w="247650">
                <a:moveTo>
                  <a:pt x="2476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247649" y="0"/>
                </a:lnTo>
                <a:lnTo>
                  <a:pt x="247649" y="228599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9" name="Google Shape;79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555790"/>
            <a:ext cx="5690303" cy="333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146" y="3185"/>
            <a:ext cx="5680805" cy="333394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71"/>
          <p:cNvSpPr/>
          <p:nvPr/>
        </p:nvSpPr>
        <p:spPr>
          <a:xfrm>
            <a:off x="85726" y="598193"/>
            <a:ext cx="4573268" cy="2160000"/>
          </a:xfrm>
          <a:custGeom>
            <a:rect b="b" l="l" r="r" t="t"/>
            <a:pathLst>
              <a:path extrusionOk="0" h="2095500" w="4201795">
                <a:moveTo>
                  <a:pt x="4201720" y="2095499"/>
                </a:moveTo>
                <a:lnTo>
                  <a:pt x="0" y="2095499"/>
                </a:lnTo>
                <a:lnTo>
                  <a:pt x="0" y="0"/>
                </a:lnTo>
                <a:lnTo>
                  <a:pt x="4201720" y="0"/>
                </a:lnTo>
                <a:lnTo>
                  <a:pt x="4201720" y="2095499"/>
                </a:lnTo>
                <a:close/>
              </a:path>
            </a:pathLst>
          </a:custGeom>
          <a:solidFill>
            <a:srgbClr val="F1ECE7"/>
          </a:solidFill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2" name="Google Shape;82;p71"/>
          <p:cNvGrpSpPr/>
          <p:nvPr/>
        </p:nvGrpSpPr>
        <p:grpSpPr>
          <a:xfrm>
            <a:off x="5292167" y="4168605"/>
            <a:ext cx="4490563" cy="2092235"/>
            <a:chOff x="4942281" y="3852862"/>
            <a:chExt cx="4201795" cy="2352675"/>
          </a:xfrm>
        </p:grpSpPr>
        <p:sp>
          <p:nvSpPr>
            <p:cNvPr id="83" name="Google Shape;83;p71"/>
            <p:cNvSpPr/>
            <p:nvPr/>
          </p:nvSpPr>
          <p:spPr>
            <a:xfrm>
              <a:off x="4942281" y="3852862"/>
              <a:ext cx="4201795" cy="2352675"/>
            </a:xfrm>
            <a:custGeom>
              <a:rect b="b" l="l" r="r" t="t"/>
              <a:pathLst>
                <a:path extrusionOk="0" h="2352675" w="4201795">
                  <a:moveTo>
                    <a:pt x="4201720" y="2352674"/>
                  </a:moveTo>
                  <a:lnTo>
                    <a:pt x="0" y="2352674"/>
                  </a:lnTo>
                  <a:lnTo>
                    <a:pt x="0" y="0"/>
                  </a:lnTo>
                  <a:lnTo>
                    <a:pt x="4201720" y="0"/>
                  </a:lnTo>
                  <a:lnTo>
                    <a:pt x="4201720" y="2352674"/>
                  </a:lnTo>
                  <a:close/>
                </a:path>
              </a:pathLst>
            </a:custGeom>
            <a:solidFill>
              <a:srgbClr val="F1EC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" name="Google Shape;84;p71"/>
            <p:cNvSpPr/>
            <p:nvPr/>
          </p:nvSpPr>
          <p:spPr>
            <a:xfrm>
              <a:off x="4942281" y="3852862"/>
              <a:ext cx="4201795" cy="2352675"/>
            </a:xfrm>
            <a:custGeom>
              <a:rect b="b" l="l" r="r" t="t"/>
              <a:pathLst>
                <a:path extrusionOk="0" h="2352675" w="4201795">
                  <a:moveTo>
                    <a:pt x="0" y="0"/>
                  </a:moveTo>
                  <a:lnTo>
                    <a:pt x="4201720" y="0"/>
                  </a:lnTo>
                  <a:lnTo>
                    <a:pt x="4201720" y="2352674"/>
                  </a:lnTo>
                  <a:lnTo>
                    <a:pt x="0" y="235267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762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85" name="Google Shape;85;p71"/>
          <p:cNvSpPr txBox="1"/>
          <p:nvPr>
            <p:ph idx="1" type="body"/>
          </p:nvPr>
        </p:nvSpPr>
        <p:spPr>
          <a:xfrm>
            <a:off x="209040" y="809625"/>
            <a:ext cx="42772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71"/>
          <p:cNvSpPr txBox="1"/>
          <p:nvPr>
            <p:ph idx="2" type="body"/>
          </p:nvPr>
        </p:nvSpPr>
        <p:spPr>
          <a:xfrm>
            <a:off x="5398830" y="4357578"/>
            <a:ext cx="42772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e dej" showMasterSp="0">
  <p:cSld name="pause dej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72"/>
          <p:cNvPicPr preferRelativeResize="0"/>
          <p:nvPr/>
        </p:nvPicPr>
        <p:blipFill rotWithShape="1">
          <a:blip r:embed="rId2">
            <a:alphaModFix/>
          </a:blip>
          <a:srcRect b="0" l="0" r="21593" t="0"/>
          <a:stretch/>
        </p:blipFill>
        <p:spPr>
          <a:xfrm>
            <a:off x="4528931" y="0"/>
            <a:ext cx="53770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2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p72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" name="Google Shape;91;p72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2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72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e am" showMasterSp="0">
  <p:cSld name="pause am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73"/>
          <p:cNvPicPr preferRelativeResize="0"/>
          <p:nvPr/>
        </p:nvPicPr>
        <p:blipFill rotWithShape="1">
          <a:blip r:embed="rId2">
            <a:alphaModFix/>
          </a:blip>
          <a:srcRect b="0" l="21111" r="0" t="0"/>
          <a:stretch/>
        </p:blipFill>
        <p:spPr>
          <a:xfrm>
            <a:off x="4495800" y="0"/>
            <a:ext cx="5410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3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" name="Google Shape;97;p73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" name="Google Shape;98;p73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3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0" name="Google Shape;100;p73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En-tête de section" showMasterSp="0">
  <p:cSld name="5_En-tête de section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74"/>
          <p:cNvPicPr preferRelativeResize="0"/>
          <p:nvPr/>
        </p:nvPicPr>
        <p:blipFill rotWithShape="1">
          <a:blip r:embed="rId2">
            <a:alphaModFix/>
          </a:blip>
          <a:srcRect b="30972" l="23673" r="22553" t="0"/>
          <a:stretch/>
        </p:blipFill>
        <p:spPr>
          <a:xfrm>
            <a:off x="4514851" y="0"/>
            <a:ext cx="5391150" cy="6920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4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5333999" y="3562349"/>
                </a:moveTo>
                <a:lnTo>
                  <a:pt x="0" y="3562349"/>
                </a:lnTo>
                <a:lnTo>
                  <a:pt x="0" y="0"/>
                </a:lnTo>
                <a:lnTo>
                  <a:pt x="5333999" y="0"/>
                </a:lnTo>
                <a:lnTo>
                  <a:pt x="5333999" y="35623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74"/>
          <p:cNvSpPr/>
          <p:nvPr/>
        </p:nvSpPr>
        <p:spPr>
          <a:xfrm>
            <a:off x="41105" y="1599218"/>
            <a:ext cx="5754523" cy="3669373"/>
          </a:xfrm>
          <a:custGeom>
            <a:rect b="b" l="l" r="r" t="t"/>
            <a:pathLst>
              <a:path extrusionOk="0" h="3562350" w="5334000">
                <a:moveTo>
                  <a:pt x="0" y="0"/>
                </a:moveTo>
                <a:lnTo>
                  <a:pt x="5333999" y="0"/>
                </a:lnTo>
                <a:lnTo>
                  <a:pt x="5333999" y="3562349"/>
                </a:lnTo>
                <a:lnTo>
                  <a:pt x="0" y="356234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76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" name="Google Shape;105;p74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4"/>
          <p:cNvSpPr/>
          <p:nvPr/>
        </p:nvSpPr>
        <p:spPr>
          <a:xfrm>
            <a:off x="285750" y="29860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p74"/>
          <p:cNvSpPr txBox="1"/>
          <p:nvPr/>
        </p:nvSpPr>
        <p:spPr>
          <a:xfrm>
            <a:off x="4528931" y="6488668"/>
            <a:ext cx="156164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11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Image générée par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action">
  <p:cSld name="2. ac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0"/>
          <p:cNvSpPr txBox="1"/>
          <p:nvPr>
            <p:ph type="title"/>
          </p:nvPr>
        </p:nvSpPr>
        <p:spPr>
          <a:xfrm>
            <a:off x="4953000" y="2851152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471294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0"/>
          <p:cNvSpPr/>
          <p:nvPr/>
        </p:nvSpPr>
        <p:spPr>
          <a:xfrm>
            <a:off x="4953000" y="351948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2" name="Google Shape;112;p70"/>
          <p:cNvSpPr txBox="1"/>
          <p:nvPr>
            <p:ph idx="1" type="body"/>
          </p:nvPr>
        </p:nvSpPr>
        <p:spPr>
          <a:xfrm>
            <a:off x="5019675" y="3648075"/>
            <a:ext cx="4713288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">
  <p:cSld name="fi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5"/>
          <p:cNvSpPr/>
          <p:nvPr/>
        </p:nvSpPr>
        <p:spPr>
          <a:xfrm>
            <a:off x="9555161" y="6531391"/>
            <a:ext cx="268288" cy="244952"/>
          </a:xfrm>
          <a:custGeom>
            <a:rect b="b" l="l" r="r" t="t"/>
            <a:pathLst>
              <a:path extrusionOk="0" h="228600" w="247650">
                <a:moveTo>
                  <a:pt x="2476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247649" y="0"/>
                </a:lnTo>
                <a:lnTo>
                  <a:pt x="247649" y="228599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5" name="Google Shape;115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5428" y="-441048"/>
            <a:ext cx="10011428" cy="729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s">
  <p:cSld name="presentation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6"/>
          <p:cNvSpPr txBox="1"/>
          <p:nvPr/>
        </p:nvSpPr>
        <p:spPr>
          <a:xfrm>
            <a:off x="523974" y="2982577"/>
            <a:ext cx="4895850" cy="3349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390525" lvl="0" marL="12700" marR="5080" rtl="0" algn="ctr">
              <a:lnSpc>
                <a:spcPct val="153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Nous sommes disponibles </a:t>
            </a:r>
            <a:b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 mail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 par  téléphone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390525" lvl="0" marL="12700" marR="5080" rtl="0" algn="ctr">
              <a:lnSpc>
                <a:spcPct val="1536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b="0" i="0" lang="fr-FR" sz="175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avant, pendant et après vos formations</a:t>
            </a:r>
            <a:endParaRPr b="0" i="0" sz="17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8" name="Google Shape;118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375" y="348638"/>
            <a:ext cx="5335938" cy="137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4551" y="0"/>
            <a:ext cx="3981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6"/>
          <p:cNvSpPr txBox="1"/>
          <p:nvPr>
            <p:ph type="title"/>
          </p:nvPr>
        </p:nvSpPr>
        <p:spPr>
          <a:xfrm>
            <a:off x="704353" y="2176145"/>
            <a:ext cx="4406900" cy="473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7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6"/>
          <p:cNvSpPr/>
          <p:nvPr/>
        </p:nvSpPr>
        <p:spPr>
          <a:xfrm>
            <a:off x="1504664" y="2895599"/>
            <a:ext cx="2990850" cy="0"/>
          </a:xfrm>
          <a:custGeom>
            <a:rect b="b" l="l" r="r" t="t"/>
            <a:pathLst>
              <a:path extrusionOk="0" h="120000" w="2990850">
                <a:moveTo>
                  <a:pt x="0" y="0"/>
                </a:moveTo>
                <a:lnTo>
                  <a:pt x="2990849" y="0"/>
                </a:lnTo>
              </a:path>
            </a:pathLst>
          </a:custGeom>
          <a:noFill/>
          <a:ln cap="flat" cmpd="sng" w="380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22" name="Google Shape;122;p76"/>
          <p:cNvGrpSpPr/>
          <p:nvPr/>
        </p:nvGrpSpPr>
        <p:grpSpPr>
          <a:xfrm>
            <a:off x="1028557" y="3890637"/>
            <a:ext cx="4181475" cy="647700"/>
            <a:chOff x="615019" y="4667249"/>
            <a:chExt cx="4181475" cy="647700"/>
          </a:xfrm>
        </p:grpSpPr>
        <p:sp>
          <p:nvSpPr>
            <p:cNvPr id="123" name="Google Shape;123;p76"/>
            <p:cNvSpPr/>
            <p:nvPr/>
          </p:nvSpPr>
          <p:spPr>
            <a:xfrm>
              <a:off x="615019" y="4667249"/>
              <a:ext cx="4181475" cy="647700"/>
            </a:xfrm>
            <a:custGeom>
              <a:rect b="b" l="l" r="r" t="t"/>
              <a:pathLst>
                <a:path extrusionOk="0" h="647700" w="4181475">
                  <a:moveTo>
                    <a:pt x="4181474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4181474" y="0"/>
                  </a:lnTo>
                  <a:lnTo>
                    <a:pt x="4181474" y="647699"/>
                  </a:lnTo>
                  <a:close/>
                </a:path>
              </a:pathLst>
            </a:custGeom>
            <a:solidFill>
              <a:srgbClr val="E7E6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4" name="Google Shape;124;p76"/>
            <p:cNvSpPr/>
            <p:nvPr/>
          </p:nvSpPr>
          <p:spPr>
            <a:xfrm>
              <a:off x="634069" y="4686299"/>
              <a:ext cx="4143375" cy="609600"/>
            </a:xfrm>
            <a:custGeom>
              <a:rect b="b" l="l" r="r" t="t"/>
              <a:pathLst>
                <a:path extrusionOk="0" h="609600" w="4143375">
                  <a:moveTo>
                    <a:pt x="0" y="0"/>
                  </a:moveTo>
                  <a:lnTo>
                    <a:pt x="4143374" y="0"/>
                  </a:lnTo>
                  <a:lnTo>
                    <a:pt x="4143374" y="609599"/>
                  </a:lnTo>
                  <a:lnTo>
                    <a:pt x="0" y="60959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075">
              <a:solidFill>
                <a:srgbClr val="E7E6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25" name="Google Shape;125;p76"/>
          <p:cNvSpPr txBox="1"/>
          <p:nvPr/>
        </p:nvSpPr>
        <p:spPr>
          <a:xfrm>
            <a:off x="1028557" y="3890637"/>
            <a:ext cx="4181475" cy="4821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0" lvl="0" marL="1517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fr-FR" sz="2300" u="sng" cap="none" strike="noStrike">
                <a:solidFill>
                  <a:schemeClr val="accent6"/>
                </a:solidFill>
                <a:latin typeface="Tahoma"/>
                <a:ea typeface="Tahoma"/>
                <a:cs typeface="Tahoma"/>
                <a:sym typeface="Tahom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formation@ambient-it.net</a:t>
            </a:r>
            <a:endParaRPr b="0" i="0" sz="2300" u="none" cap="none" strike="noStrike">
              <a:solidFill>
                <a:schemeClr val="accent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76"/>
          <p:cNvSpPr/>
          <p:nvPr/>
        </p:nvSpPr>
        <p:spPr>
          <a:xfrm>
            <a:off x="4712846" y="4107331"/>
            <a:ext cx="285750" cy="214629"/>
          </a:xfrm>
          <a:custGeom>
            <a:rect b="b" l="l" r="r" t="t"/>
            <a:pathLst>
              <a:path extrusionOk="0" h="214629" w="285750">
                <a:moveTo>
                  <a:pt x="142839" y="102307"/>
                </a:moveTo>
                <a:lnTo>
                  <a:pt x="0" y="34879"/>
                </a:lnTo>
                <a:lnTo>
                  <a:pt x="0" y="0"/>
                </a:lnTo>
                <a:lnTo>
                  <a:pt x="285750" y="0"/>
                </a:lnTo>
                <a:lnTo>
                  <a:pt x="285750" y="34986"/>
                </a:lnTo>
                <a:lnTo>
                  <a:pt x="142839" y="102307"/>
                </a:lnTo>
                <a:close/>
              </a:path>
              <a:path extrusionOk="0" h="214629" w="285750">
                <a:moveTo>
                  <a:pt x="285750" y="214312"/>
                </a:moveTo>
                <a:lnTo>
                  <a:pt x="0" y="214312"/>
                </a:lnTo>
                <a:lnTo>
                  <a:pt x="0" y="74295"/>
                </a:lnTo>
                <a:lnTo>
                  <a:pt x="142910" y="141794"/>
                </a:lnTo>
                <a:lnTo>
                  <a:pt x="285750" y="141794"/>
                </a:lnTo>
                <a:lnTo>
                  <a:pt x="285750" y="214312"/>
                </a:lnTo>
                <a:close/>
              </a:path>
              <a:path extrusionOk="0" h="214629" w="285750">
                <a:moveTo>
                  <a:pt x="285750" y="141794"/>
                </a:moveTo>
                <a:lnTo>
                  <a:pt x="142910" y="141794"/>
                </a:lnTo>
                <a:lnTo>
                  <a:pt x="285750" y="74509"/>
                </a:lnTo>
                <a:lnTo>
                  <a:pt x="285750" y="14179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76"/>
          <p:cNvSpPr txBox="1"/>
          <p:nvPr/>
        </p:nvSpPr>
        <p:spPr>
          <a:xfrm>
            <a:off x="1047608" y="5184150"/>
            <a:ext cx="4143374" cy="587441"/>
          </a:xfrm>
          <a:prstGeom prst="rect">
            <a:avLst/>
          </a:prstGeom>
          <a:noFill/>
          <a:ln cap="flat" cmpd="sng" w="38075">
            <a:solidFill>
              <a:srgbClr val="E7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000" lIns="0" spcFirstLastPara="1" rIns="0" wrap="square" tIns="108000">
            <a:spAutoFit/>
          </a:bodyPr>
          <a:lstStyle/>
          <a:p>
            <a:pPr indent="0" lvl="0" marL="1327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01 48 10 09 46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6"/>
          <p:cNvSpPr/>
          <p:nvPr/>
        </p:nvSpPr>
        <p:spPr>
          <a:xfrm>
            <a:off x="4783967" y="5334994"/>
            <a:ext cx="214629" cy="285750"/>
          </a:xfrm>
          <a:custGeom>
            <a:rect b="b" l="l" r="r" t="t"/>
            <a:pathLst>
              <a:path extrusionOk="0" h="285750" w="214629">
                <a:moveTo>
                  <a:pt x="142875" y="285750"/>
                </a:moveTo>
                <a:lnTo>
                  <a:pt x="71437" y="285750"/>
                </a:lnTo>
                <a:lnTo>
                  <a:pt x="43631" y="280135"/>
                </a:lnTo>
                <a:lnTo>
                  <a:pt x="20924" y="264825"/>
                </a:lnTo>
                <a:lnTo>
                  <a:pt x="5614" y="242118"/>
                </a:lnTo>
                <a:lnTo>
                  <a:pt x="0" y="214312"/>
                </a:lnTo>
                <a:lnTo>
                  <a:pt x="0" y="71437"/>
                </a:lnTo>
                <a:lnTo>
                  <a:pt x="5614" y="43631"/>
                </a:lnTo>
                <a:lnTo>
                  <a:pt x="20924" y="20924"/>
                </a:lnTo>
                <a:lnTo>
                  <a:pt x="43631" y="5614"/>
                </a:lnTo>
                <a:lnTo>
                  <a:pt x="71437" y="0"/>
                </a:lnTo>
                <a:lnTo>
                  <a:pt x="142875" y="0"/>
                </a:lnTo>
                <a:lnTo>
                  <a:pt x="170680" y="5614"/>
                </a:lnTo>
                <a:lnTo>
                  <a:pt x="193388" y="20924"/>
                </a:lnTo>
                <a:lnTo>
                  <a:pt x="203362" y="35718"/>
                </a:lnTo>
                <a:lnTo>
                  <a:pt x="71437" y="35718"/>
                </a:lnTo>
                <a:lnTo>
                  <a:pt x="57549" y="38533"/>
                </a:lnTo>
                <a:lnTo>
                  <a:pt x="46194" y="46201"/>
                </a:lnTo>
                <a:lnTo>
                  <a:pt x="38530" y="57557"/>
                </a:lnTo>
                <a:lnTo>
                  <a:pt x="35718" y="71437"/>
                </a:lnTo>
                <a:lnTo>
                  <a:pt x="35718" y="214312"/>
                </a:lnTo>
                <a:lnTo>
                  <a:pt x="214312" y="214312"/>
                </a:lnTo>
                <a:lnTo>
                  <a:pt x="210818" y="231618"/>
                </a:lnTo>
                <a:lnTo>
                  <a:pt x="107156" y="231618"/>
                </a:lnTo>
                <a:lnTo>
                  <a:pt x="99992" y="233063"/>
                </a:lnTo>
                <a:lnTo>
                  <a:pt x="94138" y="237007"/>
                </a:lnTo>
                <a:lnTo>
                  <a:pt x="90191" y="242859"/>
                </a:lnTo>
                <a:lnTo>
                  <a:pt x="88743" y="250031"/>
                </a:lnTo>
                <a:lnTo>
                  <a:pt x="90189" y="257202"/>
                </a:lnTo>
                <a:lnTo>
                  <a:pt x="94135" y="263055"/>
                </a:lnTo>
                <a:lnTo>
                  <a:pt x="99988" y="266998"/>
                </a:lnTo>
                <a:lnTo>
                  <a:pt x="107156" y="268444"/>
                </a:lnTo>
                <a:lnTo>
                  <a:pt x="188020" y="268444"/>
                </a:lnTo>
                <a:lnTo>
                  <a:pt x="170680" y="280135"/>
                </a:lnTo>
                <a:lnTo>
                  <a:pt x="142875" y="285750"/>
                </a:lnTo>
                <a:close/>
              </a:path>
              <a:path extrusionOk="0" h="285750" w="214629">
                <a:moveTo>
                  <a:pt x="214312" y="214312"/>
                </a:moveTo>
                <a:lnTo>
                  <a:pt x="178593" y="214312"/>
                </a:lnTo>
                <a:lnTo>
                  <a:pt x="178593" y="71437"/>
                </a:lnTo>
                <a:lnTo>
                  <a:pt x="175779" y="57557"/>
                </a:lnTo>
                <a:lnTo>
                  <a:pt x="168111" y="46201"/>
                </a:lnTo>
                <a:lnTo>
                  <a:pt x="156755" y="38533"/>
                </a:lnTo>
                <a:lnTo>
                  <a:pt x="142875" y="35718"/>
                </a:lnTo>
                <a:lnTo>
                  <a:pt x="203362" y="35718"/>
                </a:lnTo>
                <a:lnTo>
                  <a:pt x="208698" y="43631"/>
                </a:lnTo>
                <a:lnTo>
                  <a:pt x="214312" y="71437"/>
                </a:lnTo>
                <a:lnTo>
                  <a:pt x="214312" y="214312"/>
                </a:lnTo>
                <a:close/>
              </a:path>
              <a:path extrusionOk="0" h="285750" w="214629">
                <a:moveTo>
                  <a:pt x="188020" y="268444"/>
                </a:moveTo>
                <a:lnTo>
                  <a:pt x="107156" y="268444"/>
                </a:lnTo>
                <a:lnTo>
                  <a:pt x="114324" y="266998"/>
                </a:lnTo>
                <a:lnTo>
                  <a:pt x="120176" y="263055"/>
                </a:lnTo>
                <a:lnTo>
                  <a:pt x="124122" y="257202"/>
                </a:lnTo>
                <a:lnTo>
                  <a:pt x="125569" y="250031"/>
                </a:lnTo>
                <a:lnTo>
                  <a:pt x="124121" y="242859"/>
                </a:lnTo>
                <a:lnTo>
                  <a:pt x="120173" y="237007"/>
                </a:lnTo>
                <a:lnTo>
                  <a:pt x="114320" y="233063"/>
                </a:lnTo>
                <a:lnTo>
                  <a:pt x="107156" y="231618"/>
                </a:lnTo>
                <a:lnTo>
                  <a:pt x="210818" y="231618"/>
                </a:lnTo>
                <a:lnTo>
                  <a:pt x="208698" y="242118"/>
                </a:lnTo>
                <a:lnTo>
                  <a:pt x="193388" y="264825"/>
                </a:lnTo>
                <a:lnTo>
                  <a:pt x="188020" y="2684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titre">
  <p:cSld name="1. titr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7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77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7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4" name="Google Shape;134;p77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onnes icones">
  <p:cSld name="3 colonnes icone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8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7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40" name="Google Shape;140;p78"/>
          <p:cNvSpPr/>
          <p:nvPr/>
        </p:nvSpPr>
        <p:spPr>
          <a:xfrm>
            <a:off x="4543425" y="909637"/>
            <a:ext cx="904875" cy="0"/>
          </a:xfrm>
          <a:custGeom>
            <a:rect b="b" l="l" r="r" t="t"/>
            <a:pathLst>
              <a:path extrusionOk="0" h="120000" w="904875">
                <a:moveTo>
                  <a:pt x="0" y="0"/>
                </a:moveTo>
                <a:lnTo>
                  <a:pt x="904874" y="0"/>
                </a:lnTo>
              </a:path>
            </a:pathLst>
          </a:custGeom>
          <a:noFill/>
          <a:ln cap="flat" cmpd="sng" w="38075">
            <a:solidFill>
              <a:srgbClr val="F1E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78"/>
          <p:cNvSpPr/>
          <p:nvPr/>
        </p:nvSpPr>
        <p:spPr>
          <a:xfrm>
            <a:off x="681038" y="1954214"/>
            <a:ext cx="2340000" cy="3384000"/>
          </a:xfrm>
          <a:custGeom>
            <a:rect b="b" l="l" r="r" t="t"/>
            <a:pathLst>
              <a:path extrusionOk="0" h="3333750" w="2133600">
                <a:moveTo>
                  <a:pt x="2133599" y="3333749"/>
                </a:moveTo>
                <a:lnTo>
                  <a:pt x="0" y="3333749"/>
                </a:lnTo>
                <a:lnTo>
                  <a:pt x="0" y="0"/>
                </a:lnTo>
                <a:lnTo>
                  <a:pt x="2133599" y="0"/>
                </a:lnTo>
                <a:lnTo>
                  <a:pt x="2133599" y="33337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2" name="Google Shape;142;p78"/>
          <p:cNvSpPr/>
          <p:nvPr/>
        </p:nvSpPr>
        <p:spPr>
          <a:xfrm>
            <a:off x="3838576" y="1954214"/>
            <a:ext cx="2340000" cy="3384000"/>
          </a:xfrm>
          <a:custGeom>
            <a:rect b="b" l="l" r="r" t="t"/>
            <a:pathLst>
              <a:path extrusionOk="0" h="3333750" w="2133600">
                <a:moveTo>
                  <a:pt x="2133599" y="3333749"/>
                </a:moveTo>
                <a:lnTo>
                  <a:pt x="0" y="3333749"/>
                </a:lnTo>
                <a:lnTo>
                  <a:pt x="0" y="0"/>
                </a:lnTo>
                <a:lnTo>
                  <a:pt x="2133599" y="0"/>
                </a:lnTo>
                <a:lnTo>
                  <a:pt x="2133599" y="33337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3" name="Google Shape;143;p78"/>
          <p:cNvSpPr/>
          <p:nvPr/>
        </p:nvSpPr>
        <p:spPr>
          <a:xfrm>
            <a:off x="6996113" y="1954214"/>
            <a:ext cx="2340000" cy="3384000"/>
          </a:xfrm>
          <a:custGeom>
            <a:rect b="b" l="l" r="r" t="t"/>
            <a:pathLst>
              <a:path extrusionOk="0" h="3333750" w="2133600">
                <a:moveTo>
                  <a:pt x="2133599" y="3333749"/>
                </a:moveTo>
                <a:lnTo>
                  <a:pt x="0" y="3333749"/>
                </a:lnTo>
                <a:lnTo>
                  <a:pt x="0" y="0"/>
                </a:lnTo>
                <a:lnTo>
                  <a:pt x="2133599" y="0"/>
                </a:lnTo>
                <a:lnTo>
                  <a:pt x="2133599" y="3333749"/>
                </a:lnTo>
                <a:close/>
              </a:path>
            </a:pathLst>
          </a:custGeom>
          <a:solidFill>
            <a:srgbClr val="F1EC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4" name="Google Shape;144;p78"/>
          <p:cNvSpPr/>
          <p:nvPr/>
        </p:nvSpPr>
        <p:spPr>
          <a:xfrm>
            <a:off x="4591049" y="3194446"/>
            <a:ext cx="809625" cy="0"/>
          </a:xfrm>
          <a:custGeom>
            <a:rect b="b" l="l" r="r" t="t"/>
            <a:pathLst>
              <a:path extrusionOk="0" h="120000" w="809625">
                <a:moveTo>
                  <a:pt x="0" y="0"/>
                </a:moveTo>
                <a:lnTo>
                  <a:pt x="809624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5" name="Google Shape;145;p78"/>
          <p:cNvSpPr/>
          <p:nvPr/>
        </p:nvSpPr>
        <p:spPr>
          <a:xfrm>
            <a:off x="7761300" y="3194446"/>
            <a:ext cx="809625" cy="0"/>
          </a:xfrm>
          <a:custGeom>
            <a:rect b="b" l="l" r="r" t="t"/>
            <a:pathLst>
              <a:path extrusionOk="0" h="120000" w="809625">
                <a:moveTo>
                  <a:pt x="0" y="0"/>
                </a:moveTo>
                <a:lnTo>
                  <a:pt x="809624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78"/>
          <p:cNvSpPr/>
          <p:nvPr/>
        </p:nvSpPr>
        <p:spPr>
          <a:xfrm>
            <a:off x="1308113" y="3217067"/>
            <a:ext cx="809625" cy="0"/>
          </a:xfrm>
          <a:custGeom>
            <a:rect b="b" l="l" r="r" t="t"/>
            <a:pathLst>
              <a:path extrusionOk="0" h="120000" w="809625">
                <a:moveTo>
                  <a:pt x="0" y="0"/>
                </a:moveTo>
                <a:lnTo>
                  <a:pt x="809624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p78"/>
          <p:cNvSpPr txBox="1"/>
          <p:nvPr>
            <p:ph idx="1" type="body"/>
          </p:nvPr>
        </p:nvSpPr>
        <p:spPr>
          <a:xfrm>
            <a:off x="681038" y="3360343"/>
            <a:ext cx="2340000" cy="521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8" name="Google Shape;148;p78"/>
          <p:cNvSpPr txBox="1"/>
          <p:nvPr>
            <p:ph idx="2" type="body"/>
          </p:nvPr>
        </p:nvSpPr>
        <p:spPr>
          <a:xfrm>
            <a:off x="3838576" y="3360343"/>
            <a:ext cx="2340000" cy="521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9" name="Google Shape;149;p78"/>
          <p:cNvSpPr txBox="1"/>
          <p:nvPr>
            <p:ph idx="3" type="body"/>
          </p:nvPr>
        </p:nvSpPr>
        <p:spPr>
          <a:xfrm>
            <a:off x="6996112" y="3360342"/>
            <a:ext cx="2340000" cy="521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0" name="Google Shape;150;p78"/>
          <p:cNvSpPr txBox="1"/>
          <p:nvPr>
            <p:ph idx="4" type="body"/>
          </p:nvPr>
        </p:nvSpPr>
        <p:spPr>
          <a:xfrm>
            <a:off x="681038" y="4047729"/>
            <a:ext cx="2340000" cy="124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1" name="Google Shape;151;p78"/>
          <p:cNvSpPr txBox="1"/>
          <p:nvPr>
            <p:ph idx="5" type="body"/>
          </p:nvPr>
        </p:nvSpPr>
        <p:spPr>
          <a:xfrm>
            <a:off x="3838576" y="4047729"/>
            <a:ext cx="2340000" cy="124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2" name="Google Shape;152;p78"/>
          <p:cNvSpPr txBox="1"/>
          <p:nvPr>
            <p:ph idx="6" type="body"/>
          </p:nvPr>
        </p:nvSpPr>
        <p:spPr>
          <a:xfrm>
            <a:off x="6996112" y="4047728"/>
            <a:ext cx="2340000" cy="1240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3" name="Google Shape;153;p78"/>
          <p:cNvSpPr/>
          <p:nvPr/>
        </p:nvSpPr>
        <p:spPr>
          <a:xfrm>
            <a:off x="7806112" y="2300252"/>
            <a:ext cx="720000" cy="720000"/>
          </a:xfrm>
          <a:custGeom>
            <a:rect b="b" l="l" r="r" t="t"/>
            <a:pathLst>
              <a:path extrusionOk="0" h="666750" w="666750">
                <a:moveTo>
                  <a:pt x="333374" y="666749"/>
                </a:moveTo>
                <a:lnTo>
                  <a:pt x="292563" y="664242"/>
                </a:lnTo>
                <a:lnTo>
                  <a:pt x="252371" y="656759"/>
                </a:lnTo>
                <a:lnTo>
                  <a:pt x="213397" y="644412"/>
                </a:lnTo>
                <a:lnTo>
                  <a:pt x="176223" y="627385"/>
                </a:lnTo>
                <a:lnTo>
                  <a:pt x="141412" y="605935"/>
                </a:lnTo>
                <a:lnTo>
                  <a:pt x="109493" y="580389"/>
                </a:lnTo>
                <a:lnTo>
                  <a:pt x="80941" y="551128"/>
                </a:lnTo>
                <a:lnTo>
                  <a:pt x="56183" y="518588"/>
                </a:lnTo>
                <a:lnTo>
                  <a:pt x="35595" y="483261"/>
                </a:lnTo>
                <a:lnTo>
                  <a:pt x="19487" y="445685"/>
                </a:lnTo>
                <a:lnTo>
                  <a:pt x="8100" y="406420"/>
                </a:lnTo>
                <a:lnTo>
                  <a:pt x="1605" y="366051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8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7" y="43310"/>
                </a:lnTo>
                <a:lnTo>
                  <a:pt x="531966" y="65605"/>
                </a:lnTo>
                <a:lnTo>
                  <a:pt x="563248" y="91927"/>
                </a:lnTo>
                <a:lnTo>
                  <a:pt x="591077" y="121884"/>
                </a:lnTo>
                <a:lnTo>
                  <a:pt x="615029" y="155022"/>
                </a:lnTo>
                <a:lnTo>
                  <a:pt x="634742" y="190838"/>
                </a:lnTo>
                <a:lnTo>
                  <a:pt x="649923" y="228798"/>
                </a:lnTo>
                <a:lnTo>
                  <a:pt x="660344" y="268336"/>
                </a:lnTo>
                <a:lnTo>
                  <a:pt x="665847" y="308852"/>
                </a:lnTo>
                <a:lnTo>
                  <a:pt x="666749" y="333374"/>
                </a:lnTo>
                <a:lnTo>
                  <a:pt x="666649" y="341558"/>
                </a:lnTo>
                <a:lnTo>
                  <a:pt x="663141" y="382291"/>
                </a:lnTo>
                <a:lnTo>
                  <a:pt x="654674" y="422287"/>
                </a:lnTo>
                <a:lnTo>
                  <a:pt x="641373" y="460951"/>
                </a:lnTo>
                <a:lnTo>
                  <a:pt x="623439" y="497697"/>
                </a:lnTo>
                <a:lnTo>
                  <a:pt x="601144" y="531966"/>
                </a:lnTo>
                <a:lnTo>
                  <a:pt x="574822" y="563248"/>
                </a:lnTo>
                <a:lnTo>
                  <a:pt x="544865" y="591077"/>
                </a:lnTo>
                <a:lnTo>
                  <a:pt x="511727" y="615029"/>
                </a:lnTo>
                <a:lnTo>
                  <a:pt x="475911" y="634742"/>
                </a:lnTo>
                <a:lnTo>
                  <a:pt x="437950" y="649923"/>
                </a:lnTo>
                <a:lnTo>
                  <a:pt x="398413" y="660344"/>
                </a:lnTo>
                <a:lnTo>
                  <a:pt x="357897" y="665847"/>
                </a:lnTo>
                <a:lnTo>
                  <a:pt x="333374" y="666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78"/>
          <p:cNvSpPr/>
          <p:nvPr/>
        </p:nvSpPr>
        <p:spPr>
          <a:xfrm>
            <a:off x="4648576" y="2300252"/>
            <a:ext cx="720000" cy="720000"/>
          </a:xfrm>
          <a:custGeom>
            <a:rect b="b" l="l" r="r" t="t"/>
            <a:pathLst>
              <a:path extrusionOk="0" h="666750" w="666750">
                <a:moveTo>
                  <a:pt x="333374" y="666749"/>
                </a:moveTo>
                <a:lnTo>
                  <a:pt x="292563" y="664242"/>
                </a:lnTo>
                <a:lnTo>
                  <a:pt x="252371" y="656759"/>
                </a:lnTo>
                <a:lnTo>
                  <a:pt x="213397" y="644412"/>
                </a:lnTo>
                <a:lnTo>
                  <a:pt x="176223" y="627385"/>
                </a:lnTo>
                <a:lnTo>
                  <a:pt x="141412" y="605935"/>
                </a:lnTo>
                <a:lnTo>
                  <a:pt x="109493" y="580389"/>
                </a:lnTo>
                <a:lnTo>
                  <a:pt x="80941" y="551128"/>
                </a:lnTo>
                <a:lnTo>
                  <a:pt x="56183" y="518588"/>
                </a:lnTo>
                <a:lnTo>
                  <a:pt x="35595" y="483261"/>
                </a:lnTo>
                <a:lnTo>
                  <a:pt x="19487" y="445685"/>
                </a:lnTo>
                <a:lnTo>
                  <a:pt x="8100" y="406420"/>
                </a:lnTo>
                <a:lnTo>
                  <a:pt x="1605" y="366051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8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7" y="43310"/>
                </a:lnTo>
                <a:lnTo>
                  <a:pt x="531966" y="65605"/>
                </a:lnTo>
                <a:lnTo>
                  <a:pt x="563248" y="91927"/>
                </a:lnTo>
                <a:lnTo>
                  <a:pt x="591077" y="121884"/>
                </a:lnTo>
                <a:lnTo>
                  <a:pt x="615029" y="155022"/>
                </a:lnTo>
                <a:lnTo>
                  <a:pt x="634742" y="190838"/>
                </a:lnTo>
                <a:lnTo>
                  <a:pt x="649923" y="228798"/>
                </a:lnTo>
                <a:lnTo>
                  <a:pt x="660344" y="268336"/>
                </a:lnTo>
                <a:lnTo>
                  <a:pt x="665847" y="308852"/>
                </a:lnTo>
                <a:lnTo>
                  <a:pt x="666749" y="333374"/>
                </a:lnTo>
                <a:lnTo>
                  <a:pt x="666649" y="341558"/>
                </a:lnTo>
                <a:lnTo>
                  <a:pt x="663141" y="382291"/>
                </a:lnTo>
                <a:lnTo>
                  <a:pt x="654674" y="422287"/>
                </a:lnTo>
                <a:lnTo>
                  <a:pt x="641373" y="460951"/>
                </a:lnTo>
                <a:lnTo>
                  <a:pt x="623439" y="497697"/>
                </a:lnTo>
                <a:lnTo>
                  <a:pt x="601144" y="531966"/>
                </a:lnTo>
                <a:lnTo>
                  <a:pt x="574822" y="563248"/>
                </a:lnTo>
                <a:lnTo>
                  <a:pt x="544865" y="591077"/>
                </a:lnTo>
                <a:lnTo>
                  <a:pt x="511727" y="615029"/>
                </a:lnTo>
                <a:lnTo>
                  <a:pt x="475911" y="634742"/>
                </a:lnTo>
                <a:lnTo>
                  <a:pt x="437950" y="649923"/>
                </a:lnTo>
                <a:lnTo>
                  <a:pt x="398413" y="660344"/>
                </a:lnTo>
                <a:lnTo>
                  <a:pt x="357897" y="665847"/>
                </a:lnTo>
                <a:lnTo>
                  <a:pt x="333374" y="666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78"/>
          <p:cNvSpPr/>
          <p:nvPr/>
        </p:nvSpPr>
        <p:spPr>
          <a:xfrm>
            <a:off x="1491038" y="2300252"/>
            <a:ext cx="720000" cy="720000"/>
          </a:xfrm>
          <a:custGeom>
            <a:rect b="b" l="l" r="r" t="t"/>
            <a:pathLst>
              <a:path extrusionOk="0" h="666750" w="666750">
                <a:moveTo>
                  <a:pt x="333374" y="666749"/>
                </a:moveTo>
                <a:lnTo>
                  <a:pt x="292563" y="664242"/>
                </a:lnTo>
                <a:lnTo>
                  <a:pt x="252371" y="656759"/>
                </a:lnTo>
                <a:lnTo>
                  <a:pt x="213397" y="644412"/>
                </a:lnTo>
                <a:lnTo>
                  <a:pt x="176223" y="627385"/>
                </a:lnTo>
                <a:lnTo>
                  <a:pt x="141412" y="605935"/>
                </a:lnTo>
                <a:lnTo>
                  <a:pt x="109493" y="580389"/>
                </a:lnTo>
                <a:lnTo>
                  <a:pt x="80941" y="551128"/>
                </a:lnTo>
                <a:lnTo>
                  <a:pt x="56183" y="518588"/>
                </a:lnTo>
                <a:lnTo>
                  <a:pt x="35595" y="483261"/>
                </a:lnTo>
                <a:lnTo>
                  <a:pt x="19487" y="445685"/>
                </a:lnTo>
                <a:lnTo>
                  <a:pt x="8100" y="406420"/>
                </a:lnTo>
                <a:lnTo>
                  <a:pt x="1605" y="366051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41558" y="100"/>
                </a:lnTo>
                <a:lnTo>
                  <a:pt x="382291" y="3608"/>
                </a:lnTo>
                <a:lnTo>
                  <a:pt x="422287" y="12075"/>
                </a:lnTo>
                <a:lnTo>
                  <a:pt x="460951" y="25376"/>
                </a:lnTo>
                <a:lnTo>
                  <a:pt x="497697" y="43310"/>
                </a:lnTo>
                <a:lnTo>
                  <a:pt x="531966" y="65605"/>
                </a:lnTo>
                <a:lnTo>
                  <a:pt x="563248" y="91927"/>
                </a:lnTo>
                <a:lnTo>
                  <a:pt x="591077" y="121884"/>
                </a:lnTo>
                <a:lnTo>
                  <a:pt x="615029" y="155022"/>
                </a:lnTo>
                <a:lnTo>
                  <a:pt x="634742" y="190838"/>
                </a:lnTo>
                <a:lnTo>
                  <a:pt x="649923" y="228798"/>
                </a:lnTo>
                <a:lnTo>
                  <a:pt x="660344" y="268336"/>
                </a:lnTo>
                <a:lnTo>
                  <a:pt x="665847" y="308852"/>
                </a:lnTo>
                <a:lnTo>
                  <a:pt x="666749" y="333374"/>
                </a:lnTo>
                <a:lnTo>
                  <a:pt x="666649" y="341558"/>
                </a:lnTo>
                <a:lnTo>
                  <a:pt x="663141" y="382291"/>
                </a:lnTo>
                <a:lnTo>
                  <a:pt x="654674" y="422287"/>
                </a:lnTo>
                <a:lnTo>
                  <a:pt x="641373" y="460951"/>
                </a:lnTo>
                <a:lnTo>
                  <a:pt x="623439" y="497697"/>
                </a:lnTo>
                <a:lnTo>
                  <a:pt x="601144" y="531966"/>
                </a:lnTo>
                <a:lnTo>
                  <a:pt x="574822" y="563248"/>
                </a:lnTo>
                <a:lnTo>
                  <a:pt x="544865" y="591077"/>
                </a:lnTo>
                <a:lnTo>
                  <a:pt x="511727" y="615029"/>
                </a:lnTo>
                <a:lnTo>
                  <a:pt x="475911" y="634742"/>
                </a:lnTo>
                <a:lnTo>
                  <a:pt x="437950" y="649923"/>
                </a:lnTo>
                <a:lnTo>
                  <a:pt x="398413" y="660344"/>
                </a:lnTo>
                <a:lnTo>
                  <a:pt x="357897" y="665847"/>
                </a:lnTo>
                <a:lnTo>
                  <a:pt x="333374" y="666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9"/>
          <p:cNvSpPr txBox="1"/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9"/>
          <p:cNvSpPr txBox="1"/>
          <p:nvPr>
            <p:ph idx="1" type="subTitle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9" name="Google Shape;159;p79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7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79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0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8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80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1"/>
          <p:cNvSpPr txBox="1"/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81"/>
          <p:cNvSpPr txBox="1"/>
          <p:nvPr>
            <p:ph idx="1" type="body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9" name="Google Shape;169;p81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8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81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2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82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82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8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8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8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3"/>
          <p:cNvSpPr txBox="1"/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83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2" name="Google Shape;182;p83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83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4" name="Google Shape;184;p83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83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8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83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4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84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8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4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8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8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6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86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0" name="Google Shape;200;p86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8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8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8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7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87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87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87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8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87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8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88"/>
          <p:cNvSpPr txBox="1"/>
          <p:nvPr>
            <p:ph idx="1" type="body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8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8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8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9"/>
          <p:cNvSpPr txBox="1"/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89"/>
          <p:cNvSpPr txBox="1"/>
          <p:nvPr>
            <p:ph idx="1" type="body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89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8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89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/>
          <p:nvPr>
            <p:ph type="title"/>
          </p:nvPr>
        </p:nvSpPr>
        <p:spPr>
          <a:xfrm>
            <a:off x="681038" y="307978"/>
            <a:ext cx="8543925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2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6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6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6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w3schools.com/xml/xpath_syntax.asp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odoo.com/documentation/19.0/developer/reference/frontend/javascript_reference.html#field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odoo.com/documentation/19.0/developer/reference/user_interface/view_architectures.html#search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odoo.com/documentation/19.0/developer/reference/user_interface/view_architectures.html#kanba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odoo.com/documentation/16.0/developer/reference/backend/orm.html#computed-field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odoo.com/documentation/19.0/developer/reference/backend/actions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odoo.com/documentation/19.0/developer/reference/user_interface/icons.html" TargetMode="External"/><Relationship Id="rId4" Type="http://schemas.openxmlformats.org/officeDocument/2006/relationships/hyperlink" Target="https://fontawesome.com/v4/icons/" TargetMode="External"/><Relationship Id="rId5" Type="http://schemas.openxmlformats.org/officeDocument/2006/relationships/hyperlink" Target="https://getbootstrap.com/docs/5.3/components/buttons/#variants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Relationship Id="rId4" Type="http://schemas.openxmlformats.org/officeDocument/2006/relationships/hyperlink" Target="https://check.town/blog/isbn-validator-guid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odoo.com/documentation/19.0/developer/reference/backend/security.html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"/>
          <p:cNvSpPr txBox="1"/>
          <p:nvPr>
            <p:ph type="title"/>
          </p:nvPr>
        </p:nvSpPr>
        <p:spPr>
          <a:xfrm>
            <a:off x="4953000" y="2851152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800"/>
              <a:t>Formation Odoo Développeur — Essentiel</a:t>
            </a:r>
            <a:endParaRPr/>
          </a:p>
        </p:txBody>
      </p:sp>
      <p:sp>
        <p:nvSpPr>
          <p:cNvPr id="229" name="Google Shape;229;p1"/>
          <p:cNvSpPr txBox="1"/>
          <p:nvPr>
            <p:ph idx="1" type="body"/>
          </p:nvPr>
        </p:nvSpPr>
        <p:spPr>
          <a:xfrm>
            <a:off x="5019675" y="3648075"/>
            <a:ext cx="47133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fr-FR" sz="1800"/>
              <a:t>Ambient IT</a:t>
            </a:r>
            <a:br>
              <a:rPr b="1" lang="fr-FR" sz="1800"/>
            </a:br>
            <a:r>
              <a:rPr b="1" lang="fr-FR" sz="1800"/>
              <a:t>31 Août - 02 Sept. 2026</a:t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fr-FR" sz="1800"/>
              <a:t>Formateur : Arnaud LAYEC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fr-FR" sz="1800"/>
              <a:t>Jour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412d642b3_0_0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Retour sur la Journée 1</a:t>
            </a:r>
            <a:endParaRPr/>
          </a:p>
        </p:txBody>
      </p:sp>
      <p:sp>
        <p:nvSpPr>
          <p:cNvPr id="235" name="Google Shape;235;g3f412d642b3_0_0"/>
          <p:cNvSpPr txBox="1"/>
          <p:nvPr/>
        </p:nvSpPr>
        <p:spPr>
          <a:xfrm>
            <a:off x="4588662" y="1900000"/>
            <a:ext cx="4822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b="1" lang="fr-FR"/>
              <a:t>Questions ?</a:t>
            </a:r>
            <a:endParaRPr b="1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fr-FR"/>
              <a:t>Exercices terminés ?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fr-FR" sz="6000">
                <a:solidFill>
                  <a:schemeClr val="dk1"/>
                </a:solidFill>
              </a:rPr>
              <a:t>🙋‍♂️🙋‍♀️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a5c5757b_0_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Agenda Jour 2</a:t>
            </a:r>
            <a:endParaRPr/>
          </a:p>
        </p:txBody>
      </p:sp>
      <p:graphicFrame>
        <p:nvGraphicFramePr>
          <p:cNvPr id="241" name="Google Shape;241;g3f8a5c5757b_0_4"/>
          <p:cNvGraphicFramePr/>
          <p:nvPr/>
        </p:nvGraphicFramePr>
        <p:xfrm>
          <a:off x="142875" y="103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1116625"/>
                <a:gridCol w="657750"/>
                <a:gridCol w="3974100"/>
                <a:gridCol w="2919675"/>
                <a:gridCol w="1008750"/>
              </a:tblGrid>
              <a:tr h="21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150" u="none" cap="none" strike="noStrike">
                          <a:solidFill>
                            <a:schemeClr val="lt1"/>
                          </a:solidFill>
                        </a:rPr>
                        <a:t>Horaire</a:t>
                      </a:r>
                      <a:endParaRPr b="1" sz="11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150" u="none" cap="none" strike="noStrike">
                          <a:solidFill>
                            <a:schemeClr val="lt1"/>
                          </a:solidFill>
                        </a:rPr>
                        <a:t>Durée</a:t>
                      </a:r>
                      <a:endParaRPr b="1" sz="11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150" u="none" cap="none" strike="noStrike">
                          <a:solidFill>
                            <a:schemeClr val="lt1"/>
                          </a:solidFill>
                        </a:rPr>
                        <a:t>Résumé</a:t>
                      </a:r>
                      <a:endParaRPr b="1" sz="11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150" u="none" cap="none" strike="noStrike">
                          <a:solidFill>
                            <a:schemeClr val="lt1"/>
                          </a:solidFill>
                        </a:rPr>
                        <a:t>Exercice du fil rouge</a:t>
                      </a:r>
                      <a:endParaRPr b="1" sz="11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fr-FR" sz="1150" u="none" cap="none" strike="noStrike">
                          <a:solidFill>
                            <a:schemeClr val="lt1"/>
                          </a:solidFill>
                        </a:rPr>
                        <a:t>N° chapitre</a:t>
                      </a:r>
                      <a:endParaRPr b="1" sz="115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2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09:00 – 09: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15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15</a:t>
                      </a: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 min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🎤 Ouverture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 J2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Tour de 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de table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09: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15</a:t>
                      </a: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 – 10: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00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45 min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Héritage de modèle (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_inherit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) et de vue (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inherit_id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 et 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xpath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)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Voir les emprunteurs (modèle natif 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res.partner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)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10: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20</a:t>
                      </a: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 – 10: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35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15 min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☕ Pause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10: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0 – 11:30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1h15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Vues avancées : attributs 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invisible, readonly, required, widgets, options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 ; vues 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Search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 et 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Kanban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Des ergonomies et filtres puissants, facilement</a:t>
                      </a:r>
                      <a:endParaRPr sz="115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11:30 – 12:30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1h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Champs calculés : 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compute, store, related, inverse, search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Compteurs : nombre de livre dans la même catégorie et TVA dans le prix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12:30 – 13:30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1h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🍽️ Déjeuner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13:30 – 14:15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45 min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Contraintes ORM en SQL et logique Python : 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models.Constraint, @api.constrains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Unicité de l’ISBN et date de sortie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14:15 – 15:00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45 min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Actions et boutons : de vue et de serveur ; en XML et Python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Bouton “Vérifier l’iBAN”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15:00 – 15:15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15 min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☕ Pause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15:15 – 16: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1h15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Fenêtre d’assistant (wizard) avec un 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models.TransientModel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Wizard “Emprunter ce livre”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16:</a:t>
                      </a: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fr-FR" sz="1150" u="none" cap="none" strike="noStrike">
                          <a:solidFill>
                            <a:schemeClr val="dk1"/>
                          </a:solidFill>
                        </a:rPr>
                        <a:t>0 – 17:00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30min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Sécurité niveau 1 : ACL avec </a:t>
                      </a: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ir.model.access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</a:rPr>
                        <a:t>2 accès “Lecteur” et “Bibliothécaire”</a:t>
                      </a:r>
                      <a:endParaRPr sz="11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fr-FR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sz="11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/>
          <p:nvPr>
            <p:ph type="title"/>
          </p:nvPr>
        </p:nvSpPr>
        <p:spPr>
          <a:xfrm>
            <a:off x="285750" y="2334723"/>
            <a:ext cx="4822480" cy="577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8 (9h15 - 10h00)</a:t>
            </a:r>
            <a:endParaRPr/>
          </a:p>
        </p:txBody>
      </p:sp>
      <p:sp>
        <p:nvSpPr>
          <p:cNvPr id="247" name="Google Shape;247;p8"/>
          <p:cNvSpPr txBox="1"/>
          <p:nvPr>
            <p:ph idx="1" type="body"/>
          </p:nvPr>
        </p:nvSpPr>
        <p:spPr>
          <a:xfrm>
            <a:off x="285750" y="3192951"/>
            <a:ext cx="4713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Héritage de modèle (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_inherit</a:t>
            </a:r>
            <a:r>
              <a:rPr lang="fr-FR"/>
              <a:t>) et de vue (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inherit_id</a:t>
            </a:r>
            <a:r>
              <a:rPr lang="fr-FR"/>
              <a:t> et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xpath</a:t>
            </a:r>
            <a:r>
              <a:rPr lang="fr-FR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Voir les emprunteurs et livres empruntés (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res.partner)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412d642b3_0_46"/>
          <p:cNvSpPr txBox="1"/>
          <p:nvPr/>
        </p:nvSpPr>
        <p:spPr>
          <a:xfrm>
            <a:off x="600000" y="1134475"/>
            <a:ext cx="7630500" cy="13254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Pierre angulaire du framework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“Inverse” au principe d’héritage Python : l’héritage sert à </a:t>
            </a:r>
            <a:r>
              <a:rPr b="1"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modifier le modèle hérité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plutôt que de créer un objet parent “plus gros”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 nom donné à la classe Python a en réalité peu d’importance (ci-dessous : 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3" name="Google Shape;253;g3f412d642b3_0_4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Héritage de modèle dans Odoo (</a:t>
            </a:r>
            <a:r>
              <a:rPr lang="fr-FR"/>
              <a:t>1/2</a:t>
            </a:r>
            <a:r>
              <a:rPr lang="fr-FR"/>
              <a:t>)</a:t>
            </a:r>
            <a:endParaRPr/>
          </a:p>
        </p:txBody>
      </p:sp>
      <p:sp>
        <p:nvSpPr>
          <p:cNvPr id="254" name="Google Shape;254;g3f412d642b3_0_46"/>
          <p:cNvSpPr txBox="1"/>
          <p:nvPr/>
        </p:nvSpPr>
        <p:spPr>
          <a:xfrm>
            <a:off x="681050" y="2862350"/>
            <a:ext cx="7549500" cy="127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Event(models.Model):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Pas de _name : pas de création de nouveau model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_inherit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'event.event'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Puis : nouvelle logique ou altération de la logique d’origine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5" name="Google Shape;255;g3f412d642b3_0_46"/>
          <p:cNvSpPr txBox="1"/>
          <p:nvPr/>
        </p:nvSpPr>
        <p:spPr>
          <a:xfrm>
            <a:off x="682858" y="2539245"/>
            <a:ext cx="7547700" cy="3078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Exemple 1 : cas courant de modification d’un modèle déjà défini</a:t>
            </a:r>
            <a:endParaRPr u="sng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g3f412d642b3_0_46"/>
          <p:cNvSpPr txBox="1"/>
          <p:nvPr/>
        </p:nvSpPr>
        <p:spPr>
          <a:xfrm>
            <a:off x="681050" y="4476350"/>
            <a:ext cx="7549500" cy="985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MyNewModel(models.Model):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_name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‘my.new.model'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_inherit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‘mail.thread' </a:t>
            </a:r>
            <a:r>
              <a:rPr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Ajoute les </a:t>
            </a:r>
            <a:r>
              <a:rPr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fonctionnalités</a:t>
            </a:r>
            <a:r>
              <a:rPr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de Chatter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7" name="Google Shape;257;g3f412d642b3_0_46"/>
          <p:cNvSpPr txBox="1"/>
          <p:nvPr/>
        </p:nvSpPr>
        <p:spPr>
          <a:xfrm>
            <a:off x="682858" y="4153249"/>
            <a:ext cx="7547700" cy="3078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Exemple 2 : nouveau modèle (+ici avec un mixin)</a:t>
            </a:r>
            <a:endParaRPr u="sng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g3f412d642b3_0_46"/>
          <p:cNvSpPr txBox="1"/>
          <p:nvPr/>
        </p:nvSpPr>
        <p:spPr>
          <a:xfrm>
            <a:off x="682858" y="5795297"/>
            <a:ext cx="7547700" cy="985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MyOtherEvent(models.Model):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_name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‘event.event.custom'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_inherit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[‘event.event’, ‘mail.thread']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g3f412d642b3_0_46"/>
          <p:cNvSpPr txBox="1"/>
          <p:nvPr/>
        </p:nvSpPr>
        <p:spPr>
          <a:xfrm>
            <a:off x="682858" y="5472193"/>
            <a:ext cx="7547700" cy="3078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Exemple 3 : nouveau modèle + plusieurs héritages</a:t>
            </a:r>
            <a:endParaRPr u="sng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412d642b3_0_297"/>
          <p:cNvSpPr txBox="1"/>
          <p:nvPr/>
        </p:nvSpPr>
        <p:spPr>
          <a:xfrm>
            <a:off x="681000" y="1653725"/>
            <a:ext cx="4678800" cy="5556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700"/>
              </a:spcAft>
              <a:buNone/>
            </a:pPr>
            <a:r>
              <a:rPr lang="fr-FR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Pour hériter une méthode Python, au sein d’un modèle ⇒ syntaxe classique Python, non spécifique Odoo</a:t>
            </a:r>
            <a:endParaRPr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5" name="Google Shape;265;g3f412d642b3_0_297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Héritage de modèle dans Odoo</a:t>
            </a:r>
            <a:r>
              <a:rPr lang="fr-FR"/>
              <a:t> (2/2)</a:t>
            </a:r>
            <a:endParaRPr/>
          </a:p>
        </p:txBody>
      </p:sp>
      <p:sp>
        <p:nvSpPr>
          <p:cNvPr id="266" name="Google Shape;266;g3f412d642b3_0_297"/>
          <p:cNvSpPr txBox="1"/>
          <p:nvPr/>
        </p:nvSpPr>
        <p:spPr>
          <a:xfrm>
            <a:off x="681050" y="2421500"/>
            <a:ext cx="4277100" cy="127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ma_methode(self):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 = super().ma_methode()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# Ma nouvelle logique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res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412d642b3_0_27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Héritage de vue (</a:t>
            </a:r>
            <a:r>
              <a:rPr lang="fr-FR"/>
              <a:t>1/2</a:t>
            </a:r>
            <a:r>
              <a:rPr lang="fr-FR"/>
              <a:t>)</a:t>
            </a:r>
            <a:endParaRPr/>
          </a:p>
        </p:txBody>
      </p:sp>
      <p:graphicFrame>
        <p:nvGraphicFramePr>
          <p:cNvPr id="272" name="Google Shape;272;g3f412d642b3_0_272"/>
          <p:cNvGraphicFramePr/>
          <p:nvPr/>
        </p:nvGraphicFramePr>
        <p:xfrm>
          <a:off x="432950" y="1065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1363675"/>
                <a:gridCol w="695200"/>
                <a:gridCol w="6698100"/>
              </a:tblGrid>
              <a:tr h="22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Champ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Type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 sz="1400" u="none" cap="none" strike="noStrike">
                          <a:solidFill>
                            <a:schemeClr val="dk1"/>
                          </a:solidFill>
                        </a:rPr>
                        <a:t>Rôle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inherit_id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M2o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-FR" sz="1400" u="none" cap="none" strike="noStrike">
                          <a:solidFill>
                            <a:schemeClr val="dk1"/>
                          </a:solidFill>
                        </a:rPr>
                        <a:t>XML ID de la vue héritée </a:t>
                      </a:r>
                      <a:r>
                        <a:rPr i="1" lang="fr-FR" sz="1400" u="none" cap="none" strike="noStrike">
                          <a:solidFill>
                            <a:schemeClr val="dk1"/>
                          </a:solidFill>
                        </a:rPr>
                        <a:t>(optionnel)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, ex : </a:t>
                      </a: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library.library_book_view_form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mode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Char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‘extension’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: par défaut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‘primary’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: duplique la vue héritée ; les modifications n’impacteront pas la vue héritée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73" name="Google Shape;273;g3f412d642b3_0_272"/>
          <p:cNvSpPr txBox="1"/>
          <p:nvPr/>
        </p:nvSpPr>
        <p:spPr>
          <a:xfrm>
            <a:off x="432950" y="2586582"/>
            <a:ext cx="875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-FR" sz="1500">
                <a:solidFill>
                  <a:schemeClr val="dk1"/>
                </a:solidFill>
              </a:rPr>
              <a:t>2 exemples courants, avec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&lt;field /&gt;</a:t>
            </a:r>
            <a:r>
              <a:rPr lang="fr-FR" sz="1500">
                <a:solidFill>
                  <a:schemeClr val="dk1"/>
                </a:solidFill>
              </a:rPr>
              <a:t> (syntaxe allégée, </a:t>
            </a:r>
            <a:r>
              <a:rPr lang="fr-FR" sz="1500">
                <a:solidFill>
                  <a:schemeClr val="dk1"/>
                </a:solidFill>
              </a:rPr>
              <a:t>plus lisible</a:t>
            </a:r>
            <a:r>
              <a:rPr lang="fr-FR" sz="1500">
                <a:solidFill>
                  <a:schemeClr val="dk1"/>
                </a:solidFill>
              </a:rPr>
              <a:t>) et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&lt;xpath /&gt;</a:t>
            </a:r>
            <a:r>
              <a:rPr i="0" lang="fr-FR" sz="1500" u="none" cap="none" strike="noStrike">
                <a:solidFill>
                  <a:schemeClr val="dk1"/>
                </a:solidFill>
              </a:rPr>
              <a:t> (g</a:t>
            </a:r>
            <a:r>
              <a:rPr lang="fr-FR" sz="1500">
                <a:solidFill>
                  <a:schemeClr val="dk1"/>
                </a:solidFill>
              </a:rPr>
              <a:t>énérique) </a:t>
            </a:r>
            <a:r>
              <a:rPr lang="fr-FR" sz="1500">
                <a:solidFill>
                  <a:schemeClr val="dk1"/>
                </a:solidFill>
              </a:rPr>
              <a:t>: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74" name="Google Shape;274;g3f412d642b3_0_272"/>
          <p:cNvSpPr txBox="1"/>
          <p:nvPr/>
        </p:nvSpPr>
        <p:spPr>
          <a:xfrm>
            <a:off x="468125" y="3050421"/>
            <a:ext cx="8757000" cy="3509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&lt;record </a:t>
            </a:r>
            <a:r>
              <a:rPr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="ir.ui.view"&gt;</a:t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inherit_id</a:t>
            </a: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ref="</a:t>
            </a:r>
            <a:r>
              <a:rPr b="0" i="0" lang="fr-FR" sz="1350" u="none" cap="none" strike="noStrike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my_module.view_module_model_list</a:t>
            </a: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/&gt;</a:t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arch</a:t>
            </a: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type="xml"&gt;</a:t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     &lt;!-- Exemple 1</a:t>
            </a: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--&gt;</a:t>
            </a:r>
            <a:endParaRPr sz="135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&lt;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=”</a:t>
            </a:r>
            <a:r>
              <a:rPr b="1" lang="fr-FR" sz="135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field_name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” 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position=”</a:t>
            </a:r>
            <a:r>
              <a:rPr b="1" lang="fr-FR" sz="135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after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”&gt;</a:t>
            </a:r>
            <a:endParaRPr b="1"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&lt;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=”</a:t>
            </a:r>
            <a:r>
              <a:rPr lang="fr-FR" sz="135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new_field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” /&gt;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&lt;/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fr-FR" sz="135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        &lt;!-- Exemple 2 --&gt;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&lt;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xpath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expr=”</a:t>
            </a:r>
            <a:r>
              <a:rPr b="1" lang="fr-FR" sz="135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//group[@name=’left’]//field[@name=’other_field’]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” position=”</a:t>
            </a:r>
            <a:r>
              <a:rPr b="1" lang="fr-FR" sz="135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attributes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”&gt;</a:t>
            </a:r>
            <a:endParaRPr b="1"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&lt;attribute name=”</a:t>
            </a:r>
            <a:r>
              <a:rPr b="1" lang="fr-FR" sz="135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invisible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”&gt;</a:t>
            </a:r>
            <a:r>
              <a:rPr b="1" lang="fr-FR" sz="135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&lt;/attribute&gt;</a:t>
            </a:r>
            <a:endParaRPr b="1"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&lt;/</a:t>
            </a:r>
            <a:r>
              <a:rPr b="1"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xpath</a:t>
            </a:r>
            <a:r>
              <a:rPr lang="fr-FR" sz="13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&lt;/field&gt;</a:t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fr-FR" sz="13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&lt;/record&gt;</a:t>
            </a:r>
            <a:endParaRPr b="0" i="0" sz="13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412d642b3_0_28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Héritage de vue (2/2)</a:t>
            </a:r>
            <a:endParaRPr/>
          </a:p>
        </p:txBody>
      </p:sp>
      <p:sp>
        <p:nvSpPr>
          <p:cNvPr id="280" name="Google Shape;280;g3f412d642b3_0_289"/>
          <p:cNvSpPr txBox="1"/>
          <p:nvPr/>
        </p:nvSpPr>
        <p:spPr>
          <a:xfrm>
            <a:off x="432950" y="897866"/>
            <a:ext cx="8757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&lt;xpath&gt; ou syntaxe allégée ?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u="sng">
                <a:solidFill>
                  <a:schemeClr val="dk1"/>
                </a:solidFill>
              </a:rPr>
              <a:t>Syntaxe allégée</a:t>
            </a:r>
            <a:r>
              <a:rPr lang="fr-FR">
                <a:solidFill>
                  <a:schemeClr val="dk1"/>
                </a:solidFill>
              </a:rPr>
              <a:t> : ciblera le 1er élément “matchant”. A privilégier car beaucoup plus lisible. Fonctionne avec n’importe quelle balise :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&lt;list&gt;, &lt;sheet&gt;, &lt;group&gt;, &lt;div&gt;, 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u="sng">
                <a:solidFill>
                  <a:schemeClr val="dk1"/>
                </a:solidFill>
              </a:rPr>
              <a:t>xpath</a:t>
            </a:r>
            <a:r>
              <a:rPr lang="fr-FR">
                <a:solidFill>
                  <a:schemeClr val="dk1"/>
                </a:solidFill>
              </a:rPr>
              <a:t> : cible précisément tout élément dans la vue héritée. Syntaxe standard : </a:t>
            </a:r>
            <a:r>
              <a:rPr lang="fr-FR" u="sng">
                <a:solidFill>
                  <a:schemeClr val="hlink"/>
                </a:solidFill>
                <a:hlinkClick r:id="rId3"/>
              </a:rPr>
              <a:t>w3schools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Valeurs de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“position”</a:t>
            </a:r>
            <a:r>
              <a:rPr lang="fr-FR">
                <a:solidFill>
                  <a:schemeClr val="dk1"/>
                </a:solidFill>
              </a:rPr>
              <a:t> :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81" name="Google Shape;281;g3f412d642b3_0_289"/>
          <p:cNvGraphicFramePr/>
          <p:nvPr/>
        </p:nvGraphicFramePr>
        <p:xfrm>
          <a:off x="432950" y="22749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1367600"/>
                <a:gridCol w="771782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position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 u="none" cap="none" strike="noStrike">
                          <a:solidFill>
                            <a:schemeClr val="dk1"/>
                          </a:solidFill>
                        </a:rPr>
                        <a:t>Effet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after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Juste après le noeud ciblé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before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Juste avant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inside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 l’intérieur, en dernier (à la fin)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replace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Remplace. A utiliser avec parcimonie : généralement un 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“attributes”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puis 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“invisible=1”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est à privilégier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attributes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Modifie / ajoute / supprime des attributs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2" name="Google Shape;282;g3f412d642b3_0_289"/>
          <p:cNvGraphicFramePr/>
          <p:nvPr/>
        </p:nvGraphicFramePr>
        <p:xfrm>
          <a:off x="432950" y="46382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2200350"/>
                <a:gridCol w="688507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Use-case xpath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expr</a:t>
                      </a:r>
                      <a:endParaRPr b="1" sz="145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Nesting (permissive)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//t[@t-name='kanban-box']//field[@name='name']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Nesting (strict)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//div/t/img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Last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(//html//p)[last()]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N-th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(//button[@name='action_rfq_send'])[2]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Parent (immediate)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//button/..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Parent (by tag)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/parent::span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g3f412d642b3_0_289"/>
          <p:cNvSpPr txBox="1"/>
          <p:nvPr/>
        </p:nvSpPr>
        <p:spPr>
          <a:xfrm>
            <a:off x="432950" y="433842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Exemples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xpath</a:t>
            </a:r>
            <a:r>
              <a:rPr b="1" lang="fr-FR">
                <a:solidFill>
                  <a:schemeClr val="dk1"/>
                </a:solidFill>
              </a:rPr>
              <a:t> :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412d642b3_0_316"/>
          <p:cNvSpPr txBox="1"/>
          <p:nvPr/>
        </p:nvSpPr>
        <p:spPr>
          <a:xfrm>
            <a:off x="1963325" y="1528425"/>
            <a:ext cx="7183800" cy="21819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Hériter le modèle natif des contacts (</a:t>
            </a:r>
            <a:r>
              <a:rPr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res.partner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pour :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 ajouter une notion de livres empruntés : champ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borrowed_book_ids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les afficher dans la vue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res.partner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et dans la vue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au moins leur nombre, mais si possible la liste sous forme d’étiquettes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Astuce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vous aurez besoin d’installer l’application “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contacts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 pour visualiser et tester les modifications avant le bonus.</a:t>
            </a:r>
            <a:endParaRPr b="0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g3f412d642b3_0_31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90" name="Google Shape;290;g3f412d642b3_0_3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416349"/>
            <a:ext cx="1120314" cy="1295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f412d642b3_0_3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26899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f412d642b3_0_316"/>
          <p:cNvSpPr txBox="1"/>
          <p:nvPr/>
        </p:nvSpPr>
        <p:spPr>
          <a:xfrm>
            <a:off x="407363" y="5520150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3" name="Google Shape;293;g3f412d642b3_0_316"/>
          <p:cNvSpPr txBox="1"/>
          <p:nvPr/>
        </p:nvSpPr>
        <p:spPr>
          <a:xfrm>
            <a:off x="407363" y="2711500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-FR" sz="15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4" name="Google Shape;294;g3f412d642b3_0_316"/>
          <p:cNvSpPr txBox="1"/>
          <p:nvPr/>
        </p:nvSpPr>
        <p:spPr>
          <a:xfrm>
            <a:off x="1963325" y="4151437"/>
            <a:ext cx="7183800" cy="18303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Dans l’application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ajouter 1 menuitem (et action) qui affichera les contacts ayant empruntés des livres.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Vous simplifierez la vue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res.partner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spécifiquement pour l’application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en retirant les sections et champs non utiles à la bibliothèque.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Astuce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passer une clef de contexte dans l’action et jouer avec les attributs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invisible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column_invisible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8a5c5757b_0_274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300" name="Google Shape;300;g3f8a5c5757b_0_274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chapter_0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inheritance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412d642b3_0_327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9 (10h00 - 11h30)</a:t>
            </a:r>
            <a:endParaRPr sz="250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Pause </a:t>
            </a:r>
            <a:r>
              <a:rPr b="0" lang="fr-FR" sz="1150"/>
              <a:t>☕ </a:t>
            </a:r>
            <a:r>
              <a:rPr lang="fr-FR" sz="2501"/>
              <a:t>: 10h20 - 10h35</a:t>
            </a:r>
            <a:endParaRPr sz="2501"/>
          </a:p>
        </p:txBody>
      </p:sp>
      <p:sp>
        <p:nvSpPr>
          <p:cNvPr id="306" name="Google Shape;306;g3f412d642b3_0_327"/>
          <p:cNvSpPr txBox="1"/>
          <p:nvPr>
            <p:ph idx="1" type="body"/>
          </p:nvPr>
        </p:nvSpPr>
        <p:spPr>
          <a:xfrm>
            <a:off x="285750" y="3192950"/>
            <a:ext cx="47133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Vues avancées : attributs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invisible, readonly, required, widgets, options</a:t>
            </a:r>
            <a:r>
              <a:rPr lang="fr-FR"/>
              <a:t> ; vues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Search</a:t>
            </a:r>
            <a:r>
              <a:rPr lang="fr-FR"/>
              <a:t> et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Kanban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Des </a:t>
            </a:r>
            <a:r>
              <a:rPr lang="fr-FR"/>
              <a:t>ergonomies et filtres puissants, facilement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412d642b3_0_337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Widgets utiles</a:t>
            </a:r>
            <a:endParaRPr/>
          </a:p>
        </p:txBody>
      </p:sp>
      <p:graphicFrame>
        <p:nvGraphicFramePr>
          <p:cNvPr id="312" name="Google Shape;312;g3f412d642b3_0_337"/>
          <p:cNvGraphicFramePr/>
          <p:nvPr/>
        </p:nvGraphicFramePr>
        <p:xfrm>
          <a:off x="432950" y="17934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1358875"/>
                <a:gridCol w="1683350"/>
                <a:gridCol w="604317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Field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Widget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integer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handle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Pour trier en vue liste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email, phone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Formattage à l’affichage et contrôles par le navigateur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date[time]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remaining_days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Affiche le nombre de jours par rapport à aujourd’hui, plutôt que la date (ex : nombre de jours d’ici la sortie du livre)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selection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priority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Etoiles cliquables (ex : note de 0 à 5)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boolean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boolean_favorite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1 étoile “favoris”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char, selection, many2one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badge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Pastille colorée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x2many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many2many_tags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Etiquettes (c.f. chapitre 6)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selection, many2one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statusbar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Spécifique au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Form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, très répandu. Barre d’état en haut à droite du formulaire.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web_ribbon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Un bandeau sur le côté du formulaire (usage 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courant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avec :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archived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" name="Google Shape;313;g3f412d642b3_0_337"/>
          <p:cNvSpPr txBox="1"/>
          <p:nvPr/>
        </p:nvSpPr>
        <p:spPr>
          <a:xfrm>
            <a:off x="432950" y="1025750"/>
            <a:ext cx="913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Étant</a:t>
            </a:r>
            <a:r>
              <a:rPr lang="fr-FR"/>
              <a:t> très nombreux, cette slide </a:t>
            </a:r>
            <a:r>
              <a:rPr lang="fr-FR"/>
              <a:t>résume</a:t>
            </a:r>
            <a:r>
              <a:rPr lang="fr-FR"/>
              <a:t> des widgets courants, tous documentés ici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https://www.odoo.com/documentation/19.0/developer/reference/frontend/javascript_reference.html#fields</a:t>
            </a:r>
            <a:endParaRPr/>
          </a:p>
        </p:txBody>
      </p:sp>
      <p:sp>
        <p:nvSpPr>
          <p:cNvPr id="314" name="Google Shape;314;g3f412d642b3_0_337"/>
          <p:cNvSpPr txBox="1"/>
          <p:nvPr/>
        </p:nvSpPr>
        <p:spPr>
          <a:xfrm>
            <a:off x="432950" y="5798725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Astuce : il est souvent très pratique de trouver dans le code natif des exemples d’utilisation.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412d642b3_0_34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Anatomie d’une vue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Search</a:t>
            </a:r>
            <a:r>
              <a:rPr lang="fr-FR"/>
              <a:t> </a:t>
            </a:r>
            <a:r>
              <a:rPr lang="fr-FR"/>
              <a:t>(1/2)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0" name="Google Shape;320;g3f412d642b3_0_344"/>
          <p:cNvSpPr txBox="1"/>
          <p:nvPr/>
        </p:nvSpPr>
        <p:spPr>
          <a:xfrm>
            <a:off x="432950" y="955763"/>
            <a:ext cx="9134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Une force du framework Odoo 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l’utilisateur peut toujours filter et </a:t>
            </a:r>
            <a:r>
              <a:rPr lang="fr-FR"/>
              <a:t>agréger</a:t>
            </a:r>
            <a:r>
              <a:rPr lang="fr-FR"/>
              <a:t> ses données à souhait (+ enregistrer et partager ses filtres)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le développeur peut assez facilement prévoir des filtres sans écrire de SQL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3 composants principaux :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&lt;field /&gt;, &lt;filter /&gt;</a:t>
            </a:r>
            <a:r>
              <a:rPr lang="fr-FR"/>
              <a:t> et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&lt;searchpanel&gt;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fr-FR"/>
            </a:br>
            <a:r>
              <a:rPr lang="fr-FR" u="sng">
                <a:solidFill>
                  <a:schemeClr val="hlink"/>
                </a:solidFill>
                <a:hlinkClick r:id="rId3"/>
              </a:rPr>
              <a:t>https://www.odoo.com/documentation/19.0/developer/reference/user_interface/view_architectures.html#search</a:t>
            </a:r>
            <a:r>
              <a:rPr lang="fr-FR"/>
              <a:t> </a:t>
            </a:r>
            <a:endParaRPr/>
          </a:p>
        </p:txBody>
      </p:sp>
      <p:graphicFrame>
        <p:nvGraphicFramePr>
          <p:cNvPr id="321" name="Google Shape;321;g3f412d642b3_0_344"/>
          <p:cNvGraphicFramePr/>
          <p:nvPr/>
        </p:nvGraphicFramePr>
        <p:xfrm>
          <a:off x="432950" y="29701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1676950"/>
                <a:gridCol w="7457750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Composant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Ajouter une possibilité de filtre rapide quand l’utilisateur tape du texte dans la barre de recherche.</a:t>
                      </a:r>
                      <a:br>
                        <a:rPr lang="fr-FR" sz="1200">
                          <a:solidFill>
                            <a:schemeClr val="dk1"/>
                          </a:solidFill>
                        </a:rPr>
                      </a:b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Soit sur un champs précis, soit sur un domaine de recherche ⇒ multi-champs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possible)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filter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Dans le panneau de recherche ouvert, filtres prédéfinis avec un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domain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(colonne de gauche).</a:t>
                      </a:r>
                      <a:br>
                        <a:rPr lang="fr-FR" sz="1200">
                          <a:solidFill>
                            <a:schemeClr val="dk1"/>
                          </a:solidFill>
                        </a:rPr>
                      </a:b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L’utilisateur doit </a:t>
                      </a:r>
                      <a:r>
                        <a:rPr lang="fr-FR" sz="1200" u="sng">
                          <a:solidFill>
                            <a:schemeClr val="dk1"/>
                          </a:solidFill>
                        </a:rPr>
                        <a:t>cliquer dessus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Aussi activable via le code par la clef de contexte spécifique (très utilisé) :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context={‘search_default_</a:t>
                      </a:r>
                      <a:r>
                        <a:rPr b="1" lang="fr-FR" sz="1200">
                          <a:solidFill>
                            <a:srgbClr val="6A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nom_du_filter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’: 1}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separator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Range par section les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&lt;filter /&gt;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Regroupe les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&lt;filter /&gt;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de type “regrouper par”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searchpanel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Panneau de recherche à gauche de la vue liste, dans l’écran principal. Similaire à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&lt;filter /&gt;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en plus ergonomique (et coûteux en ressources)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412d642b3_0_41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Anatomie d’une vue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Search</a:t>
            </a:r>
            <a:r>
              <a:rPr lang="fr-FR"/>
              <a:t> (2</a:t>
            </a:r>
            <a:r>
              <a:rPr lang="fr-FR"/>
              <a:t>/2</a:t>
            </a:r>
            <a:r>
              <a:rPr lang="fr-FR"/>
              <a:t>) : exemple</a:t>
            </a:r>
            <a:endParaRPr/>
          </a:p>
        </p:txBody>
      </p:sp>
      <p:sp>
        <p:nvSpPr>
          <p:cNvPr id="327" name="Google Shape;327;g3f412d642b3_0_412"/>
          <p:cNvSpPr txBox="1"/>
          <p:nvPr/>
        </p:nvSpPr>
        <p:spPr>
          <a:xfrm>
            <a:off x="468125" y="1237566"/>
            <a:ext cx="8757000" cy="538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&lt;search&gt;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Name or Code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filter_domain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['|', ('name', 'ilike', self), ('code', 'ilike', self)]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/&gt;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/&gt;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separator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Draft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filter_draft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domain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[('state', '=', 'draft')]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/&gt;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Opened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filter_opened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domain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[('state', '=', 'opened')]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/&gt;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&lt;!-- Group By --&gt;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group_state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{'group_by': 'state'}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/&gt;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&lt;!-- Date groupping behavior: 'date:year|quarter|month(default)|week|day' --&gt;</a:t>
            </a:r>
            <a:endParaRPr sz="13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Date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group_date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{'group_by': 'date'}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 /&gt;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searchpanel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class="searchpanel-xs-hide"&gt;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product_template_attribute_value_ids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Attributes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icon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fa-th-list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domain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[(...)]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enable_counters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i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fr-FR" sz="13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multi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</a:t>
            </a:r>
            <a:r>
              <a:rPr b="1"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searchpanel</a:t>
            </a: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&lt;/search&gt;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412d642b3_0_42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Anatomie d’une vue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kanban</a:t>
            </a:r>
            <a:r>
              <a:rPr lang="fr-FR"/>
              <a:t> (1/2) :</a:t>
            </a:r>
            <a:br>
              <a:rPr lang="fr-FR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FR"/>
              <a:t>les attributs (spécifiques)</a:t>
            </a:r>
            <a:endParaRPr/>
          </a:p>
        </p:txBody>
      </p:sp>
      <p:graphicFrame>
        <p:nvGraphicFramePr>
          <p:cNvPr id="333" name="Google Shape;333;g3f412d642b3_0_426"/>
          <p:cNvGraphicFramePr/>
          <p:nvPr/>
        </p:nvGraphicFramePr>
        <p:xfrm>
          <a:off x="432950" y="22841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1940375"/>
                <a:gridCol w="1170725"/>
                <a:gridCol w="595542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 u="none" cap="none" strike="noStrike">
                          <a:solidFill>
                            <a:schemeClr val="dk1"/>
                          </a:solidFill>
                        </a:rPr>
                        <a:t>Attribut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 u="none" cap="none" strike="noStrike">
                          <a:solidFill>
                            <a:schemeClr val="dk1"/>
                          </a:solidFill>
                        </a:rPr>
                        <a:t>Valeurs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 u="none" cap="none" strike="noStrike">
                          <a:solidFill>
                            <a:schemeClr val="dk1"/>
                          </a:solidFill>
                        </a:rPr>
                        <a:t>Effet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default_group_by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field_name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</a:rPr>
                        <a:t>Le plus important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champ utilisé pour définir les colonnes (ex : catégorie de livre)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group_create, group_delete, group_edit, group_draggable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Si des colonnes peuvent être créées, supprimées, modifiées, ré-agencées (ex : autoriser la création de catégorie via la vue Kanban)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records_draggable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Si les records peuvent changer de colonne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can_open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Si les cartes sont cliquables, pour ouvrir leur vue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Form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complète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quick_create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1, 0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Si des records peuvent être créé depuis la vue Kanban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quick_create_view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xml_id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Référence d’une vue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Form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spécifique (avec un minimum de champ)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on_create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xml_id ou ‘quick_create_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Le bouton [+ Nouveau] peut appeler une autre action que l’action par défaut de “quick create”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g3f412d642b3_0_426"/>
          <p:cNvSpPr txBox="1"/>
          <p:nvPr/>
        </p:nvSpPr>
        <p:spPr>
          <a:xfrm>
            <a:off x="432950" y="5740725"/>
            <a:ext cx="90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https://www.odoo.com/documentation/19.0/developer/reference/user_interface/view_architectures.html#kanban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412d642b3_0_426"/>
          <p:cNvSpPr txBox="1"/>
          <p:nvPr/>
        </p:nvSpPr>
        <p:spPr>
          <a:xfrm>
            <a:off x="432950" y="1322060"/>
            <a:ext cx="913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Les vues Kanban sont plus complexes que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fr-FR"/>
              <a:t> et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fr-FR"/>
              <a:t>, avec une syntaxe plus technique / ouverte en QWeb JS. Seule une initiation sera faite dans ce cours. En pratique, il est courant de se baser sur des vues Kanban existantes pour en créer de nouvelles.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412d642b3_0_433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Anatomie d’une vue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kanban</a:t>
            </a:r>
            <a:r>
              <a:rPr lang="fr-FR"/>
              <a:t> (2/2) :</a:t>
            </a:r>
            <a:br>
              <a:rPr lang="fr-FR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FR"/>
              <a:t>exemple de structure</a:t>
            </a:r>
            <a:endParaRPr/>
          </a:p>
        </p:txBody>
      </p:sp>
      <p:sp>
        <p:nvSpPr>
          <p:cNvPr id="341" name="Google Shape;341;g3f412d642b3_0_433"/>
          <p:cNvSpPr txBox="1"/>
          <p:nvPr/>
        </p:nvSpPr>
        <p:spPr>
          <a:xfrm>
            <a:off x="468125" y="1059625"/>
            <a:ext cx="9047400" cy="3879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&lt;kanban&gt;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templates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&lt;field name=”is_company” /&gt;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&lt;!-- Charger les fields nécessaire mais non affichés -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&lt;t t-name="card" class="flex-row"&gt;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&lt;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aside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&lt;field name="avatar_128" widget="image" alt="Avatar"/&gt;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&lt;/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aside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&lt;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class="ms-2"&gt;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&lt;field t-if="!record.is_company.raw_value" name="parent_id"&gt;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&lt;!-- Syntaxe QWeb --&gt;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&lt;field class="fw-bold fs-5" name="display_name"/&gt;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&lt;field name="tag_ids" widget="many2many_tags"/&gt;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footer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&lt;field name="priority" widget="priority"/&gt;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&lt;field class="ms-auto" name="activity_ids" widget="kanban_activity"/&gt;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&lt;/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footer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&lt;/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&lt;/t&gt;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&lt;/templates&gt;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&lt;/kanban&gt;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2" name="Google Shape;342;g3f412d642b3_0_433"/>
          <p:cNvSpPr txBox="1"/>
          <p:nvPr/>
        </p:nvSpPr>
        <p:spPr>
          <a:xfrm>
            <a:off x="432950" y="5049682"/>
            <a:ext cx="9134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&lt;templates&gt;</a:t>
            </a:r>
            <a:r>
              <a:rPr lang="fr-FR"/>
              <a:t>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/>
              <a:t>Indique que la suite est du </a:t>
            </a:r>
            <a:r>
              <a:rPr i="1" lang="fr-FR"/>
              <a:t>QWeb JS → cf. syntaxe </a:t>
            </a:r>
            <a:r>
              <a:rPr b="1" i="1" lang="fr-FR">
                <a:latin typeface="Courier New"/>
                <a:ea typeface="Courier New"/>
                <a:cs typeface="Courier New"/>
                <a:sym typeface="Courier New"/>
              </a:rPr>
              <a:t>t-if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-FR"/>
              <a:t>Découpable en plusieurs templates, mais le principal “card” doit </a:t>
            </a:r>
            <a:r>
              <a:rPr lang="fr-FR"/>
              <a:t>être déclaré et </a:t>
            </a:r>
            <a:r>
              <a:rPr lang="fr-FR"/>
              <a:t>sera appelé par le framework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&lt;aside&gt;, &lt;main&gt;, &lt;footer&gt;</a:t>
            </a:r>
            <a:r>
              <a:rPr lang="fr-FR"/>
              <a:t> : squelette d’affichage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La plupart des widgets de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fr-FR">
                <a:solidFill>
                  <a:schemeClr val="dk1"/>
                </a:solidFill>
              </a:rPr>
              <a:t> et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lang="fr-FR">
                <a:solidFill>
                  <a:schemeClr val="dk1"/>
                </a:solidFill>
              </a:rPr>
              <a:t> sont accessibles, et d’autres spécifiques comme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kanban_activity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8a5c5757b_0_47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Pause : 15 min</a:t>
            </a:r>
            <a:endParaRPr/>
          </a:p>
        </p:txBody>
      </p:sp>
      <p:sp>
        <p:nvSpPr>
          <p:cNvPr id="348" name="Google Shape;348;g3f8a5c5757b_0_47"/>
          <p:cNvSpPr txBox="1"/>
          <p:nvPr/>
        </p:nvSpPr>
        <p:spPr>
          <a:xfrm>
            <a:off x="285750" y="3170400"/>
            <a:ext cx="30000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10h</a:t>
            </a:r>
            <a:r>
              <a:rPr lang="fr-FR" sz="2400">
                <a:solidFill>
                  <a:schemeClr val="dk1"/>
                </a:solidFill>
              </a:rPr>
              <a:t>20</a:t>
            </a:r>
            <a:r>
              <a:rPr b="0" i="0" lang="fr-F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- 10h3</a:t>
            </a:r>
            <a:r>
              <a:rPr lang="fr-FR" sz="2400">
                <a:solidFill>
                  <a:schemeClr val="dk1"/>
                </a:solidFill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412d642b3_0_35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54" name="Google Shape;354;g3f412d642b3_0_3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31729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f412d642b3_0_359"/>
          <p:cNvSpPr txBox="1"/>
          <p:nvPr/>
        </p:nvSpPr>
        <p:spPr>
          <a:xfrm>
            <a:off x="407363" y="2568450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6" name="Google Shape;356;g3f412d642b3_0_359"/>
          <p:cNvSpPr txBox="1"/>
          <p:nvPr/>
        </p:nvSpPr>
        <p:spPr>
          <a:xfrm>
            <a:off x="1963325" y="1199737"/>
            <a:ext cx="7183800" cy="30681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Astuces : utiliser la documentation et trouver des exemples dans le code !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[Widgets]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Curseur sur le champ “Nombres de page” pour que l’utilisateur puisse l’augmenter/diminuer en cliquant sur un flèche. Voir les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des champs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(c.f. doc).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[Widgets]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hamp “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sequence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 (</a:t>
            </a:r>
            <a:r>
              <a:rPr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Integer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et la logique associée :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_order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un widget en vue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b="1"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[Widgets]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Champ “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active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 : avec un toggle animé plutôt qu’une case classique, et bandeau “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Archivé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 en haut à droite du formulaire le cas échéant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b="1"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[Search] 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Construire une vue Search avec : les filtres d’état par défaut, un regroupement par Catégorie, Etiquettes et Etat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7" name="Google Shape;357;g3f412d642b3_0_3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499293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f412d642b3_0_359"/>
          <p:cNvSpPr txBox="1"/>
          <p:nvPr/>
        </p:nvSpPr>
        <p:spPr>
          <a:xfrm>
            <a:off x="407363" y="5750444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9" name="Google Shape;359;g3f412d642b3_0_359"/>
          <p:cNvSpPr txBox="1"/>
          <p:nvPr/>
        </p:nvSpPr>
        <p:spPr>
          <a:xfrm>
            <a:off x="1963325" y="4559655"/>
            <a:ext cx="7183800" cy="21819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 startAt="4"/>
            </a:pPr>
            <a:r>
              <a:rPr b="1"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[Widgets] 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Champ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Selection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: Nouveau / Disponible / Emprunté / Perdu) affiché en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statusbar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sur le formulaire + un bandeau spécifique si “Perdu” + cacher le prix du livre si “perdu”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 startAt="4"/>
            </a:pPr>
            <a:r>
              <a:rPr b="1"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[Kanban]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Construire une vue Kanban regroupée par catégorie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 startAt="4"/>
            </a:pPr>
            <a:r>
              <a:rPr b="1"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[Search] 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Remplacer les 2 menu-items et actions “Livres” et “Livres disponibles” par 1 unique menu-item/action “Livres” qui aura un filtre par défaut “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default_search_active: 1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”. Il sera utile d’aussi passer “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active_test: False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412d642b3_0_332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365" name="Google Shape;365;g3f412d642b3_0_332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chapter_0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advanced_views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412d642b3_0_455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1"/>
              <a:buFont typeface="Arial"/>
              <a:buNone/>
            </a:pPr>
            <a:r>
              <a:rPr lang="fr-FR" sz="2501"/>
              <a:t>Chapitre 10 (11h30 - 12h30)</a:t>
            </a:r>
            <a:endParaRPr/>
          </a:p>
        </p:txBody>
      </p:sp>
      <p:sp>
        <p:nvSpPr>
          <p:cNvPr id="371" name="Google Shape;371;g3f412d642b3_0_455"/>
          <p:cNvSpPr txBox="1"/>
          <p:nvPr>
            <p:ph idx="1" type="body"/>
          </p:nvPr>
        </p:nvSpPr>
        <p:spPr>
          <a:xfrm>
            <a:off x="285750" y="3192951"/>
            <a:ext cx="47133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fr-FR"/>
              <a:t>Champs calculés :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compute, store, related, inverse, search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</a:t>
            </a:r>
            <a:r>
              <a:rPr lang="fr-FR"/>
              <a:t>Compteurs : nombre de livre dans la même catégorie et gestion de la TVA dans le prix du livre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8aecdb80c_0_29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Fields Stored et Compute - typologies (1/2)</a:t>
            </a:r>
            <a:endParaRPr/>
          </a:p>
        </p:txBody>
      </p:sp>
      <p:graphicFrame>
        <p:nvGraphicFramePr>
          <p:cNvPr id="377" name="Google Shape;377;g3f8aecdb80c_0_29"/>
          <p:cNvGraphicFramePr/>
          <p:nvPr/>
        </p:nvGraphicFramePr>
        <p:xfrm>
          <a:off x="432950" y="2146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{43BA5EB1-61CF-46FC-8746-04E1525EF40C}</a:tableStyleId>
              </a:tblPr>
              <a:tblGrid>
                <a:gridCol w="1710150"/>
                <a:gridCol w="4484800"/>
                <a:gridCol w="2873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Typologie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Cas d’usage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stored=True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/>
                        <a:t>readonly=False</a:t>
                      </a:r>
                      <a:endParaRPr b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(défaut)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Tous nos champs jusqu’à présent (comportement par défaut) :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fr-FR"/>
                        <a:t>Stocké</a:t>
                      </a:r>
                      <a:r>
                        <a:rPr lang="fr-FR"/>
                        <a:t> en base (colonne SQL de même nom)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Modifiable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par l’utilisateur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Saisie utilisateur à garder telle quelle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compute=...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Non-stocké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en base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Non modifiable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par défaut (</a:t>
                      </a: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readonly=True)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Pas de recherche possible par défaut (inutilisable dans un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domain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valeur calculée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par une méthode Python, nommée par convention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compute=”_compute_</a:t>
                      </a:r>
                      <a:r>
                        <a:rPr b="1" lang="fr-FR">
                          <a:solidFill>
                            <a:srgbClr val="6A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field_name”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Résultat d’un calcul léger à afficher ou mettre en cache. Ex : pour widget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statinfo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compute=...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stored=True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Stocké en base ⇒ recherche possible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Toujours non-modifiable par défaut (sauf si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readonly 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mis à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par le développeur)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Calcul complexe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Eviter une méthode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_search_xxx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complexe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Besoin de performance (PostgreSQL &gt; Odoo)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8" name="Google Shape;378;g3f8aecdb80c_0_29"/>
          <p:cNvSpPr txBox="1"/>
          <p:nvPr/>
        </p:nvSpPr>
        <p:spPr>
          <a:xfrm>
            <a:off x="432950" y="1091507"/>
            <a:ext cx="9069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Odoo permet de créer des champs dits “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compute</a:t>
            </a:r>
            <a:r>
              <a:rPr lang="fr-FR">
                <a:solidFill>
                  <a:schemeClr val="dk1"/>
                </a:solidFill>
              </a:rPr>
              <a:t>” qui ne sont pas stockées en base par défaut, pour de petit calculs à la volée, formatage de données, 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L’ORM prévoit aussi les autres attributs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stored, inverse, search</a:t>
            </a:r>
            <a:r>
              <a:rPr lang="fr-FR">
                <a:solidFill>
                  <a:schemeClr val="dk1"/>
                </a:solidFill>
              </a:rPr>
              <a:t> et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related</a:t>
            </a:r>
            <a:r>
              <a:rPr lang="fr-FR">
                <a:solidFill>
                  <a:schemeClr val="dk1"/>
                </a:solidFill>
              </a:rPr>
              <a:t> ⇒ en conséquence on peut distinguer 6 typologies de champs pour différents cas d’usage.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8aecdb80c_0_13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Fields Stored et Compute - typologies (2/2)</a:t>
            </a:r>
            <a:endParaRPr/>
          </a:p>
        </p:txBody>
      </p:sp>
      <p:graphicFrame>
        <p:nvGraphicFramePr>
          <p:cNvPr id="384" name="Google Shape;384;g3f8aecdb80c_0_13"/>
          <p:cNvGraphicFramePr/>
          <p:nvPr/>
        </p:nvGraphicFramePr>
        <p:xfrm>
          <a:off x="432950" y="109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{43BA5EB1-61CF-46FC-8746-04E1525EF40C}</a:tableStyleId>
              </a:tblPr>
              <a:tblGrid>
                <a:gridCol w="1710150"/>
                <a:gridCol w="4484800"/>
                <a:gridCol w="2873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Typologie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lt1"/>
                          </a:solidFill>
                        </a:rPr>
                        <a:t>Cas d’usage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</a:tr>
              <a:tr h="138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compute=...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inverse=...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readonly=False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par défaut ⇒ modifiable, mais toujours non-stocké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méthode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inverse=”_inverse_</a:t>
                      </a:r>
                      <a:r>
                        <a:rPr b="1" lang="fr-FR">
                          <a:solidFill>
                            <a:srgbClr val="6A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field_name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”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appelée juste avant le “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write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” avec la valeur remplie par l’utilisateur pour jouer une logique avec elle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Spécifiques et variés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Ex : SIRET qui rempli SIREN et NIC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compute=...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search=...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(inverse=...)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méthode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search=”_search_</a:t>
                      </a:r>
                      <a:r>
                        <a:rPr b="1" lang="fr-FR">
                          <a:solidFill>
                            <a:srgbClr val="6AA84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field_name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” 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appelée par la méthode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search()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de l’ORM plutôt que de chercher en base ⇒ par d’autre code Python ou lors de recherche utilisateur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Requis pour utiliser le champs dans un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domain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Spécifiques et variés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Ex : booléan de “raccourci” pour une vue </a:t>
                      </a: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&lt;search&gt;</a:t>
                      </a:r>
                      <a:r>
                        <a:rPr lang="fr-FR"/>
                        <a:t> (</a:t>
                      </a:r>
                      <a:r>
                        <a:rPr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stock_picking.is_returned</a:t>
                      </a:r>
                      <a:r>
                        <a:rPr lang="fr-FR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related=...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Champs d’un autre modèle </a:t>
                      </a:r>
                      <a:r>
                        <a:rPr i="1" lang="fr-FR">
                          <a:solidFill>
                            <a:schemeClr val="dk1"/>
                          </a:solidFill>
                        </a:rPr>
                        <a:t>parent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à afficher / accéder dans un modèle </a:t>
                      </a:r>
                      <a:r>
                        <a:rPr i="1" lang="fr-FR">
                          <a:solidFill>
                            <a:schemeClr val="dk1"/>
                          </a:solidFill>
                        </a:rPr>
                        <a:t>enfant</a:t>
                      </a:r>
                      <a:endParaRPr i="1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Non-stocké par défaut (peut l’être)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Équivalent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à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compute + search + inverse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Exemple :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related=”category_id.name”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Limite : maximum 1 champ M2M </a:t>
                      </a:r>
                      <a:r>
                        <a:rPr i="1" lang="fr-FR">
                          <a:solidFill>
                            <a:schemeClr val="dk1"/>
                          </a:solidFill>
                        </a:rPr>
                        <a:t>ou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O2M dans le chemin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Classiques et nombreux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Ex : nom de la catégorie d’un article sur </a:t>
                      </a:r>
                      <a:r>
                        <a:rPr b="1" lang="fr-FR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product.product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8aecdb80c_0_40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Fields Stored et Compute - exemple</a:t>
            </a:r>
            <a:endParaRPr/>
          </a:p>
        </p:txBody>
      </p:sp>
      <p:sp>
        <p:nvSpPr>
          <p:cNvPr id="390" name="Google Shape;390;g3f8aecdb80c_0_40"/>
          <p:cNvSpPr txBox="1"/>
          <p:nvPr/>
        </p:nvSpPr>
        <p:spPr>
          <a:xfrm>
            <a:off x="468125" y="1016816"/>
            <a:ext cx="9047400" cy="5356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siret = fields.Char(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compute="_compute_siret",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inverse="_inverse_siret",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search="_search_siret",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@api.depends("siren", "nic")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_compute_siret(self):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partner in self: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partner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.siren: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partner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.nic: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partner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.siret =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partner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.siren +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partner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.nic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else: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partner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.siret =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partner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.siren + "*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****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else: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partner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.siret = False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_inverse_siret(self):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partner in self: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partner.siret: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partner.write({"siren": partner.siret[:9], "nic": partner.siret[9:]})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else: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partner.write({"siren": False, "nic": False})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@api.model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_search_siret(self, operator, value):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assert operator == "="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[("siren", "=", value[:9]), ("nic", "=", value[9:])]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1" name="Google Shape;391;g3f8aecdb80c_0_40"/>
          <p:cNvSpPr txBox="1"/>
          <p:nvPr/>
        </p:nvSpPr>
        <p:spPr>
          <a:xfrm>
            <a:off x="468125" y="6422450"/>
            <a:ext cx="913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fr-FR" sz="1100"/>
              <a:t>(Exemple inspiré de </a:t>
            </a:r>
            <a:r>
              <a:rPr b="1" lang="fr-FR" sz="1100">
                <a:latin typeface="Courier New"/>
                <a:ea typeface="Courier New"/>
                <a:cs typeface="Courier New"/>
                <a:sym typeface="Courier New"/>
              </a:rPr>
              <a:t>l10n_fr_siret</a:t>
            </a:r>
            <a:r>
              <a:rPr lang="fr-FR" sz="1100"/>
              <a:t>, modifié à but pédagogique)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8aecdb80c_0_2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Fields Stored et Compute : must-know</a:t>
            </a:r>
            <a:endParaRPr/>
          </a:p>
        </p:txBody>
      </p:sp>
      <p:sp>
        <p:nvSpPr>
          <p:cNvPr id="397" name="Google Shape;397;g3f8aecdb80c_0_22"/>
          <p:cNvSpPr txBox="1"/>
          <p:nvPr/>
        </p:nvSpPr>
        <p:spPr>
          <a:xfrm>
            <a:off x="392600" y="6018800"/>
            <a:ext cx="917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https://www.odoo.com/documentation/16.0/developer/reference/backend/orm.html#computed-fields</a:t>
            </a:r>
            <a:endParaRPr/>
          </a:p>
        </p:txBody>
      </p:sp>
      <p:sp>
        <p:nvSpPr>
          <p:cNvPr id="398" name="Google Shape;398;g3f8aecdb80c_0_22"/>
          <p:cNvSpPr txBox="1"/>
          <p:nvPr/>
        </p:nvSpPr>
        <p:spPr>
          <a:xfrm>
            <a:off x="432950" y="1239975"/>
            <a:ext cx="9134700" cy="4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Règle d’or : toujours préférer un champ </a:t>
            </a:r>
            <a:r>
              <a:rPr b="1" lang="fr-FR">
                <a:solidFill>
                  <a:schemeClr val="dk1"/>
                </a:solidFill>
              </a:rPr>
              <a:t>compute</a:t>
            </a:r>
            <a:r>
              <a:rPr lang="fr-FR">
                <a:solidFill>
                  <a:schemeClr val="dk1"/>
                </a:solidFill>
              </a:rPr>
              <a:t> (</a:t>
            </a:r>
            <a:r>
              <a:rPr i="1" lang="fr-FR">
                <a:solidFill>
                  <a:schemeClr val="dk1"/>
                </a:solidFill>
              </a:rPr>
              <a:t>stored</a:t>
            </a:r>
            <a:r>
              <a:rPr lang="fr-FR">
                <a:solidFill>
                  <a:schemeClr val="dk1"/>
                </a:solidFill>
              </a:rPr>
              <a:t> ou non) à une logique appelé par les méthodes CRUD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fr-FR">
                <a:solidFill>
                  <a:schemeClr val="dk1"/>
                </a:solidFill>
              </a:rPr>
              <a:t> et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fr-FR">
                <a:solidFill>
                  <a:schemeClr val="dk1"/>
                </a:solidFill>
              </a:rPr>
              <a:t> 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Visibilité et héritabilité du code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Performance (mise en cache)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compute</a:t>
            </a:r>
            <a:r>
              <a:rPr lang="fr-FR"/>
              <a:t> :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1 même méthode pour plusieurs champs possible (pas de convention de nommage)...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…mais ne doit pas mélanger les champs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stored=True</a:t>
            </a:r>
            <a:r>
              <a:rPr lang="fr-FR"/>
              <a:t> et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1 unique appel possible pour de multiple records (ex : chargement d’une vue list), pour les perfs.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la méthode </a:t>
            </a:r>
            <a:r>
              <a:rPr b="1" lang="fr-FR" u="sng"/>
              <a:t>doit</a:t>
            </a:r>
            <a:r>
              <a:rPr lang="fr-FR"/>
              <a:t> assigner une valeur pour tous les records (si non stocké), sinon elle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raise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@depends</a:t>
            </a:r>
            <a:r>
              <a:rPr lang="fr-FR">
                <a:solidFill>
                  <a:schemeClr val="dk1"/>
                </a:solidFill>
              </a:rPr>
              <a:t> : décorateur de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_compute</a:t>
            </a:r>
            <a:r>
              <a:rPr lang="fr-FR">
                <a:solidFill>
                  <a:schemeClr val="dk1"/>
                </a:solidFill>
              </a:rPr>
              <a:t> devant lister les autres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fields</a:t>
            </a:r>
            <a:r>
              <a:rPr lang="fr-FR">
                <a:solidFill>
                  <a:schemeClr val="dk1"/>
                </a:solidFill>
              </a:rPr>
              <a:t> qui re-déclencheront le </a:t>
            </a:r>
            <a:r>
              <a:rPr i="1" lang="fr-FR">
                <a:solidFill>
                  <a:schemeClr val="dk1"/>
                </a:solidFill>
              </a:rPr>
              <a:t>compute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compute_sudo</a:t>
            </a:r>
            <a:r>
              <a:rPr lang="fr-FR"/>
              <a:t> :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=True</a:t>
            </a:r>
            <a:r>
              <a:rPr lang="fr-FR"/>
              <a:t> par défaut si compute+stored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Font typeface="Courier New"/>
              <a:buChar char="●"/>
            </a:pPr>
            <a:r>
              <a:rPr lang="fr-FR"/>
              <a:t>Sur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_compute</a:t>
            </a:r>
            <a:r>
              <a:rPr lang="fr-FR"/>
              <a:t> uniquement : le compute bypass tous les droits d’accès</a:t>
            </a:r>
            <a:endParaRPr/>
          </a:p>
          <a:p>
            <a:pPr indent="-317500" lvl="0" marL="457200" rtl="0" algn="l">
              <a:spcBef>
                <a:spcPts val="300"/>
              </a:spcBef>
              <a:spcAft>
                <a:spcPts val="0"/>
              </a:spcAft>
              <a:buSzPts val="1400"/>
              <a:buChar char="●"/>
            </a:pPr>
            <a:r>
              <a:rPr lang="fr-FR"/>
              <a:t>Exemple :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M2o</a:t>
            </a:r>
            <a:r>
              <a:rPr lang="fr-FR"/>
              <a:t> où le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comodel_name</a:t>
            </a:r>
            <a:r>
              <a:rPr lang="fr-FR"/>
              <a:t> n’est pas accessible par tous les utilisateurs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8aecdb80c_0_5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04" name="Google Shape;404;g3f8aecdb80c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31729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f8aecdb80c_0_52"/>
          <p:cNvSpPr txBox="1"/>
          <p:nvPr/>
        </p:nvSpPr>
        <p:spPr>
          <a:xfrm>
            <a:off x="407363" y="2514939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 1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6" name="Google Shape;406;g3f8aecdb80c_0_52"/>
          <p:cNvSpPr txBox="1"/>
          <p:nvPr/>
        </p:nvSpPr>
        <p:spPr>
          <a:xfrm>
            <a:off x="1963325" y="1199725"/>
            <a:ext cx="7411800" cy="15648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Simplifier le XML et améliorer le bouton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action_view_category_books</a:t>
            </a:r>
            <a:r>
              <a:rPr lang="fr-FR" sz="1500">
                <a:solidFill>
                  <a:schemeClr val="dk1"/>
                </a:solidFill>
              </a:rPr>
              <a:t> en :</a:t>
            </a:r>
            <a:endParaRPr sz="1500">
              <a:solidFill>
                <a:schemeClr val="dk1"/>
              </a:solidFill>
            </a:endParaRPr>
          </a:p>
          <a:p>
            <a:pPr indent="-323850" lvl="0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créant 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 champ non-stocké “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category_count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utilisant le widget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statinfo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Résultat : le bouton affichera le nombre de livres dans la même catégorie, et le code XML sera plus simple.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07" name="Google Shape;407;g3f8aecdb80c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3142677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f8aecdb80c_0_52"/>
          <p:cNvSpPr txBox="1"/>
          <p:nvPr/>
        </p:nvSpPr>
        <p:spPr>
          <a:xfrm>
            <a:off x="407363" y="4318912"/>
            <a:ext cx="1667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 2 (avancé)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9" name="Google Shape;409;g3f8aecdb80c_0_52"/>
          <p:cNvSpPr txBox="1"/>
          <p:nvPr/>
        </p:nvSpPr>
        <p:spPr>
          <a:xfrm>
            <a:off x="1963325" y="3414514"/>
            <a:ext cx="7183800" cy="5886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Champ non-stocké “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price_with_tax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” dans la vue form avec méthode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compute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inverse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search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10" name="Google Shape;410;g3f8aecdb80c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5133292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f8aecdb80c_0_52"/>
          <p:cNvSpPr txBox="1"/>
          <p:nvPr/>
        </p:nvSpPr>
        <p:spPr>
          <a:xfrm>
            <a:off x="407363" y="6330932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2" name="Google Shape;412;g3f8aecdb80c_0_52"/>
          <p:cNvSpPr txBox="1"/>
          <p:nvPr/>
        </p:nvSpPr>
        <p:spPr>
          <a:xfrm>
            <a:off x="1963325" y="5405130"/>
            <a:ext cx="7183800" cy="5886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Optimiser les performances de l’exercice 1 en utilisant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_read_group</a:t>
            </a:r>
            <a:br>
              <a:rPr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FR" sz="1500">
                <a:solidFill>
                  <a:schemeClr val="dk1"/>
                </a:solidFill>
              </a:rPr>
              <a:t>(très difficile)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412d642b3_0_460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418" name="Google Shape;418;g3f412d642b3_0_460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chapter_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computed_fields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8"/>
          <p:cNvSpPr txBox="1"/>
          <p:nvPr>
            <p:ph idx="1" type="body"/>
          </p:nvPr>
        </p:nvSpPr>
        <p:spPr>
          <a:xfrm>
            <a:off x="209040" y="809625"/>
            <a:ext cx="4277235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EMARGEMENT MATINÉE JOUR 2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412d642b3_0_15"/>
          <p:cNvSpPr txBox="1"/>
          <p:nvPr>
            <p:ph type="title"/>
          </p:nvPr>
        </p:nvSpPr>
        <p:spPr>
          <a:xfrm>
            <a:off x="201776" y="2250580"/>
            <a:ext cx="3504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Déjeuner – 1 heure</a:t>
            </a:r>
            <a:endParaRPr/>
          </a:p>
        </p:txBody>
      </p:sp>
      <p:sp>
        <p:nvSpPr>
          <p:cNvPr id="429" name="Google Shape;429;g3f412d642b3_0_15"/>
          <p:cNvSpPr txBox="1"/>
          <p:nvPr>
            <p:ph type="title"/>
          </p:nvPr>
        </p:nvSpPr>
        <p:spPr>
          <a:xfrm>
            <a:off x="201776" y="3103955"/>
            <a:ext cx="35046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lang="fr-FR"/>
              <a:t>12h30 - 13h30</a:t>
            </a:r>
            <a:endParaRPr b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8aecdb80c_0_74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Chapitre 11 (13h30 - 14h15)</a:t>
            </a:r>
            <a:endParaRPr/>
          </a:p>
        </p:txBody>
      </p:sp>
      <p:sp>
        <p:nvSpPr>
          <p:cNvPr id="435" name="Google Shape;435;g3f8aecdb80c_0_74"/>
          <p:cNvSpPr txBox="1"/>
          <p:nvPr>
            <p:ph idx="1" type="body"/>
          </p:nvPr>
        </p:nvSpPr>
        <p:spPr>
          <a:xfrm>
            <a:off x="285750" y="3192950"/>
            <a:ext cx="47133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Contraintes ORM en SQL et logique Python :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models.Constraint</a:t>
            </a:r>
            <a:r>
              <a:rPr lang="fr-FR"/>
              <a:t>,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@api.constrains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</a:t>
            </a:r>
            <a:r>
              <a:rPr lang="fr-FR"/>
              <a:t>Unicité de l’ISBN et date de sortie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8aecdb80c_0_203"/>
          <p:cNvSpPr txBox="1"/>
          <p:nvPr/>
        </p:nvSpPr>
        <p:spPr>
          <a:xfrm>
            <a:off x="603125" y="1977925"/>
            <a:ext cx="5883300" cy="21819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 manières de gérer les contraintes (validation de données) :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PostgreSQL : 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déclaré avec</a:t>
            </a:r>
            <a:r>
              <a:rPr lang="fr-FR" sz="1500">
                <a:solidFill>
                  <a:schemeClr val="dk1"/>
                </a:solidFill>
              </a:rPr>
              <a:t>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models.Constraint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ou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models.UniqueIndex 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avec un message d’erreur explicite (nouveauté v19.0).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Char char="●"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Décorateur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@api.constrains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sur une méthode Python dans le modèle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1" name="Google Shape;441;g3f8aecdb80c_0_203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Contraintes : SQL et ORM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8aecdb80c_0_181"/>
          <p:cNvSpPr txBox="1"/>
          <p:nvPr/>
        </p:nvSpPr>
        <p:spPr>
          <a:xfrm>
            <a:off x="592423" y="1788633"/>
            <a:ext cx="8544000" cy="3231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Exemples de contraintes SQL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7" name="Google Shape;447;g3f8aecdb80c_0_18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Contraintes SQL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8" name="Google Shape;448;g3f8aecdb80c_0_181"/>
          <p:cNvSpPr txBox="1"/>
          <p:nvPr/>
        </p:nvSpPr>
        <p:spPr>
          <a:xfrm>
            <a:off x="592425" y="2143322"/>
            <a:ext cx="8632500" cy="3140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# With .Constrains OR .UniqueIndex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_name_unique =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Constraint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UNIQUE(name, company_id)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",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This name is already used.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_name_company_index =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models.UniqueIndex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UNIQUE(name, company_id)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",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This name is already used.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_check_name =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models.Constraint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CHECK( (type='contact' AND name IS NOT NULL) or (type!='contact') )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Contacts require a name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_create_date_team_id_idx =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models.Index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(create_date, team_id)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9" name="Google Shape;449;g3f8aecdb80c_0_181"/>
          <p:cNvSpPr txBox="1"/>
          <p:nvPr/>
        </p:nvSpPr>
        <p:spPr>
          <a:xfrm>
            <a:off x="592425" y="5329725"/>
            <a:ext cx="863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Bonus :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models.Index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fr-FR" sz="1500">
                <a:solidFill>
                  <a:schemeClr val="dk1"/>
                </a:solidFill>
              </a:rPr>
              <a:t>permet de déclarer des Index facilement.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50" name="Google Shape;450;g3f8aecdb80c_0_181"/>
          <p:cNvSpPr txBox="1"/>
          <p:nvPr/>
        </p:nvSpPr>
        <p:spPr>
          <a:xfrm>
            <a:off x="592425" y="1129450"/>
            <a:ext cx="863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A privilégier si possible, car plus performant et sans code Python.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8aecdb80c_0_196"/>
          <p:cNvSpPr txBox="1"/>
          <p:nvPr/>
        </p:nvSpPr>
        <p:spPr>
          <a:xfrm>
            <a:off x="592423" y="1227237"/>
            <a:ext cx="8544000" cy="3231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Exemples de contraintes par l’ORM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6" name="Google Shape;456;g3f8aecdb80c_0_19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Contraintes ORM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7" name="Google Shape;457;g3f8aecdb80c_0_196"/>
          <p:cNvSpPr txBox="1"/>
          <p:nvPr/>
        </p:nvSpPr>
        <p:spPr>
          <a:xfrm>
            <a:off x="592425" y="1635437"/>
            <a:ext cx="8632500" cy="1662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odoo import api, _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odoo.exceptions import ValidationError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@api.constrains('parent_id')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_check_category_recursion(self):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self._has_cycle():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raise 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ValidationError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(_('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Error! You cannot create recursive categories.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'))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8" name="Google Shape;458;g3f8aecdb80c_0_196"/>
          <p:cNvSpPr txBox="1"/>
          <p:nvPr/>
        </p:nvSpPr>
        <p:spPr>
          <a:xfrm>
            <a:off x="603125" y="3615350"/>
            <a:ext cx="6375600" cy="26643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Must-known :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b="1" lang="fr-FR">
                <a:solidFill>
                  <a:schemeClr val="dk1"/>
                </a:solidFill>
              </a:rPr>
              <a:t>Décorateur</a:t>
            </a:r>
            <a:r>
              <a:rPr lang="fr-FR">
                <a:solidFill>
                  <a:schemeClr val="dk1"/>
                </a:solidFill>
              </a:rPr>
              <a:t> : uniquement des champs du modèle, pas de relation (⚠️ pas comme 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related=”category_id.name”</a:t>
            </a:r>
            <a:r>
              <a:rPr lang="fr-FR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●"/>
            </a:pPr>
            <a:r>
              <a:rPr b="1" lang="fr-FR">
                <a:solidFill>
                  <a:schemeClr val="dk1"/>
                </a:solidFill>
              </a:rPr>
              <a:t>Déclencheur</a:t>
            </a:r>
            <a:r>
              <a:rPr lang="fr-FR">
                <a:solidFill>
                  <a:schemeClr val="dk1"/>
                </a:solidFill>
              </a:rPr>
              <a:t> : ⚠️ pas en toute circonstance !</a:t>
            </a:r>
            <a:br>
              <a:rPr lang="fr-FR">
                <a:solidFill>
                  <a:schemeClr val="dk1"/>
                </a:solidFill>
              </a:rPr>
            </a:br>
            <a:r>
              <a:rPr lang="fr-FR">
                <a:solidFill>
                  <a:schemeClr val="dk1"/>
                </a:solidFill>
              </a:rPr>
              <a:t>Uniquement si les champs du décorateur sont dans l’appel à 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create()</a:t>
            </a:r>
            <a:r>
              <a:rPr lang="fr-FR">
                <a:solidFill>
                  <a:schemeClr val="dk1"/>
                </a:solidFill>
              </a:rPr>
              <a:t> ou 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fr-FR">
                <a:solidFill>
                  <a:schemeClr val="dk1"/>
                </a:solidFill>
              </a:rPr>
              <a:t>, depuis l’UI, l’ORM ou d’un chargement de données</a:t>
            </a:r>
            <a:br>
              <a:rPr lang="fr-FR">
                <a:solidFill>
                  <a:schemeClr val="dk1"/>
                </a:solidFill>
              </a:rPr>
            </a:br>
            <a:r>
              <a:rPr lang="fr-FR">
                <a:solidFill>
                  <a:schemeClr val="dk1"/>
                </a:solidFill>
              </a:rPr>
              <a:t>⇒ Pour s’assurer de la contrainte : l’appeler en Python depuis ces méthodes.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fr-FR">
                <a:solidFill>
                  <a:schemeClr val="dk1"/>
                </a:solidFill>
              </a:rPr>
              <a:t>Méthode</a:t>
            </a:r>
            <a:r>
              <a:rPr lang="fr-FR">
                <a:solidFill>
                  <a:schemeClr val="dk1"/>
                </a:solidFill>
              </a:rPr>
              <a:t> : pas de convention de nommage.</a:t>
            </a:r>
            <a:br>
              <a:rPr lang="fr-FR">
                <a:solidFill>
                  <a:schemeClr val="dk1"/>
                </a:solidFill>
              </a:rPr>
            </a:br>
            <a:r>
              <a:rPr lang="fr-FR">
                <a:solidFill>
                  <a:schemeClr val="dk1"/>
                </a:solidFill>
              </a:rPr>
              <a:t>Devrait lever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ValidationError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8aecdb80c_0_133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64" name="Google Shape;464;g3f8aecdb80c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839011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g3f8aecdb80c_0_133"/>
          <p:cNvSpPr txBox="1"/>
          <p:nvPr/>
        </p:nvSpPr>
        <p:spPr>
          <a:xfrm>
            <a:off x="407363" y="3036651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6" name="Google Shape;466;g3f8aecdb80c_0_133"/>
          <p:cNvSpPr txBox="1"/>
          <p:nvPr/>
        </p:nvSpPr>
        <p:spPr>
          <a:xfrm>
            <a:off x="1963325" y="1721450"/>
            <a:ext cx="5860800" cy="11673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fr-FR" sz="1600">
                <a:solidFill>
                  <a:schemeClr val="dk1"/>
                </a:solidFill>
              </a:rPr>
              <a:t>Ajouter </a:t>
            </a:r>
            <a:r>
              <a:rPr b="1"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_isbn_unique</a:t>
            </a:r>
            <a:r>
              <a:rPr lang="fr-FR" sz="1600">
                <a:solidFill>
                  <a:schemeClr val="dk1"/>
                </a:solidFill>
              </a:rPr>
              <a:t> (contrainte SQL) sur </a:t>
            </a:r>
            <a:r>
              <a:rPr b="1"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</a:t>
            </a:r>
            <a:r>
              <a:rPr b="1"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b="1"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.book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AutoNum type="arabicPeriod"/>
            </a:pPr>
            <a:r>
              <a:rPr lang="fr-FR" sz="1600">
                <a:solidFill>
                  <a:schemeClr val="dk1"/>
                </a:solidFill>
              </a:rPr>
              <a:t>Ajouter une contrainte Python : la date de sortie ne peut pas être dans le futur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467" name="Google Shape;467;g3f8aecdb80c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009559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f8aecdb80c_0_133"/>
          <p:cNvSpPr txBox="1"/>
          <p:nvPr/>
        </p:nvSpPr>
        <p:spPr>
          <a:xfrm>
            <a:off x="407363" y="5207199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9" name="Google Shape;469;g3f8aecdb80c_0_133"/>
          <p:cNvSpPr txBox="1"/>
          <p:nvPr/>
        </p:nvSpPr>
        <p:spPr>
          <a:xfrm>
            <a:off x="1963325" y="4281396"/>
            <a:ext cx="7183800" cy="9132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Index sur un champ souvent filtré :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category_id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70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Prévoir une clef de contexte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skip_date_release_check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pour rendre la contrainte silencieuse (ex : utile lors d’un import de données contrôlé)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8aecdb80c_0_176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475" name="Google Shape;475;g3f8aecdb80c_0_176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chapter_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b="1" i="0" lang="fr-FR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constraints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8aecdb80c_0_118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Chapitre 12 (14h15 - 15h00)</a:t>
            </a:r>
            <a:endParaRPr/>
          </a:p>
        </p:txBody>
      </p:sp>
      <p:sp>
        <p:nvSpPr>
          <p:cNvPr id="481" name="Google Shape;481;g3f8aecdb80c_0_118"/>
          <p:cNvSpPr txBox="1"/>
          <p:nvPr>
            <p:ph idx="1" type="body"/>
          </p:nvPr>
        </p:nvSpPr>
        <p:spPr>
          <a:xfrm>
            <a:off x="285750" y="3192950"/>
            <a:ext cx="47133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Actions et boutons : de vue et de serveur ; en XML et Python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Bouton “Vérifier l’IBAN”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8aecdb80c_0_26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Les types d’actions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87" name="Google Shape;487;g3f8aecdb80c_0_262"/>
          <p:cNvGraphicFramePr/>
          <p:nvPr/>
        </p:nvGraphicFramePr>
        <p:xfrm>
          <a:off x="432950" y="15177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2464350"/>
                <a:gridCol w="6670350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Modèle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Rendu</a:t>
                      </a:r>
                      <a:endParaRPr b="1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ir.actions.act_window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Ouvre un modèle sur une vue, le plus commun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ir.actions.server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Exécute du code Python. Ex : jouer une logique métier avec de retourner un dictionnaire dynamique de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ir.actions.act_window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ir.actions.act_url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Ouvre une URL. Ex : télécharge un document.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ir.actions.report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Génère et ouvre un rapport selon le moteur 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(HTML, PDF, …)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ir.actions.clients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Appelle une action définie dans OWL. Ex :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display_notification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reload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ir.cron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Tâche planifiée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8" name="Google Shape;488;g3f8aecdb80c_0_262"/>
          <p:cNvSpPr txBox="1"/>
          <p:nvPr/>
        </p:nvSpPr>
        <p:spPr>
          <a:xfrm>
            <a:off x="432900" y="1036100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https://www.odoo.com/documentation/19.0/developer/reference/backend/actions.html</a:t>
            </a:r>
            <a:endParaRPr/>
          </a:p>
        </p:txBody>
      </p:sp>
      <p:graphicFrame>
        <p:nvGraphicFramePr>
          <p:cNvPr id="489" name="Google Shape;489;g3f8aecdb80c_0_262"/>
          <p:cNvGraphicFramePr/>
          <p:nvPr/>
        </p:nvGraphicFramePr>
        <p:xfrm>
          <a:off x="385700" y="4752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2239625"/>
                <a:gridCol w="689507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Champ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Définition / exemple</a:t>
                      </a:r>
                      <a:endParaRPr b="1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binding_model_id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&lt;field name="binding_model_id" ref="model_library_book" /&gt;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binding_type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Indique si le menu est “Actions” ou “Imprimer”. Valeurs : </a:t>
                      </a: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‘report’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ou </a:t>
                      </a: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‘action’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binding_view_types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‘list,form,kanban’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0" name="Google Shape;490;g3f8aecdb80c_0_262"/>
          <p:cNvSpPr txBox="1"/>
          <p:nvPr/>
        </p:nvSpPr>
        <p:spPr>
          <a:xfrm>
            <a:off x="432950" y="4253250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Bindings</a:t>
            </a:r>
            <a:r>
              <a:rPr lang="fr-FR">
                <a:solidFill>
                  <a:schemeClr val="dk1"/>
                </a:solidFill>
              </a:rPr>
              <a:t> : ajoute une action dans le menu d’action d’un modèle (potentiellement sur certaines vues uniquement)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8aecdb80c_0_22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2 types de boutons :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type=”action”</a:t>
            </a:r>
            <a:r>
              <a:rPr lang="fr-FR"/>
              <a:t> et </a:t>
            </a: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“object”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96" name="Google Shape;496;g3f8aecdb80c_0_226"/>
          <p:cNvGraphicFramePr/>
          <p:nvPr/>
        </p:nvGraphicFramePr>
        <p:xfrm>
          <a:off x="432950" y="1453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1083775"/>
                <a:gridCol w="805092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Argument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Définition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string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Texte affiché dans le bouton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type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si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type=”action”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joue une action enregistrée en base (définie dans une précédente vue XML)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30480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si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type=”object”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appelle une méthode Python du modèle. Pour jouer une logique métier, ou retourner une action définie par le code (parfois nécessaire)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si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type=”action”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name=”%(xml_id)d”</a:t>
                      </a:r>
                      <a:b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Exemple :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name=”%(base.action_res_users)d”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-30480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-"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si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type=”object”</a:t>
                      </a: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 : nom de la méthode Python</a:t>
                      </a:r>
                      <a:br>
                        <a:rPr lang="fr-FR" sz="1200">
                          <a:solidFill>
                            <a:schemeClr val="dk1"/>
                          </a:solidFill>
                        </a:rPr>
                      </a:b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Exemple :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name=”action_confirm”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context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Passe des clefs de contexte supplémentaires à la méthode Python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invisible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Expression Python pour cacher conditionnellement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help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Tooltip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Groupes de sécurité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icon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Afficher une icône devant le texte de 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string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Exemples :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oi-arrow-right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;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 fa-address-book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Voir : </a:t>
                      </a:r>
                      <a:r>
                        <a:rPr lang="fr-FR" sz="1200" u="sng">
                          <a:solidFill>
                            <a:schemeClr val="hlink"/>
                          </a:solidFill>
                          <a:hlinkClick r:id="rId3"/>
                        </a:rPr>
                        <a:t>https://www.odoo.com/documentation/19.0/developer/reference/user_interface/icons.html</a:t>
                      </a:r>
                      <a:br>
                        <a:rPr lang="fr-FR" sz="1200">
                          <a:solidFill>
                            <a:schemeClr val="dk1"/>
                          </a:solidFill>
                        </a:rPr>
                      </a:b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et : </a:t>
                      </a:r>
                      <a:r>
                        <a:rPr lang="fr-FR" sz="1200" u="sng">
                          <a:solidFill>
                            <a:schemeClr val="hlink"/>
                          </a:solidFill>
                          <a:hlinkClick r:id="rId4"/>
                        </a:rPr>
                        <a:t>https://fontawesome.com/v4/icons/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Exemples : </a:t>
                      </a:r>
                      <a:r>
                        <a:rPr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btn btn-sm btn-primary btn-secondary btn-default btn-link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>
                          <a:solidFill>
                            <a:schemeClr val="dk1"/>
                          </a:solidFill>
                        </a:rPr>
                        <a:t>Voir Bootstrap : </a:t>
                      </a:r>
                      <a:r>
                        <a:rPr lang="fr-FR" sz="1200" u="sng">
                          <a:solidFill>
                            <a:schemeClr val="hlink"/>
                          </a:solidFill>
                          <a:hlinkClick r:id="rId5"/>
                        </a:rPr>
                        <a:t>https://getbootstrap.com/docs/5.3/components/buttons/#variants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7" name="Google Shape;497;g3f8aecdb80c_0_226"/>
          <p:cNvSpPr txBox="1"/>
          <p:nvPr/>
        </p:nvSpPr>
        <p:spPr>
          <a:xfrm>
            <a:off x="432950" y="999775"/>
            <a:ext cx="91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Arguments (principaux) de l’objet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&lt;button /&gt;</a:t>
            </a:r>
            <a:r>
              <a:rPr lang="fr-FR">
                <a:solidFill>
                  <a:schemeClr val="dk1"/>
                </a:solidFill>
              </a:rPr>
              <a:t>. Valable dans toutes les vues où il est utilisable.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8aecdb80c_0_251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Retourner une action via un dict Python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3" name="Google Shape;503;g3f8aecdb80c_0_251"/>
          <p:cNvSpPr txBox="1"/>
          <p:nvPr/>
        </p:nvSpPr>
        <p:spPr>
          <a:xfrm>
            <a:off x="432950" y="935562"/>
            <a:ext cx="9134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La méthode appelée par un bouton </a:t>
            </a:r>
            <a:r>
              <a:rPr b="1" i="1" lang="fr-FR">
                <a:solidFill>
                  <a:schemeClr val="dk1"/>
                </a:solidFill>
              </a:rPr>
              <a:t>peut</a:t>
            </a:r>
            <a:r>
              <a:rPr lang="fr-FR">
                <a:solidFill>
                  <a:schemeClr val="dk1"/>
                </a:solidFill>
              </a:rPr>
              <a:t> renvoyer un dictionnaire correspondant à la définition d’une action.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dk1"/>
                </a:solidFill>
              </a:rPr>
              <a:t>C’est parfois nécessaire</a:t>
            </a:r>
            <a:r>
              <a:rPr lang="fr-FR">
                <a:solidFill>
                  <a:schemeClr val="dk1"/>
                </a:solidFill>
              </a:rPr>
              <a:t> : comme ouvrir une vue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fr-FR">
                <a:solidFill>
                  <a:schemeClr val="dk1"/>
                </a:solidFill>
              </a:rPr>
              <a:t> sur 1 record (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res_id</a:t>
            </a:r>
            <a:r>
              <a:rPr lang="fr-FR">
                <a:solidFill>
                  <a:schemeClr val="dk1"/>
                </a:solidFill>
              </a:rPr>
              <a:t>)</a:t>
            </a:r>
            <a:br>
              <a:rPr lang="fr-FR">
                <a:solidFill>
                  <a:schemeClr val="dk1"/>
                </a:solidFill>
              </a:rPr>
            </a:br>
            <a:r>
              <a:rPr lang="fr-FR" u="sng">
                <a:solidFill>
                  <a:schemeClr val="dk1"/>
                </a:solidFill>
              </a:rPr>
              <a:t>C’est parfois utile</a:t>
            </a:r>
            <a:r>
              <a:rPr lang="fr-FR">
                <a:solidFill>
                  <a:schemeClr val="dk1"/>
                </a:solidFill>
              </a:rPr>
              <a:t> : définir conditionnellement une action et l’appeler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4" name="Google Shape;504;g3f8aecdb80c_0_251"/>
          <p:cNvSpPr txBox="1"/>
          <p:nvPr/>
        </p:nvSpPr>
        <p:spPr>
          <a:xfrm>
            <a:off x="432950" y="2012791"/>
            <a:ext cx="5529000" cy="480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action_something(self):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action =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_("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Journal Items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"),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ir.actions.act_window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res_model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record._name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res_id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record.id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view_mode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list,form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search_view_id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self.env.ref("module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.view_model_filter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").id,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"search",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]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views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[self.env.ref("module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.view_model_tree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").id, "list"],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[self.env.ref("module.view_model_form").id, "form"],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]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domain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[("id", "in", records.ids)]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dict(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self.env.context,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active_ids=self.ids,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default_field_id=self.field_id.id,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search_default_available=1,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</a:t>
            </a: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": 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new|current|fullscreen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action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5" name="Google Shape;505;g3f8aecdb80c_0_251"/>
          <p:cNvSpPr txBox="1"/>
          <p:nvPr/>
        </p:nvSpPr>
        <p:spPr>
          <a:xfrm>
            <a:off x="6197500" y="2012791"/>
            <a:ext cx="3414000" cy="2770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action_something(self):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action = 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'type': '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ir.actions.client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'tag': '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display_notification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'params':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'type': '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success|warning|danger|info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'message': _("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Message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"),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'sticky':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True|False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'next': '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next action to be done</a:t>
            </a: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', 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# optional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action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8aecdb80c_0_278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@api.onchange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1" name="Google Shape;511;g3f8aecdb80c_0_278"/>
          <p:cNvSpPr txBox="1"/>
          <p:nvPr/>
        </p:nvSpPr>
        <p:spPr>
          <a:xfrm>
            <a:off x="432950" y="1181712"/>
            <a:ext cx="9134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Historiquement très présent, tant à se limiter.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u="sng">
                <a:solidFill>
                  <a:schemeClr val="dk1"/>
                </a:solidFill>
              </a:rPr>
              <a:t>Cas d’usage</a:t>
            </a:r>
            <a:r>
              <a:rPr lang="fr-FR">
                <a:solidFill>
                  <a:schemeClr val="dk1"/>
                </a:solidFill>
              </a:rPr>
              <a:t> : </a:t>
            </a:r>
            <a:r>
              <a:rPr b="1" lang="fr-FR">
                <a:solidFill>
                  <a:schemeClr val="dk1"/>
                </a:solidFill>
              </a:rPr>
              <a:t>suggérer</a:t>
            </a:r>
            <a:r>
              <a:rPr lang="fr-FR">
                <a:solidFill>
                  <a:schemeClr val="dk1"/>
                </a:solidFill>
              </a:rPr>
              <a:t> une valeur à l’utilisateur ou </a:t>
            </a:r>
            <a:r>
              <a:rPr b="1" lang="fr-FR">
                <a:solidFill>
                  <a:schemeClr val="dk1"/>
                </a:solidFill>
              </a:rPr>
              <a:t>afficher</a:t>
            </a:r>
            <a:r>
              <a:rPr lang="fr-FR">
                <a:solidFill>
                  <a:schemeClr val="dk1"/>
                </a:solidFill>
              </a:rPr>
              <a:t> un avertissement non-bloquant.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 u="sng">
                <a:solidFill>
                  <a:schemeClr val="dk1"/>
                </a:solidFill>
              </a:rPr>
              <a:t>Déclencheur</a:t>
            </a:r>
            <a:r>
              <a:rPr lang="fr-FR">
                <a:solidFill>
                  <a:schemeClr val="dk1"/>
                </a:solidFill>
              </a:rPr>
              <a:t> : uniquement par l’UI, avant le </a:t>
            </a:r>
            <a:r>
              <a:rPr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write()</a:t>
            </a:r>
            <a:r>
              <a:rPr lang="fr-FR">
                <a:solidFill>
                  <a:schemeClr val="dk1"/>
                </a:solidFill>
              </a:rPr>
              <a:t>, à l’inverse de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@api.compute</a:t>
            </a:r>
            <a:r>
              <a:rPr lang="fr-FR">
                <a:solidFill>
                  <a:schemeClr val="dk1"/>
                </a:solidFill>
              </a:rPr>
              <a:t> qui s’exécute lors de changement via UI </a:t>
            </a:r>
            <a:r>
              <a:rPr lang="fr-FR" u="sng">
                <a:solidFill>
                  <a:schemeClr val="dk1"/>
                </a:solidFill>
              </a:rPr>
              <a:t>et</a:t>
            </a:r>
            <a:r>
              <a:rPr lang="fr-FR">
                <a:solidFill>
                  <a:schemeClr val="dk1"/>
                </a:solidFill>
              </a:rPr>
              <a:t> ORM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Généralement préférable d’utiliser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@api.compute</a:t>
            </a:r>
            <a:r>
              <a:rPr lang="fr-FR">
                <a:solidFill>
                  <a:schemeClr val="dk1"/>
                </a:solidFill>
              </a:rPr>
              <a:t> ou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@api.constraints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fr-FR">
                <a:solidFill>
                  <a:schemeClr val="dk1"/>
                </a:solidFill>
              </a:rPr>
              <a:t>Fonctionnement 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-FR">
                <a:solidFill>
                  <a:schemeClr val="dk1"/>
                </a:solidFill>
              </a:rPr>
              <a:t>L’arg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1" lang="fr-FR">
                <a:solidFill>
                  <a:schemeClr val="dk1"/>
                </a:solidFill>
              </a:rPr>
              <a:t> </a:t>
            </a:r>
            <a:r>
              <a:rPr lang="fr-FR">
                <a:solidFill>
                  <a:schemeClr val="dk1"/>
                </a:solidFill>
              </a:rPr>
              <a:t>est aussi un recordset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-FR">
                <a:solidFill>
                  <a:schemeClr val="dk1"/>
                </a:solidFill>
              </a:rPr>
              <a:t>Peut modifier des valeurs du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record</a:t>
            </a:r>
            <a:r>
              <a:rPr lang="fr-FR">
                <a:solidFill>
                  <a:schemeClr val="dk1"/>
                </a:solidFill>
              </a:rPr>
              <a:t> : mais ⚠️ uniquement restreint à des actions déclenchées par l’UI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fr-FR">
                <a:solidFill>
                  <a:schemeClr val="dk1"/>
                </a:solidFill>
              </a:rPr>
              <a:t>Accepte un </a:t>
            </a:r>
            <a:r>
              <a:rPr b="1" lang="fr-FR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fr-FR">
                <a:solidFill>
                  <a:schemeClr val="dk1"/>
                </a:solidFill>
              </a:rPr>
              <a:t> : cf. exemple (parfois utile, rarement)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2" name="Google Shape;512;g3f8aecdb80c_0_278"/>
          <p:cNvSpPr txBox="1"/>
          <p:nvPr/>
        </p:nvSpPr>
        <p:spPr>
          <a:xfrm>
            <a:off x="432950" y="4194550"/>
            <a:ext cx="8792100" cy="2339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@api.onchange("date_release")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def _onchange_date_release(self):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if self.date_release and self.date_release &gt; fields.Date.today():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    return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        "warning":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            "title": "Attention",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            "message": "La date de sortie est dans le futur.",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            "type": "notification",  # ou "dialog" (défaut)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8aecdb80c_0_14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18" name="Google Shape;518;g3f8aecdb80c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839011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3f8aecdb80c_0_146"/>
          <p:cNvSpPr txBox="1"/>
          <p:nvPr/>
        </p:nvSpPr>
        <p:spPr>
          <a:xfrm>
            <a:off x="407363" y="3036651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0" name="Google Shape;520;g3f8aecdb80c_0_146"/>
          <p:cNvSpPr txBox="1"/>
          <p:nvPr/>
        </p:nvSpPr>
        <p:spPr>
          <a:xfrm>
            <a:off x="1963325" y="1721438"/>
            <a:ext cx="7411800" cy="11199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 bouton “Vérifier l’ISBN” qui renvoie une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display_notification</a:t>
            </a:r>
            <a:r>
              <a:rPr lang="fr-FR" sz="1500">
                <a:solidFill>
                  <a:schemeClr val="dk1"/>
                </a:solidFill>
              </a:rPr>
              <a:t> si l’ISBN est bon ou mauvais.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fr-FR" sz="1500">
                <a:solidFill>
                  <a:schemeClr val="dk1"/>
                </a:solidFill>
              </a:rPr>
              <a:t>Via un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@api.onchange</a:t>
            </a:r>
            <a:r>
              <a:rPr lang="fr-FR" sz="1500">
                <a:solidFill>
                  <a:schemeClr val="dk1"/>
                </a:solidFill>
              </a:rPr>
              <a:t> : appeler cette vérification pour tout ISBN atteignant 13 caractères.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521" name="Google Shape;521;g3f8aecdb80c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3988154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g3f8aecdb80c_0_146"/>
          <p:cNvSpPr txBox="1"/>
          <p:nvPr/>
        </p:nvSpPr>
        <p:spPr>
          <a:xfrm>
            <a:off x="407363" y="5185794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3" name="Google Shape;523;g3f8aecdb80c_0_146"/>
          <p:cNvSpPr txBox="1"/>
          <p:nvPr/>
        </p:nvSpPr>
        <p:spPr>
          <a:xfrm>
            <a:off x="1963325" y="4120842"/>
            <a:ext cx="7183800" cy="19203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Non-lié à Odoo : rajouter une logique métier de vérification de conformité d’un ISBN.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Pour tout ISBN de 13 caractères :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i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“multiply digits alternately by 1 and 3, sum the products, and the check digit is the value needed to round up to the next multiple of 10”</a:t>
            </a:r>
            <a:endParaRPr i="1"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 : </a:t>
            </a:r>
            <a:r>
              <a:rPr lang="fr-FR" sz="15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https://check.town/blog/isbn-validator-guide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8aecdb80c_0_332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529" name="Google Shape;529;g3f8aecdb80c_0_332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chapter_12_actions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8aecdb80c_0_221"/>
          <p:cNvSpPr txBox="1"/>
          <p:nvPr>
            <p:ph type="title"/>
          </p:nvPr>
        </p:nvSpPr>
        <p:spPr>
          <a:xfrm>
            <a:off x="240684" y="2289491"/>
            <a:ext cx="69147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Pause – 15 min</a:t>
            </a:r>
            <a:endParaRPr/>
          </a:p>
        </p:txBody>
      </p:sp>
      <p:sp>
        <p:nvSpPr>
          <p:cNvPr id="535" name="Google Shape;535;g3f8aecdb80c_0_221"/>
          <p:cNvSpPr txBox="1"/>
          <p:nvPr>
            <p:ph type="title"/>
          </p:nvPr>
        </p:nvSpPr>
        <p:spPr>
          <a:xfrm>
            <a:off x="240678" y="3104000"/>
            <a:ext cx="42873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lang="fr-FR"/>
              <a:t>15h00 - 15h15</a:t>
            </a:r>
            <a:endParaRPr b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8aecdb80c_0_123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Chapitre 13 (15h15 - 16h30)</a:t>
            </a:r>
            <a:endParaRPr/>
          </a:p>
        </p:txBody>
      </p:sp>
      <p:sp>
        <p:nvSpPr>
          <p:cNvPr id="541" name="Google Shape;541;g3f8aecdb80c_0_123"/>
          <p:cNvSpPr txBox="1"/>
          <p:nvPr>
            <p:ph idx="1" type="body"/>
          </p:nvPr>
        </p:nvSpPr>
        <p:spPr>
          <a:xfrm>
            <a:off x="285750" y="3192950"/>
            <a:ext cx="47133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Fenêtre d’assistant (wizard) avec un models.TransientModel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Wizard “Emprunter ce livre”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8aecdb80c_0_294"/>
          <p:cNvSpPr txBox="1"/>
          <p:nvPr/>
        </p:nvSpPr>
        <p:spPr>
          <a:xfrm>
            <a:off x="432950" y="1074689"/>
            <a:ext cx="91347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Fonctionnellement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Toujours ouverts dans une nouvelle fenêtre (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 = new</a:t>
            </a:r>
            <a:r>
              <a:rPr lang="fr-FR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2 boutons par défaut ajouté par l’ORM : </a:t>
            </a:r>
            <a:r>
              <a:rPr b="1" lang="fr-FR" sz="1500">
                <a:solidFill>
                  <a:schemeClr val="dk1"/>
                </a:solidFill>
              </a:rPr>
              <a:t>Sauvegarder</a:t>
            </a:r>
            <a:r>
              <a:rPr lang="fr-FR" sz="1500">
                <a:solidFill>
                  <a:schemeClr val="dk1"/>
                </a:solidFill>
              </a:rPr>
              <a:t> et </a:t>
            </a:r>
            <a:r>
              <a:rPr b="1" lang="fr-FR" sz="1500">
                <a:solidFill>
                  <a:schemeClr val="dk1"/>
                </a:solidFill>
              </a:rPr>
              <a:t>Annuler</a:t>
            </a:r>
            <a:r>
              <a:rPr lang="fr-FR" sz="1500">
                <a:solidFill>
                  <a:schemeClr val="dk1"/>
                </a:solidFill>
              </a:rPr>
              <a:t>. Possible d’en rajouter avec un &lt;footer&gt; : mais attention à conserver ces 2 boutons par défaut, qui ont un attribut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special=”save|cancel”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Cas d’usages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Assistant d’import / exporter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Tunnel d’action par étape (avec un widget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statusbar</a:t>
            </a:r>
            <a:r>
              <a:rPr lang="fr-FR" sz="1500">
                <a:solidFill>
                  <a:schemeClr val="dk1"/>
                </a:solidFill>
              </a:rPr>
              <a:t>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Gérer un process métier en dehors de la vue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Techniquement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Héritent 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models.TransientModel</a:t>
            </a:r>
            <a:r>
              <a:rPr lang="fr-FR" sz="1500">
                <a:solidFill>
                  <a:schemeClr val="dk1"/>
                </a:solidFill>
              </a:rPr>
              <a:t> au lieu 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models.Model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Strictement identiques (ORM et vues) : sauf qu’une tâche 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vacuum</a:t>
            </a:r>
            <a:r>
              <a:rPr lang="fr-FR" sz="1500">
                <a:solidFill>
                  <a:schemeClr val="dk1"/>
                </a:solidFill>
              </a:rPr>
              <a:t> supprime les records des tables 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TransientModel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●"/>
            </a:pPr>
            <a:r>
              <a:rPr lang="fr-FR" sz="1500">
                <a:solidFill>
                  <a:schemeClr val="dk1"/>
                </a:solidFill>
              </a:rPr>
              <a:t>Convention : modèles et vues sont déclarés dans un dossier séparé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wizards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●"/>
            </a:pPr>
            <a:r>
              <a:rPr lang="fr-FR" sz="1500">
                <a:solidFill>
                  <a:schemeClr val="dk1"/>
                </a:solidFill>
              </a:rPr>
              <a:t>Souvent besoin de passer une clef de contexte de type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{“default_book_id”: active_id}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Et d’hériter la méthode native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default_get</a:t>
            </a:r>
            <a:r>
              <a:rPr lang="fr-FR" sz="1500">
                <a:solidFill>
                  <a:schemeClr val="dk1"/>
                </a:solidFill>
              </a:rPr>
              <a:t> pour prédéfinir des champs de l’assistant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547" name="Google Shape;547;g3f8aecdb80c_0_294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Wizards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8aecdb80c_0_322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default_get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3" name="Google Shape;553;g3f8aecdb80c_0_322"/>
          <p:cNvSpPr txBox="1"/>
          <p:nvPr/>
        </p:nvSpPr>
        <p:spPr>
          <a:xfrm>
            <a:off x="432950" y="1968500"/>
            <a:ext cx="8792100" cy="2124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@api.model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def default_get(self, fields):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res = super().default_get(fields)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if 'origin' in fields and (task_id := self.env.context.get('create_for_task_id')):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    task = self.env['project.task'].browse(task_id)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res['origin'] = self.env._('[Project] %(task_name)s', task_name=task.name)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latin typeface="Courier New"/>
                <a:ea typeface="Courier New"/>
                <a:cs typeface="Courier New"/>
                <a:sym typeface="Courier New"/>
              </a:rPr>
              <a:t>    return res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4" name="Google Shape;554;g3f8aecdb80c_0_322"/>
          <p:cNvSpPr txBox="1"/>
          <p:nvPr/>
        </p:nvSpPr>
        <p:spPr>
          <a:xfrm>
            <a:off x="432950" y="1316375"/>
            <a:ext cx="307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Exemple tiré 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sale_project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8aecdb80c_0_15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Pas besoin d’un wizard pour…</a:t>
            </a:r>
            <a:endParaRPr/>
          </a:p>
        </p:txBody>
      </p:sp>
      <p:sp>
        <p:nvSpPr>
          <p:cNvPr id="560" name="Google Shape;560;g3f8aecdb80c_0_156"/>
          <p:cNvSpPr txBox="1"/>
          <p:nvPr/>
        </p:nvSpPr>
        <p:spPr>
          <a:xfrm>
            <a:off x="432950" y="1181700"/>
            <a:ext cx="6480600" cy="30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fr-FR">
                <a:solidFill>
                  <a:schemeClr val="dk1"/>
                </a:solidFill>
              </a:rPr>
              <a:t>Demander une confirmation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&lt;button name=”...” type=”...” </a:t>
            </a:r>
            <a:r>
              <a:rPr b="1"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confirm</a:t>
            </a: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=”Êtes-vous sûr ?” /&gt;</a:t>
            </a:r>
            <a:br>
              <a:rPr lang="fr-F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fr-FR">
                <a:solidFill>
                  <a:schemeClr val="dk1"/>
                </a:solidFill>
              </a:rPr>
              <a:t>Raise une erreur et rediriger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from odoo.exceptions import RedirectWarning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action = {...}</a:t>
            </a:r>
            <a:b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raise </a:t>
            </a:r>
            <a:r>
              <a:rPr b="1"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RedirectWarning</a:t>
            </a: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message="Message d’erreur",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action=action,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button_text="Rediriger vers ...",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8aecdb80c_0_30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66" name="Google Shape;566;g3f8aecdb80c_0_3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839011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3f8aecdb80c_0_306"/>
          <p:cNvSpPr txBox="1"/>
          <p:nvPr/>
        </p:nvSpPr>
        <p:spPr>
          <a:xfrm>
            <a:off x="407363" y="3036651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8" name="Google Shape;568;g3f8aecdb80c_0_306"/>
          <p:cNvSpPr txBox="1"/>
          <p:nvPr/>
        </p:nvSpPr>
        <p:spPr>
          <a:xfrm>
            <a:off x="1963325" y="1721438"/>
            <a:ext cx="7411800" cy="23010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Créer un wizard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library.book.borrow.wizard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TransientModel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avec un livre, un emprunteur et une date d'emprunt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Bouton "</a:t>
            </a: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Emprunter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" sur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library.book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qui ouvre ce wizard (popup) </a:t>
            </a:r>
            <a:b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Les champs “livre” et “date d’emprunt” doivent être remplis par défaut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ahoma"/>
              <a:buAutoNum type="arabicPeriod"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validation du wizard doit écrire les (nouveaux) champs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borrower_id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loan_date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sur le livre et passer son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à "Emprunté"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70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Indices : n’oubliez pas </a:t>
            </a:r>
            <a:r>
              <a:rPr lang="fr-FR" sz="15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les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fichiers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__init__.py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__manifest__.py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69" name="Google Shape;569;g3f8aecdb80c_0_3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287817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f8aecdb80c_0_306"/>
          <p:cNvSpPr txBox="1"/>
          <p:nvPr/>
        </p:nvSpPr>
        <p:spPr>
          <a:xfrm>
            <a:off x="407363" y="5485457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1" name="Google Shape;571;g3f8aecdb80c_0_306"/>
          <p:cNvSpPr txBox="1"/>
          <p:nvPr/>
        </p:nvSpPr>
        <p:spPr>
          <a:xfrm>
            <a:off x="1963325" y="4559650"/>
            <a:ext cx="7411800" cy="8541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Surcharge de 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default_get()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pour proposer par défaut le partenaire lié à l'utilisateur connecté comme emprunteur (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self.env.user.partner_id</a:t>
            </a:r>
            <a:r>
              <a:rPr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plutôt qu'un champ vide à chaque ouverture.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8aecdb80c_0_337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577" name="Google Shape;577;g3f8aecdb80c_0_337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chapter_13_wizards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8aecdb80c_0_128"/>
          <p:cNvSpPr txBox="1"/>
          <p:nvPr>
            <p:ph type="title"/>
          </p:nvPr>
        </p:nvSpPr>
        <p:spPr>
          <a:xfrm>
            <a:off x="285750" y="2334723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Chapitre 14 (16h30 - 17h00)</a:t>
            </a:r>
            <a:endParaRPr/>
          </a:p>
        </p:txBody>
      </p:sp>
      <p:sp>
        <p:nvSpPr>
          <p:cNvPr id="583" name="Google Shape;583;g3f8aecdb80c_0_128"/>
          <p:cNvSpPr txBox="1"/>
          <p:nvPr>
            <p:ph idx="1" type="body"/>
          </p:nvPr>
        </p:nvSpPr>
        <p:spPr>
          <a:xfrm>
            <a:off x="285750" y="3192950"/>
            <a:ext cx="47133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Sécurité niveau 1 : ACL avec </a:t>
            </a:r>
            <a:r>
              <a:rPr b="1" lang="fr-FR">
                <a:latin typeface="Courier New"/>
                <a:ea typeface="Courier New"/>
                <a:cs typeface="Courier New"/>
                <a:sym typeface="Courier New"/>
              </a:rPr>
              <a:t>ir.model.access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🎯 </a:t>
            </a:r>
            <a:r>
              <a:rPr lang="fr-FR"/>
              <a:t>2 accès “Lecteur” et “Bibliothécaire”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8aecdb80c_0_353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Modèle de sécurité Odoo : 4 niveaux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89" name="Google Shape;589;g3f8aecdb80c_0_353"/>
          <p:cNvGraphicFramePr/>
          <p:nvPr/>
        </p:nvGraphicFramePr>
        <p:xfrm>
          <a:off x="432950" y="9933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1843650"/>
                <a:gridCol w="7291050"/>
              </a:tblGrid>
              <a:tr h="29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Couche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 sz="145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45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</a:rPr>
                        <a:t>Droits d’accès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 </a:t>
                      </a: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ir.model.access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Fichier .csv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Défini des accès à l’ensemble d’un modèle, pour 1 groupe donné, par opération CRUD (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l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ien </a:t>
                      </a: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modèle ⇔ groupe ⇔ CRUD)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Cumulatif : les droits reçus par un utilisateur s’ajoutent en union</a:t>
                      </a:r>
                      <a:br>
                        <a:rPr lang="fr-FR" sz="1500">
                          <a:solidFill>
                            <a:schemeClr val="dk1"/>
                          </a:solidFill>
                        </a:rPr>
                      </a:b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Si aucun défini : personne n’a accès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→ cf jour 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</a:rPr>
                        <a:t>Règles par record (groupe)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 ir.rule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Fichier .xml</a:t>
                      </a:r>
                      <a:br>
                        <a:rPr lang="fr-FR" sz="1500">
                          <a:solidFill>
                            <a:schemeClr val="dk1"/>
                          </a:solidFill>
                        </a:rPr>
                      </a:br>
                      <a:r>
                        <a:rPr i="1" lang="fr-FR" sz="1500">
                          <a:solidFill>
                            <a:schemeClr val="dk1"/>
                          </a:solidFill>
                        </a:rPr>
                        <a:t>Conditions à satisfaire</a:t>
                      </a: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 pour accéder au record.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●"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Si aucune règle : repli sur les </a:t>
                      </a:r>
                      <a:r>
                        <a:rPr b="1" lang="fr-FR" sz="15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ir.model.access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●"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Si plusieurs règles : au moins l’une d’elle doit être satisfaite pour accorder l’accès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●"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S’applique à 1 ou plusieurs groupes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Char char="●"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S’applique par défaut à toutes les opérations CRUD mais se personnaliser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</a:rPr>
                        <a:t>Règles par record (global)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 ir.rule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S’applique à tous les utilisateurs (</a:t>
                      </a:r>
                      <a:r>
                        <a:rPr b="1" lang="fr-FR" sz="15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groups_id</a:t>
                      </a: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 omis)</a:t>
                      </a:r>
                      <a:br>
                        <a:rPr lang="fr-FR" sz="1500">
                          <a:solidFill>
                            <a:schemeClr val="dk1"/>
                          </a:solidFill>
                        </a:rPr>
                      </a:br>
                      <a:r>
                        <a:rPr b="1" lang="fr-FR" sz="1500" u="sng">
                          <a:solidFill>
                            <a:schemeClr val="dk1"/>
                          </a:solidFill>
                        </a:rPr>
                        <a:t>TRÈS</a:t>
                      </a:r>
                      <a:r>
                        <a:rPr b="1" lang="fr-FR" sz="1500" u="sng">
                          <a:solidFill>
                            <a:schemeClr val="dk1"/>
                          </a:solidFill>
                        </a:rPr>
                        <a:t> IMPORTANT</a:t>
                      </a:r>
                      <a:r>
                        <a:rPr b="1" lang="fr-FR" sz="1500">
                          <a:solidFill>
                            <a:schemeClr val="dk1"/>
                          </a:solidFill>
                        </a:rPr>
                        <a:t> : si 2 règles s’appliquent, les 2 doivent être satisfaites.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 “groups”</a:t>
                      </a:r>
                      <a:endParaRPr b="1"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Arguments sur plusieurs objets : </a:t>
                      </a:r>
                      <a:r>
                        <a:rPr b="1" lang="fr-FR" sz="15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fields</a:t>
                      </a: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 (ORM et XML), </a:t>
                      </a:r>
                      <a:r>
                        <a:rPr b="1" lang="fr-FR" sz="15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buttons</a:t>
                      </a: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b="1" lang="fr-FR" sz="15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actions</a:t>
                      </a:r>
                      <a:r>
                        <a:rPr lang="fr-FR" sz="1500">
                          <a:solidFill>
                            <a:schemeClr val="dk1"/>
                          </a:solidFill>
                        </a:rPr>
                        <a:t>, …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0" name="Google Shape;590;g3f8aecdb80c_0_353"/>
          <p:cNvSpPr txBox="1"/>
          <p:nvPr/>
        </p:nvSpPr>
        <p:spPr>
          <a:xfrm>
            <a:off x="432950" y="6389791"/>
            <a:ext cx="91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hlink"/>
                </a:solidFill>
                <a:hlinkClick r:id="rId3"/>
              </a:rPr>
              <a:t>https://www.odoo.com/documentation/19.0/developer/reference/backend/security.html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8aecdb80c_0_368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Créer un groupe de sécurité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6" name="Google Shape;596;g3f8aecdb80c_0_368"/>
          <p:cNvSpPr txBox="1"/>
          <p:nvPr/>
        </p:nvSpPr>
        <p:spPr>
          <a:xfrm>
            <a:off x="432950" y="2317026"/>
            <a:ext cx="8792100" cy="1847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&lt;record id="</a:t>
            </a:r>
            <a:r>
              <a:rPr b="1" lang="fr-FR" sz="1200">
                <a:latin typeface="Courier New"/>
                <a:ea typeface="Courier New"/>
                <a:cs typeface="Courier New"/>
                <a:sym typeface="Courier New"/>
              </a:rPr>
              <a:t>group_stock_manager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" model="</a:t>
            </a:r>
            <a:r>
              <a:rPr b="1" lang="fr-FR" sz="1200">
                <a:latin typeface="Courier New"/>
                <a:ea typeface="Courier New"/>
                <a:cs typeface="Courier New"/>
                <a:sym typeface="Courier New"/>
              </a:rPr>
              <a:t>res.groups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 sz="1200"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Administrator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&lt;/field&gt;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 sz="1200">
                <a:latin typeface="Courier New"/>
                <a:ea typeface="Courier New"/>
                <a:cs typeface="Courier New"/>
                <a:sym typeface="Courier New"/>
              </a:rPr>
              <a:t>privilege_id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" ref="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res_groups_privilege_inventory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 sz="1200">
                <a:latin typeface="Courier New"/>
                <a:ea typeface="Courier New"/>
                <a:cs typeface="Courier New"/>
                <a:sym typeface="Courier New"/>
              </a:rPr>
              <a:t>implied_ids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" eval="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[(4, ref('group_stock_user'))]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    &lt;field name="</a:t>
            </a:r>
            <a:r>
              <a:rPr b="1" lang="fr-FR" sz="1200">
                <a:latin typeface="Courier New"/>
                <a:ea typeface="Courier New"/>
                <a:cs typeface="Courier New"/>
                <a:sym typeface="Courier New"/>
              </a:rPr>
              <a:t>user_ids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" eval="</a:t>
            </a: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(4, ref('base.user_root')),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 (4, ref('base.user_admin'))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]</a:t>
            </a: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"/&gt;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latin typeface="Courier New"/>
                <a:ea typeface="Courier New"/>
                <a:cs typeface="Courier New"/>
                <a:sym typeface="Courier New"/>
              </a:rPr>
              <a:t>&lt;/record&gt;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7" name="Google Shape;597;g3f8aecdb80c_0_368"/>
          <p:cNvSpPr txBox="1"/>
          <p:nvPr/>
        </p:nvSpPr>
        <p:spPr>
          <a:xfrm>
            <a:off x="432950" y="973248"/>
            <a:ext cx="87921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Convention</a:t>
            </a:r>
            <a:r>
              <a:rPr lang="fr-FR" sz="1500">
                <a:solidFill>
                  <a:schemeClr val="dk1"/>
                </a:solidFill>
              </a:rPr>
              <a:t> : 2 fichiers dans le folder “</a:t>
            </a:r>
            <a:r>
              <a:rPr b="1"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security</a:t>
            </a:r>
            <a:r>
              <a:rPr lang="fr-FR" sz="1500">
                <a:solidFill>
                  <a:schemeClr val="dk1"/>
                </a:solidFill>
              </a:rPr>
              <a:t>”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●"/>
            </a:pPr>
            <a:r>
              <a:rPr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ir.model.access.csv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●"/>
            </a:pPr>
            <a:r>
              <a:rPr lang="fr-FR" sz="15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module_</a:t>
            </a:r>
            <a:r>
              <a:rPr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security.xml</a:t>
            </a:r>
            <a:r>
              <a:rPr lang="fr-FR" sz="1500">
                <a:solidFill>
                  <a:schemeClr val="dk1"/>
                </a:solidFill>
              </a:rPr>
              <a:t> : groupes et </a:t>
            </a:r>
            <a:r>
              <a:rPr lang="fr-F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ir.rule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8" name="Google Shape;598;g3f8aecdb80c_0_368"/>
          <p:cNvSpPr txBox="1"/>
          <p:nvPr/>
        </p:nvSpPr>
        <p:spPr>
          <a:xfrm>
            <a:off x="432950" y="1910901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chemeClr val="dk1"/>
                </a:solidFill>
              </a:rPr>
              <a:t>G</a:t>
            </a:r>
            <a:r>
              <a:rPr lang="fr-FR" sz="1500">
                <a:solidFill>
                  <a:schemeClr val="dk1"/>
                </a:solidFill>
              </a:rPr>
              <a:t>roupes :</a:t>
            </a:r>
            <a:endParaRPr/>
          </a:p>
        </p:txBody>
      </p:sp>
      <p:graphicFrame>
        <p:nvGraphicFramePr>
          <p:cNvPr id="599" name="Google Shape;599;g3f8aecdb80c_0_368"/>
          <p:cNvGraphicFramePr/>
          <p:nvPr/>
        </p:nvGraphicFramePr>
        <p:xfrm>
          <a:off x="432950" y="44179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{C9842A2F-27B4-4B56-B9CF-34256D6AE239}</a:tableStyleId>
              </a:tblPr>
              <a:tblGrid>
                <a:gridCol w="1865025"/>
                <a:gridCol w="7269675"/>
              </a:tblGrid>
              <a:tr h="25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Argument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</a:rPr>
                        <a:t>Définition</a:t>
                      </a:r>
                      <a:endParaRPr b="1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implied_ids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Tout utilisateur ajouté à </a:t>
                      </a: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group_stock_manager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 recevra également </a:t>
                      </a:r>
                      <a:r>
                        <a:rPr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group_stock_user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user_ids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Liste des utilisateurs. On ajoute généralement les utilisateurs par défaut.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privilege_id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Nouveau en v19.0, concept de rôle ou “groupe de droits”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f8aecdb80c_0_166"/>
          <p:cNvSpPr txBox="1"/>
          <p:nvPr>
            <p:ph type="title"/>
          </p:nvPr>
        </p:nvSpPr>
        <p:spPr>
          <a:xfrm>
            <a:off x="681038" y="307978"/>
            <a:ext cx="85440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fr-FR"/>
              <a:t>A vous de jouer !</a:t>
            </a:r>
            <a:br>
              <a:rPr lang="fr-FR"/>
            </a:b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05" name="Google Shape;605;g3f8aecdb80c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1839011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3f8aecdb80c_0_166"/>
          <p:cNvSpPr txBox="1"/>
          <p:nvPr/>
        </p:nvSpPr>
        <p:spPr>
          <a:xfrm>
            <a:off x="407363" y="3036651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Exercice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7" name="Google Shape;607;g3f8aecdb80c_0_166"/>
          <p:cNvSpPr txBox="1"/>
          <p:nvPr/>
        </p:nvSpPr>
        <p:spPr>
          <a:xfrm>
            <a:off x="1963325" y="1721438"/>
            <a:ext cx="7411800" cy="15699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fr-FR" sz="1600">
                <a:solidFill>
                  <a:schemeClr val="dk1"/>
                </a:solidFill>
              </a:rPr>
              <a:t>Créer la catégorie et le privilège “Bibliothèque”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fr-FR" sz="1600">
                <a:solidFill>
                  <a:schemeClr val="dk1"/>
                </a:solidFill>
              </a:rPr>
              <a:t>Créer deux groupes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fr-FR" sz="1600">
                <a:solidFill>
                  <a:schemeClr val="dk1"/>
                </a:solidFill>
              </a:rPr>
              <a:t>“Lecteur” (impliquant </a:t>
            </a:r>
            <a:r>
              <a:rPr b="1"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base.group_user</a:t>
            </a:r>
            <a:r>
              <a:rPr lang="fr-FR" sz="1600">
                <a:solidFill>
                  <a:schemeClr val="dk1"/>
                </a:solidFill>
              </a:rPr>
              <a:t>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fr-FR" sz="1600">
                <a:solidFill>
                  <a:schemeClr val="dk1"/>
                </a:solidFill>
              </a:rPr>
              <a:t>“Bibliothécaire” (impliquant le groupe “Lecteur”), confié par défaut aux administrateurs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fr-FR" sz="1600">
                <a:solidFill>
                  <a:schemeClr val="dk1"/>
                </a:solidFill>
              </a:rPr>
              <a:t>Revoir</a:t>
            </a:r>
            <a:r>
              <a:rPr lang="fr-FR" sz="1600">
                <a:solidFill>
                  <a:schemeClr val="dk1"/>
                </a:solidFill>
              </a:rPr>
              <a:t> </a:t>
            </a:r>
            <a:r>
              <a:rPr b="1" lang="fr-FR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ir.model.access.csv</a:t>
            </a:r>
            <a:r>
              <a:rPr lang="fr-FR" sz="1600">
                <a:solidFill>
                  <a:schemeClr val="dk1"/>
                </a:solidFill>
              </a:rPr>
              <a:t> pour utiliser ces 2 groupes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08" name="Google Shape;608;g3f8aecdb80c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56" y="4287817"/>
            <a:ext cx="1120314" cy="129514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g3f8aecdb80c_0_166"/>
          <p:cNvSpPr txBox="1"/>
          <p:nvPr/>
        </p:nvSpPr>
        <p:spPr>
          <a:xfrm>
            <a:off x="407363" y="5485457"/>
            <a:ext cx="166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fr-FR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Bonus</a:t>
            </a:r>
            <a:endParaRPr b="1" i="0" sz="15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0" name="Google Shape;610;g3f8aecdb80c_0_166"/>
          <p:cNvSpPr txBox="1"/>
          <p:nvPr/>
        </p:nvSpPr>
        <p:spPr>
          <a:xfrm>
            <a:off x="1963325" y="4565925"/>
            <a:ext cx="7411800" cy="585000"/>
          </a:xfrm>
          <a:prstGeom prst="rect">
            <a:avLst/>
          </a:prstGeom>
          <a:solidFill>
            <a:srgbClr val="FFFFFF">
              <a:alpha val="7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 startAt="3"/>
            </a:pPr>
            <a:r>
              <a:rPr lang="fr-FR" sz="1600">
                <a:solidFill>
                  <a:schemeClr val="dk1"/>
                </a:solidFill>
              </a:rPr>
              <a:t>Masquer le champ “price” aux Lecteurs (seulement visibles aux Bibliothécaire)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8aecdb80c_0_385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Partage / Remédiation</a:t>
            </a:r>
            <a:endParaRPr/>
          </a:p>
        </p:txBody>
      </p:sp>
      <p:sp>
        <p:nvSpPr>
          <p:cNvPr id="616" name="Google Shape;616;g3f8aecdb80c_0_385"/>
          <p:cNvSpPr txBox="1"/>
          <p:nvPr/>
        </p:nvSpPr>
        <p:spPr>
          <a:xfrm>
            <a:off x="4588662" y="1900000"/>
            <a:ext cx="4822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Qu'est-ce qui a bloqué ? Qu'est-ce qui a bien fonctionné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Un volontaire partage son écran (2-3 min)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Correction : </a:t>
            </a:r>
            <a:r>
              <a:rPr b="1" lang="fr-FR" sz="1600">
                <a:latin typeface="Courier New"/>
                <a:ea typeface="Courier New"/>
                <a:cs typeface="Courier New"/>
                <a:sym typeface="Courier New"/>
              </a:rPr>
              <a:t>chapter_13_wizards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8a5c5757b_0_239"/>
          <p:cNvSpPr txBox="1"/>
          <p:nvPr>
            <p:ph type="title"/>
          </p:nvPr>
        </p:nvSpPr>
        <p:spPr>
          <a:xfrm>
            <a:off x="4588662" y="803277"/>
            <a:ext cx="4822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Des questions ?</a:t>
            </a:r>
            <a:endParaRPr/>
          </a:p>
        </p:txBody>
      </p:sp>
      <p:sp>
        <p:nvSpPr>
          <p:cNvPr id="622" name="Google Shape;622;g3f8a5c5757b_0_239"/>
          <p:cNvSpPr txBox="1"/>
          <p:nvPr/>
        </p:nvSpPr>
        <p:spPr>
          <a:xfrm>
            <a:off x="4588662" y="1900000"/>
            <a:ext cx="4822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fr-FR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🙋‍♂️🙋‍♀️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9"/>
          <p:cNvSpPr txBox="1"/>
          <p:nvPr>
            <p:ph type="title"/>
          </p:nvPr>
        </p:nvSpPr>
        <p:spPr>
          <a:xfrm>
            <a:off x="289324" y="2299219"/>
            <a:ext cx="4584234" cy="650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fr-FR"/>
              <a:t>Fin de la journée</a:t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289324" y="3150000"/>
            <a:ext cx="458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83fd878ef_0_346"/>
          <p:cNvSpPr txBox="1"/>
          <p:nvPr>
            <p:ph idx="1" type="body"/>
          </p:nvPr>
        </p:nvSpPr>
        <p:spPr>
          <a:xfrm>
            <a:off x="209040" y="809625"/>
            <a:ext cx="42771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/>
              <a:t>EMARGEMENT FIN DE JOURNÉE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Bleu ver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2024-03-11T17:30:13Z</dcterms:created>
  <dc:creator>Laurence SALLER</dc:creator>
</cp:coreProperties>
</file>