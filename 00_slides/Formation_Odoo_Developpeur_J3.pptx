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9906000"/>
  <p:notesSz cx="6858000" cy="9144000"/>
  <p:embeddedFontLst>
    <p:embeddedFont>
      <p:font typeface="Tahoma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ie+RoqrVDf/ydDWsK78fg/VCt/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80AF21-1689-4715-899D-E255CA278F0B}">
  <a:tblStyle styleId="{7C80AF21-1689-4715-899D-E255CA278F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Tahoma-bold.fntdata"/><Relationship Id="rId14" Type="http://schemas.openxmlformats.org/officeDocument/2006/relationships/slide" Target="slides/slide9.xml"/><Relationship Id="rId58" Type="http://schemas.openxmlformats.org/officeDocument/2006/relationships/font" Target="fonts/Tahom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Séance 1 _ introduction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9b149fd4e_0_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f9b149fd4e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10h30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1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2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2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2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2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2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Déjeuner 12h30 – emargement matin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3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3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3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9b149fd4e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3f9b149fd4e_0_22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3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3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3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3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10h30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3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3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4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4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4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4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4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9b149fd4e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g3f9b149fd4e_0_2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4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p4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4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4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9b149fd4e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g3f9b149fd4e_0_5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9b149fd4e_0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g3f9b149fd4e_0_2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7" name="Google Shape;577;p5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p5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Tour de table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jpg"/><Relationship Id="rId4" Type="http://schemas.openxmlformats.org/officeDocument/2006/relationships/hyperlink" Target="mailto:formation@ambient-it.net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re">
  <p:cSld name="3 Titr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3"/>
          <p:cNvSpPr/>
          <p:nvPr/>
        </p:nvSpPr>
        <p:spPr>
          <a:xfrm>
            <a:off x="4953000" y="35194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63"/>
          <p:cNvSpPr txBox="1"/>
          <p:nvPr>
            <p:ph idx="1" type="body"/>
          </p:nvPr>
        </p:nvSpPr>
        <p:spPr>
          <a:xfrm>
            <a:off x="5019675" y="364807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4514850" cy="6857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86" y="836963"/>
            <a:ext cx="3819524" cy="70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ilosophie">
  <p:cSld name="philosophi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4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" name="Google Shape;23;p64"/>
          <p:cNvGrpSpPr/>
          <p:nvPr/>
        </p:nvGrpSpPr>
        <p:grpSpPr>
          <a:xfrm>
            <a:off x="10296" y="-1"/>
            <a:ext cx="9751178" cy="6875999"/>
            <a:chOff x="10296" y="0"/>
            <a:chExt cx="9133703" cy="6657974"/>
          </a:xfrm>
        </p:grpSpPr>
        <p:pic>
          <p:nvPicPr>
            <p:cNvPr id="24" name="Google Shape;24;p6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296" y="0"/>
              <a:ext cx="4448174" cy="66579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64"/>
            <p:cNvSpPr/>
            <p:nvPr/>
          </p:nvSpPr>
          <p:spPr>
            <a:xfrm>
              <a:off x="3809999" y="190499"/>
              <a:ext cx="5334000" cy="5810250"/>
            </a:xfrm>
            <a:custGeom>
              <a:rect b="b" l="l" r="r" t="t"/>
              <a:pathLst>
                <a:path extrusionOk="0" h="5810250" w="5334000">
                  <a:moveTo>
                    <a:pt x="5333999" y="5810249"/>
                  </a:moveTo>
                  <a:lnTo>
                    <a:pt x="0" y="5810249"/>
                  </a:lnTo>
                  <a:lnTo>
                    <a:pt x="0" y="0"/>
                  </a:lnTo>
                  <a:lnTo>
                    <a:pt x="5333999" y="0"/>
                  </a:lnTo>
                  <a:lnTo>
                    <a:pt x="5333999" y="5810249"/>
                  </a:lnTo>
                  <a:close/>
                </a:path>
              </a:pathLst>
            </a:custGeom>
            <a:solidFill>
              <a:srgbClr val="F1EC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" name="Google Shape;26;p64"/>
            <p:cNvSpPr/>
            <p:nvPr/>
          </p:nvSpPr>
          <p:spPr>
            <a:xfrm>
              <a:off x="3809999" y="190499"/>
              <a:ext cx="5334000" cy="5810250"/>
            </a:xfrm>
            <a:custGeom>
              <a:rect b="b" l="l" r="r" t="t"/>
              <a:pathLst>
                <a:path extrusionOk="0" h="5810250" w="5334000">
                  <a:moveTo>
                    <a:pt x="0" y="0"/>
                  </a:moveTo>
                  <a:lnTo>
                    <a:pt x="5333999" y="0"/>
                  </a:lnTo>
                  <a:lnTo>
                    <a:pt x="5333999" y="5810249"/>
                  </a:lnTo>
                  <a:lnTo>
                    <a:pt x="0" y="581024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" name="Google Shape;27;p64"/>
            <p:cNvSpPr/>
            <p:nvPr/>
          </p:nvSpPr>
          <p:spPr>
            <a:xfrm>
              <a:off x="4298746" y="1409699"/>
              <a:ext cx="952500" cy="0"/>
            </a:xfrm>
            <a:custGeom>
              <a:rect b="b" l="l" r="r" t="t"/>
              <a:pathLst>
                <a:path extrusionOk="0" h="120000" w="952500">
                  <a:moveTo>
                    <a:pt x="0" y="0"/>
                  </a:moveTo>
                  <a:lnTo>
                    <a:pt x="952499" y="0"/>
                  </a:lnTo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8" name="Google Shape;28;p64"/>
          <p:cNvSpPr txBox="1"/>
          <p:nvPr>
            <p:ph type="title"/>
          </p:nvPr>
        </p:nvSpPr>
        <p:spPr>
          <a:xfrm>
            <a:off x="4588662" y="803277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4"/>
          <p:cNvSpPr txBox="1"/>
          <p:nvPr>
            <p:ph idx="1" type="body"/>
          </p:nvPr>
        </p:nvSpPr>
        <p:spPr>
          <a:xfrm>
            <a:off x="4655337" y="1600200"/>
            <a:ext cx="4713288" cy="426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5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5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6" name="Google Shape;36;p65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itre section">
  <p:cSld name="4 titre sec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11136" y="0"/>
            <a:ext cx="539486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7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" name="Google Shape;40;p67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" name="Google Shape;41;p67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7"/>
          <p:cNvSpPr txBox="1"/>
          <p:nvPr>
            <p:ph idx="1" type="body"/>
          </p:nvPr>
        </p:nvSpPr>
        <p:spPr>
          <a:xfrm>
            <a:off x="285750" y="319295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7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feuille titre">
  <p:cSld name="5 feuille titr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2271" y="885826"/>
            <a:ext cx="6233729" cy="59721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6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" name="Google Shape;50;p66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matin" showMasterSp="0">
  <p:cSld name="Pause matin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9"/>
          <p:cNvPicPr preferRelativeResize="0"/>
          <p:nvPr/>
        </p:nvPicPr>
        <p:blipFill rotWithShape="1">
          <a:blip r:embed="rId2">
            <a:alphaModFix/>
          </a:blip>
          <a:srcRect b="8055" l="26528" r="10470" t="12361"/>
          <a:stretch/>
        </p:blipFill>
        <p:spPr>
          <a:xfrm>
            <a:off x="4467224" y="11754"/>
            <a:ext cx="542903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9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" name="Google Shape;54;p69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" name="Google Shape;55;p69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9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" name="Google Shape;57;p69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xte images">
  <p:cSld name="2 texte image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1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0" name="Google Shape;60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555790"/>
            <a:ext cx="5690303" cy="333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146" y="3185"/>
            <a:ext cx="5680805" cy="333394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1"/>
          <p:cNvSpPr/>
          <p:nvPr/>
        </p:nvSpPr>
        <p:spPr>
          <a:xfrm>
            <a:off x="85726" y="598193"/>
            <a:ext cx="4573268" cy="2160000"/>
          </a:xfrm>
          <a:custGeom>
            <a:rect b="b" l="l" r="r" t="t"/>
            <a:pathLst>
              <a:path extrusionOk="0" h="2095500" w="4201795">
                <a:moveTo>
                  <a:pt x="4201720" y="2095499"/>
                </a:moveTo>
                <a:lnTo>
                  <a:pt x="0" y="2095499"/>
                </a:lnTo>
                <a:lnTo>
                  <a:pt x="0" y="0"/>
                </a:lnTo>
                <a:lnTo>
                  <a:pt x="4201720" y="0"/>
                </a:lnTo>
                <a:lnTo>
                  <a:pt x="4201720" y="2095499"/>
                </a:lnTo>
                <a:close/>
              </a:path>
            </a:pathLst>
          </a:custGeom>
          <a:solidFill>
            <a:srgbClr val="F1ECE7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3" name="Google Shape;63;p71"/>
          <p:cNvGrpSpPr/>
          <p:nvPr/>
        </p:nvGrpSpPr>
        <p:grpSpPr>
          <a:xfrm>
            <a:off x="5292167" y="4168605"/>
            <a:ext cx="4490563" cy="2092235"/>
            <a:chOff x="4942281" y="3852862"/>
            <a:chExt cx="4201795" cy="2352675"/>
          </a:xfrm>
        </p:grpSpPr>
        <p:sp>
          <p:nvSpPr>
            <p:cNvPr id="64" name="Google Shape;64;p71"/>
            <p:cNvSpPr/>
            <p:nvPr/>
          </p:nvSpPr>
          <p:spPr>
            <a:xfrm>
              <a:off x="4942281" y="3852862"/>
              <a:ext cx="4201795" cy="2352675"/>
            </a:xfrm>
            <a:custGeom>
              <a:rect b="b" l="l" r="r" t="t"/>
              <a:pathLst>
                <a:path extrusionOk="0" h="2352675" w="4201795">
                  <a:moveTo>
                    <a:pt x="4201720" y="2352674"/>
                  </a:moveTo>
                  <a:lnTo>
                    <a:pt x="0" y="2352674"/>
                  </a:lnTo>
                  <a:lnTo>
                    <a:pt x="0" y="0"/>
                  </a:lnTo>
                  <a:lnTo>
                    <a:pt x="4201720" y="0"/>
                  </a:lnTo>
                  <a:lnTo>
                    <a:pt x="4201720" y="2352674"/>
                  </a:lnTo>
                  <a:close/>
                </a:path>
              </a:pathLst>
            </a:custGeom>
            <a:solidFill>
              <a:srgbClr val="F1EC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71"/>
            <p:cNvSpPr/>
            <p:nvPr/>
          </p:nvSpPr>
          <p:spPr>
            <a:xfrm>
              <a:off x="4942281" y="3852862"/>
              <a:ext cx="4201795" cy="2352675"/>
            </a:xfrm>
            <a:custGeom>
              <a:rect b="b" l="l" r="r" t="t"/>
              <a:pathLst>
                <a:path extrusionOk="0" h="2352675" w="4201795">
                  <a:moveTo>
                    <a:pt x="0" y="0"/>
                  </a:moveTo>
                  <a:lnTo>
                    <a:pt x="4201720" y="0"/>
                  </a:lnTo>
                  <a:lnTo>
                    <a:pt x="4201720" y="2352674"/>
                  </a:lnTo>
                  <a:lnTo>
                    <a:pt x="0" y="235267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762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6" name="Google Shape;66;p71"/>
          <p:cNvSpPr txBox="1"/>
          <p:nvPr>
            <p:ph idx="1" type="body"/>
          </p:nvPr>
        </p:nvSpPr>
        <p:spPr>
          <a:xfrm>
            <a:off x="209040" y="809625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2" type="body"/>
          </p:nvPr>
        </p:nvSpPr>
        <p:spPr>
          <a:xfrm>
            <a:off x="5398830" y="4357578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dej" showMasterSp="0">
  <p:cSld name="pause dej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2"/>
          <p:cNvPicPr preferRelativeResize="0"/>
          <p:nvPr/>
        </p:nvPicPr>
        <p:blipFill rotWithShape="1">
          <a:blip r:embed="rId2">
            <a:alphaModFix/>
          </a:blip>
          <a:srcRect b="0" l="0" r="21593" t="0"/>
          <a:stretch/>
        </p:blipFill>
        <p:spPr>
          <a:xfrm>
            <a:off x="4528931" y="0"/>
            <a:ext cx="53770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2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" name="Google Shape;71;p72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" name="Google Shape;72;p72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72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am" showMasterSp="0">
  <p:cSld name="pause am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3"/>
          <p:cNvPicPr preferRelativeResize="0"/>
          <p:nvPr/>
        </p:nvPicPr>
        <p:blipFill rotWithShape="1">
          <a:blip r:embed="rId2">
            <a:alphaModFix/>
          </a:blip>
          <a:srcRect b="0" l="21111" r="0" t="0"/>
          <a:stretch/>
        </p:blipFill>
        <p:spPr>
          <a:xfrm>
            <a:off x="4495800" y="0"/>
            <a:ext cx="5410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3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" name="Google Shape;78;p73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" name="Google Shape;79;p73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3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" name="Google Shape;81;p73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En-tête de section" showMasterSp="0">
  <p:cSld name="5_En-tête de section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74"/>
          <p:cNvPicPr preferRelativeResize="0"/>
          <p:nvPr/>
        </p:nvPicPr>
        <p:blipFill rotWithShape="1">
          <a:blip r:embed="rId2">
            <a:alphaModFix/>
          </a:blip>
          <a:srcRect b="30972" l="23673" r="22553" t="0"/>
          <a:stretch/>
        </p:blipFill>
        <p:spPr>
          <a:xfrm>
            <a:off x="4514851" y="0"/>
            <a:ext cx="5391150" cy="69202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4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" name="Google Shape;85;p74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" name="Google Shape;86;p74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4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" name="Google Shape;88;p74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mparaison">
  <p:cSld name="4 comparais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2271" y="885826"/>
            <a:ext cx="6233729" cy="59721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95" name="Google Shape;95;p68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68"/>
          <p:cNvSpPr/>
          <p:nvPr/>
        </p:nvSpPr>
        <p:spPr>
          <a:xfrm>
            <a:off x="5124449" y="1243025"/>
            <a:ext cx="4140000" cy="4716000"/>
          </a:xfrm>
          <a:custGeom>
            <a:rect b="b" l="l" r="r" t="t"/>
            <a:pathLst>
              <a:path extrusionOk="0" h="3453129" w="3590925">
                <a:moveTo>
                  <a:pt x="3590340" y="3452786"/>
                </a:moveTo>
                <a:lnTo>
                  <a:pt x="0" y="3452786"/>
                </a:lnTo>
                <a:lnTo>
                  <a:pt x="0" y="0"/>
                </a:lnTo>
                <a:lnTo>
                  <a:pt x="3590340" y="0"/>
                </a:lnTo>
                <a:lnTo>
                  <a:pt x="3590340" y="34527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p68"/>
          <p:cNvSpPr/>
          <p:nvPr/>
        </p:nvSpPr>
        <p:spPr>
          <a:xfrm>
            <a:off x="5124450" y="1243025"/>
            <a:ext cx="4100513" cy="4729148"/>
          </a:xfrm>
          <a:custGeom>
            <a:rect b="b" l="l" r="r" t="t"/>
            <a:pathLst>
              <a:path extrusionOk="0" h="3453129" w="3590925">
                <a:moveTo>
                  <a:pt x="0" y="0"/>
                </a:moveTo>
                <a:lnTo>
                  <a:pt x="3590340" y="0"/>
                </a:lnTo>
                <a:lnTo>
                  <a:pt x="3590340" y="3452786"/>
                </a:lnTo>
                <a:lnTo>
                  <a:pt x="0" y="3452786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" name="Google Shape;98;p68"/>
          <p:cNvSpPr/>
          <p:nvPr/>
        </p:nvSpPr>
        <p:spPr>
          <a:xfrm>
            <a:off x="5124449" y="1985962"/>
            <a:ext cx="4100513" cy="38100"/>
          </a:xfrm>
          <a:custGeom>
            <a:rect b="b" l="l" r="r" t="t"/>
            <a:pathLst>
              <a:path extrusionOk="0" h="38100" w="3590925">
                <a:moveTo>
                  <a:pt x="0" y="0"/>
                </a:moveTo>
                <a:lnTo>
                  <a:pt x="3590924" y="0"/>
                </a:lnTo>
                <a:lnTo>
                  <a:pt x="3590924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" name="Google Shape;99;p68"/>
          <p:cNvSpPr/>
          <p:nvPr/>
        </p:nvSpPr>
        <p:spPr>
          <a:xfrm>
            <a:off x="3773551" y="1790699"/>
            <a:ext cx="400050" cy="381000"/>
          </a:xfrm>
          <a:custGeom>
            <a:rect b="b" l="l" r="r" t="t"/>
            <a:pathLst>
              <a:path extrusionOk="0" h="381000" w="400050">
                <a:moveTo>
                  <a:pt x="400050" y="190500"/>
                </a:moveTo>
                <a:lnTo>
                  <a:pt x="394766" y="146824"/>
                </a:lnTo>
                <a:lnTo>
                  <a:pt x="379717" y="106730"/>
                </a:lnTo>
                <a:lnTo>
                  <a:pt x="356108" y="71361"/>
                </a:lnTo>
                <a:lnTo>
                  <a:pt x="325132" y="41859"/>
                </a:lnTo>
                <a:lnTo>
                  <a:pt x="300037" y="26670"/>
                </a:lnTo>
                <a:lnTo>
                  <a:pt x="300037" y="166687"/>
                </a:lnTo>
                <a:lnTo>
                  <a:pt x="300037" y="214312"/>
                </a:lnTo>
                <a:lnTo>
                  <a:pt x="225031" y="214312"/>
                </a:lnTo>
                <a:lnTo>
                  <a:pt x="225031" y="285750"/>
                </a:lnTo>
                <a:lnTo>
                  <a:pt x="175018" y="285750"/>
                </a:lnTo>
                <a:lnTo>
                  <a:pt x="175018" y="214312"/>
                </a:lnTo>
                <a:lnTo>
                  <a:pt x="100012" y="214312"/>
                </a:lnTo>
                <a:lnTo>
                  <a:pt x="100012" y="166687"/>
                </a:lnTo>
                <a:lnTo>
                  <a:pt x="175018" y="166687"/>
                </a:lnTo>
                <a:lnTo>
                  <a:pt x="175018" y="95250"/>
                </a:lnTo>
                <a:lnTo>
                  <a:pt x="225031" y="95250"/>
                </a:lnTo>
                <a:lnTo>
                  <a:pt x="225031" y="166687"/>
                </a:lnTo>
                <a:lnTo>
                  <a:pt x="300037" y="166687"/>
                </a:lnTo>
                <a:lnTo>
                  <a:pt x="300037" y="26670"/>
                </a:lnTo>
                <a:lnTo>
                  <a:pt x="245884" y="5041"/>
                </a:lnTo>
                <a:lnTo>
                  <a:pt x="200025" y="0"/>
                </a:lnTo>
                <a:lnTo>
                  <a:pt x="154165" y="5041"/>
                </a:lnTo>
                <a:lnTo>
                  <a:pt x="112064" y="19367"/>
                </a:lnTo>
                <a:lnTo>
                  <a:pt x="74917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17" y="339153"/>
                </a:lnTo>
                <a:lnTo>
                  <a:pt x="112064" y="361645"/>
                </a:lnTo>
                <a:lnTo>
                  <a:pt x="154165" y="375970"/>
                </a:lnTo>
                <a:lnTo>
                  <a:pt x="200025" y="381000"/>
                </a:lnTo>
                <a:lnTo>
                  <a:pt x="245884" y="375970"/>
                </a:lnTo>
                <a:lnTo>
                  <a:pt x="287985" y="361645"/>
                </a:lnTo>
                <a:lnTo>
                  <a:pt x="325132" y="339153"/>
                </a:lnTo>
                <a:lnTo>
                  <a:pt x="356108" y="309651"/>
                </a:lnTo>
                <a:lnTo>
                  <a:pt x="372059" y="285750"/>
                </a:lnTo>
                <a:lnTo>
                  <a:pt x="379717" y="274281"/>
                </a:lnTo>
                <a:lnTo>
                  <a:pt x="394766" y="234188"/>
                </a:lnTo>
                <a:lnTo>
                  <a:pt x="400050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0" name="Google Shape;100;p68"/>
          <p:cNvSpPr/>
          <p:nvPr/>
        </p:nvSpPr>
        <p:spPr>
          <a:xfrm>
            <a:off x="8659800" y="1426363"/>
            <a:ext cx="400050" cy="381000"/>
          </a:xfrm>
          <a:custGeom>
            <a:rect b="b" l="l" r="r" t="t"/>
            <a:pathLst>
              <a:path extrusionOk="0" h="381000" w="400050">
                <a:moveTo>
                  <a:pt x="399999" y="190500"/>
                </a:moveTo>
                <a:lnTo>
                  <a:pt x="397116" y="166687"/>
                </a:lnTo>
                <a:lnTo>
                  <a:pt x="394716" y="146824"/>
                </a:lnTo>
                <a:lnTo>
                  <a:pt x="379666" y="106730"/>
                </a:lnTo>
                <a:lnTo>
                  <a:pt x="356057" y="71361"/>
                </a:lnTo>
                <a:lnTo>
                  <a:pt x="325081" y="41859"/>
                </a:lnTo>
                <a:lnTo>
                  <a:pt x="299999" y="26670"/>
                </a:lnTo>
                <a:lnTo>
                  <a:pt x="299999" y="166687"/>
                </a:lnTo>
                <a:lnTo>
                  <a:pt x="299999" y="214312"/>
                </a:lnTo>
                <a:lnTo>
                  <a:pt x="99999" y="214312"/>
                </a:lnTo>
                <a:lnTo>
                  <a:pt x="99999" y="166687"/>
                </a:lnTo>
                <a:lnTo>
                  <a:pt x="299999" y="166687"/>
                </a:lnTo>
                <a:lnTo>
                  <a:pt x="299999" y="26670"/>
                </a:lnTo>
                <a:lnTo>
                  <a:pt x="287947" y="19367"/>
                </a:lnTo>
                <a:lnTo>
                  <a:pt x="245846" y="5041"/>
                </a:lnTo>
                <a:lnTo>
                  <a:pt x="199999" y="0"/>
                </a:lnTo>
                <a:lnTo>
                  <a:pt x="154139" y="5041"/>
                </a:lnTo>
                <a:lnTo>
                  <a:pt x="112039" y="19367"/>
                </a:lnTo>
                <a:lnTo>
                  <a:pt x="74904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04" y="339153"/>
                </a:lnTo>
                <a:lnTo>
                  <a:pt x="112039" y="361645"/>
                </a:lnTo>
                <a:lnTo>
                  <a:pt x="154139" y="375970"/>
                </a:lnTo>
                <a:lnTo>
                  <a:pt x="199999" y="381000"/>
                </a:lnTo>
                <a:lnTo>
                  <a:pt x="245846" y="375970"/>
                </a:lnTo>
                <a:lnTo>
                  <a:pt x="287947" y="361645"/>
                </a:lnTo>
                <a:lnTo>
                  <a:pt x="325081" y="339153"/>
                </a:lnTo>
                <a:lnTo>
                  <a:pt x="356057" y="309651"/>
                </a:lnTo>
                <a:lnTo>
                  <a:pt x="379666" y="274281"/>
                </a:lnTo>
                <a:lnTo>
                  <a:pt x="394716" y="234188"/>
                </a:lnTo>
                <a:lnTo>
                  <a:pt x="397116" y="214312"/>
                </a:lnTo>
                <a:lnTo>
                  <a:pt x="399999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1" name="Google Shape;101;p68"/>
          <p:cNvSpPr/>
          <p:nvPr/>
        </p:nvSpPr>
        <p:spPr>
          <a:xfrm>
            <a:off x="693301" y="1208550"/>
            <a:ext cx="4140000" cy="4716000"/>
          </a:xfrm>
          <a:prstGeom prst="rect">
            <a:avLst/>
          </a:prstGeom>
          <a:solidFill>
            <a:srgbClr val="F1E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" name="Google Shape;102;p68"/>
          <p:cNvSpPr/>
          <p:nvPr/>
        </p:nvSpPr>
        <p:spPr>
          <a:xfrm>
            <a:off x="708977" y="2005012"/>
            <a:ext cx="4176000" cy="38100"/>
          </a:xfrm>
          <a:custGeom>
            <a:rect b="b" l="l" r="r" t="t"/>
            <a:pathLst>
              <a:path extrusionOk="0" h="38100" w="3600450">
                <a:moveTo>
                  <a:pt x="0" y="0"/>
                </a:moveTo>
                <a:lnTo>
                  <a:pt x="3600449" y="0"/>
                </a:lnTo>
                <a:lnTo>
                  <a:pt x="3600449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68"/>
          <p:cNvSpPr/>
          <p:nvPr/>
        </p:nvSpPr>
        <p:spPr>
          <a:xfrm>
            <a:off x="4262918" y="1426363"/>
            <a:ext cx="400050" cy="381000"/>
          </a:xfrm>
          <a:custGeom>
            <a:rect b="b" l="l" r="r" t="t"/>
            <a:pathLst>
              <a:path extrusionOk="0" h="381000" w="400050">
                <a:moveTo>
                  <a:pt x="400050" y="190500"/>
                </a:moveTo>
                <a:lnTo>
                  <a:pt x="394766" y="146824"/>
                </a:lnTo>
                <a:lnTo>
                  <a:pt x="379717" y="106730"/>
                </a:lnTo>
                <a:lnTo>
                  <a:pt x="356108" y="71361"/>
                </a:lnTo>
                <a:lnTo>
                  <a:pt x="325132" y="41859"/>
                </a:lnTo>
                <a:lnTo>
                  <a:pt x="300037" y="26670"/>
                </a:lnTo>
                <a:lnTo>
                  <a:pt x="300037" y="166687"/>
                </a:lnTo>
                <a:lnTo>
                  <a:pt x="300037" y="214312"/>
                </a:lnTo>
                <a:lnTo>
                  <a:pt x="225031" y="214312"/>
                </a:lnTo>
                <a:lnTo>
                  <a:pt x="225031" y="285750"/>
                </a:lnTo>
                <a:lnTo>
                  <a:pt x="175018" y="285750"/>
                </a:lnTo>
                <a:lnTo>
                  <a:pt x="175018" y="214312"/>
                </a:lnTo>
                <a:lnTo>
                  <a:pt x="100012" y="214312"/>
                </a:lnTo>
                <a:lnTo>
                  <a:pt x="100012" y="166687"/>
                </a:lnTo>
                <a:lnTo>
                  <a:pt x="175018" y="166687"/>
                </a:lnTo>
                <a:lnTo>
                  <a:pt x="175018" y="95250"/>
                </a:lnTo>
                <a:lnTo>
                  <a:pt x="225031" y="95250"/>
                </a:lnTo>
                <a:lnTo>
                  <a:pt x="225031" y="166687"/>
                </a:lnTo>
                <a:lnTo>
                  <a:pt x="300037" y="166687"/>
                </a:lnTo>
                <a:lnTo>
                  <a:pt x="300037" y="26670"/>
                </a:lnTo>
                <a:lnTo>
                  <a:pt x="245884" y="5041"/>
                </a:lnTo>
                <a:lnTo>
                  <a:pt x="200025" y="0"/>
                </a:lnTo>
                <a:lnTo>
                  <a:pt x="154165" y="5041"/>
                </a:lnTo>
                <a:lnTo>
                  <a:pt x="112064" y="19367"/>
                </a:lnTo>
                <a:lnTo>
                  <a:pt x="74917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17" y="339153"/>
                </a:lnTo>
                <a:lnTo>
                  <a:pt x="112064" y="361645"/>
                </a:lnTo>
                <a:lnTo>
                  <a:pt x="154165" y="375970"/>
                </a:lnTo>
                <a:lnTo>
                  <a:pt x="200025" y="381000"/>
                </a:lnTo>
                <a:lnTo>
                  <a:pt x="245884" y="375970"/>
                </a:lnTo>
                <a:lnTo>
                  <a:pt x="287985" y="361645"/>
                </a:lnTo>
                <a:lnTo>
                  <a:pt x="325132" y="339153"/>
                </a:lnTo>
                <a:lnTo>
                  <a:pt x="356108" y="309651"/>
                </a:lnTo>
                <a:lnTo>
                  <a:pt x="372059" y="285750"/>
                </a:lnTo>
                <a:lnTo>
                  <a:pt x="379717" y="274281"/>
                </a:lnTo>
                <a:lnTo>
                  <a:pt x="394766" y="234188"/>
                </a:lnTo>
                <a:lnTo>
                  <a:pt x="400050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68"/>
          <p:cNvSpPr txBox="1"/>
          <p:nvPr>
            <p:ph idx="1" type="body"/>
          </p:nvPr>
        </p:nvSpPr>
        <p:spPr>
          <a:xfrm>
            <a:off x="766251" y="1286867"/>
            <a:ext cx="3407350" cy="6943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68"/>
          <p:cNvSpPr txBox="1"/>
          <p:nvPr>
            <p:ph idx="2" type="body"/>
          </p:nvPr>
        </p:nvSpPr>
        <p:spPr>
          <a:xfrm>
            <a:off x="904875" y="2143125"/>
            <a:ext cx="3758093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68"/>
          <p:cNvSpPr txBox="1"/>
          <p:nvPr>
            <p:ph idx="3" type="body"/>
          </p:nvPr>
        </p:nvSpPr>
        <p:spPr>
          <a:xfrm>
            <a:off x="5162646" y="1283494"/>
            <a:ext cx="3332041" cy="689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68"/>
          <p:cNvSpPr txBox="1"/>
          <p:nvPr>
            <p:ph idx="4" type="body"/>
          </p:nvPr>
        </p:nvSpPr>
        <p:spPr>
          <a:xfrm>
            <a:off x="5381625" y="2162174"/>
            <a:ext cx="3678225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action">
  <p:cSld name="2. ac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0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71294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0"/>
          <p:cNvSpPr/>
          <p:nvPr/>
        </p:nvSpPr>
        <p:spPr>
          <a:xfrm>
            <a:off x="4953000" y="35194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2" name="Google Shape;112;p70"/>
          <p:cNvSpPr txBox="1"/>
          <p:nvPr>
            <p:ph idx="1" type="body"/>
          </p:nvPr>
        </p:nvSpPr>
        <p:spPr>
          <a:xfrm>
            <a:off x="5019675" y="364807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">
  <p:cSld name="fi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5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5" name="Google Shape;115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5428" y="-441048"/>
            <a:ext cx="10011428" cy="729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s">
  <p:cSld name="presentatio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6"/>
          <p:cNvSpPr txBox="1"/>
          <p:nvPr/>
        </p:nvSpPr>
        <p:spPr>
          <a:xfrm>
            <a:off x="523974" y="2982577"/>
            <a:ext cx="4895850" cy="3349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390525" lvl="0" marL="12700" marR="5080" rtl="0" algn="ctr">
              <a:lnSpc>
                <a:spcPct val="15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Nous sommes disponibles </a:t>
            </a:r>
            <a:b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 mail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 par  téléphone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avant, pendant et après vos formations</a:t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8" name="Google Shape;11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375" y="348638"/>
            <a:ext cx="5335938" cy="137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4551" y="0"/>
            <a:ext cx="3981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6"/>
          <p:cNvSpPr txBox="1"/>
          <p:nvPr>
            <p:ph type="title"/>
          </p:nvPr>
        </p:nvSpPr>
        <p:spPr>
          <a:xfrm>
            <a:off x="704353" y="2176145"/>
            <a:ext cx="4406900" cy="473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7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6"/>
          <p:cNvSpPr/>
          <p:nvPr/>
        </p:nvSpPr>
        <p:spPr>
          <a:xfrm>
            <a:off x="1504664" y="2895599"/>
            <a:ext cx="2990850" cy="0"/>
          </a:xfrm>
          <a:custGeom>
            <a:rect b="b" l="l" r="r" t="t"/>
            <a:pathLst>
              <a:path extrusionOk="0" h="120000" w="2990850">
                <a:moveTo>
                  <a:pt x="0" y="0"/>
                </a:moveTo>
                <a:lnTo>
                  <a:pt x="2990849" y="0"/>
                </a:lnTo>
              </a:path>
            </a:pathLst>
          </a:custGeom>
          <a:noFill/>
          <a:ln cap="flat" cmpd="sng" w="38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2" name="Google Shape;122;p76"/>
          <p:cNvGrpSpPr/>
          <p:nvPr/>
        </p:nvGrpSpPr>
        <p:grpSpPr>
          <a:xfrm>
            <a:off x="1028557" y="3890637"/>
            <a:ext cx="4181475" cy="647700"/>
            <a:chOff x="615019" y="4667249"/>
            <a:chExt cx="4181475" cy="647700"/>
          </a:xfrm>
        </p:grpSpPr>
        <p:sp>
          <p:nvSpPr>
            <p:cNvPr id="123" name="Google Shape;123;p76"/>
            <p:cNvSpPr/>
            <p:nvPr/>
          </p:nvSpPr>
          <p:spPr>
            <a:xfrm>
              <a:off x="615019" y="4667249"/>
              <a:ext cx="4181475" cy="647700"/>
            </a:xfrm>
            <a:custGeom>
              <a:rect b="b" l="l" r="r" t="t"/>
              <a:pathLst>
                <a:path extrusionOk="0" h="647700" w="4181475">
                  <a:moveTo>
                    <a:pt x="4181474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4181474" y="0"/>
                  </a:lnTo>
                  <a:lnTo>
                    <a:pt x="4181474" y="647699"/>
                  </a:lnTo>
                  <a:close/>
                </a:path>
              </a:pathLst>
            </a:custGeom>
            <a:solidFill>
              <a:srgbClr val="E7E6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" name="Google Shape;124;p76"/>
            <p:cNvSpPr/>
            <p:nvPr/>
          </p:nvSpPr>
          <p:spPr>
            <a:xfrm>
              <a:off x="634069" y="4686299"/>
              <a:ext cx="4143375" cy="609600"/>
            </a:xfrm>
            <a:custGeom>
              <a:rect b="b" l="l" r="r" t="t"/>
              <a:pathLst>
                <a:path extrusionOk="0" h="609600" w="4143375">
                  <a:moveTo>
                    <a:pt x="0" y="0"/>
                  </a:moveTo>
                  <a:lnTo>
                    <a:pt x="4143374" y="0"/>
                  </a:lnTo>
                  <a:lnTo>
                    <a:pt x="4143374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E7E6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25" name="Google Shape;125;p76"/>
          <p:cNvSpPr txBox="1"/>
          <p:nvPr/>
        </p:nvSpPr>
        <p:spPr>
          <a:xfrm>
            <a:off x="1028557" y="3890637"/>
            <a:ext cx="4181475" cy="482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51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sng" cap="none" strike="noStrike">
                <a:solidFill>
                  <a:schemeClr val="accent6"/>
                </a:solid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formation@ambient-it.net</a:t>
            </a:r>
            <a:endParaRPr b="0" i="0" sz="2300" u="none" cap="none" strike="noStrike">
              <a:solidFill>
                <a:schemeClr val="accent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76"/>
          <p:cNvSpPr/>
          <p:nvPr/>
        </p:nvSpPr>
        <p:spPr>
          <a:xfrm>
            <a:off x="4712846" y="4107331"/>
            <a:ext cx="285750" cy="214629"/>
          </a:xfrm>
          <a:custGeom>
            <a:rect b="b" l="l" r="r" t="t"/>
            <a:pathLst>
              <a:path extrusionOk="0" h="214629" w="285750">
                <a:moveTo>
                  <a:pt x="142839" y="102307"/>
                </a:moveTo>
                <a:lnTo>
                  <a:pt x="0" y="34879"/>
                </a:lnTo>
                <a:lnTo>
                  <a:pt x="0" y="0"/>
                </a:lnTo>
                <a:lnTo>
                  <a:pt x="285750" y="0"/>
                </a:lnTo>
                <a:lnTo>
                  <a:pt x="285750" y="34986"/>
                </a:lnTo>
                <a:lnTo>
                  <a:pt x="142839" y="102307"/>
                </a:lnTo>
                <a:close/>
              </a:path>
              <a:path extrusionOk="0" h="214629" w="285750">
                <a:moveTo>
                  <a:pt x="285750" y="214312"/>
                </a:moveTo>
                <a:lnTo>
                  <a:pt x="0" y="214312"/>
                </a:lnTo>
                <a:lnTo>
                  <a:pt x="0" y="74295"/>
                </a:lnTo>
                <a:lnTo>
                  <a:pt x="142910" y="141794"/>
                </a:lnTo>
                <a:lnTo>
                  <a:pt x="285750" y="141794"/>
                </a:lnTo>
                <a:lnTo>
                  <a:pt x="285750" y="214312"/>
                </a:lnTo>
                <a:close/>
              </a:path>
              <a:path extrusionOk="0" h="214629" w="285750">
                <a:moveTo>
                  <a:pt x="285750" y="141794"/>
                </a:moveTo>
                <a:lnTo>
                  <a:pt x="142910" y="141794"/>
                </a:lnTo>
                <a:lnTo>
                  <a:pt x="285750" y="74509"/>
                </a:lnTo>
                <a:lnTo>
                  <a:pt x="285750" y="14179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76"/>
          <p:cNvSpPr txBox="1"/>
          <p:nvPr/>
        </p:nvSpPr>
        <p:spPr>
          <a:xfrm>
            <a:off x="1047608" y="5184150"/>
            <a:ext cx="4143374" cy="587441"/>
          </a:xfrm>
          <a:prstGeom prst="rect">
            <a:avLst/>
          </a:prstGeom>
          <a:noFill/>
          <a:ln cap="flat" cmpd="sng" w="38075">
            <a:solidFill>
              <a:srgbClr val="E7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000" lIns="0" spcFirstLastPara="1" rIns="0" wrap="square" tIns="108000">
            <a:spAutoFit/>
          </a:bodyPr>
          <a:lstStyle/>
          <a:p>
            <a:pPr indent="0" lvl="0" marL="1327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01 48 10 09 46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6"/>
          <p:cNvSpPr/>
          <p:nvPr/>
        </p:nvSpPr>
        <p:spPr>
          <a:xfrm>
            <a:off x="4783967" y="5334994"/>
            <a:ext cx="214629" cy="285750"/>
          </a:xfrm>
          <a:custGeom>
            <a:rect b="b" l="l" r="r" t="t"/>
            <a:pathLst>
              <a:path extrusionOk="0" h="285750" w="214629">
                <a:moveTo>
                  <a:pt x="142875" y="285750"/>
                </a:moveTo>
                <a:lnTo>
                  <a:pt x="71437" y="285750"/>
                </a:lnTo>
                <a:lnTo>
                  <a:pt x="43631" y="280135"/>
                </a:lnTo>
                <a:lnTo>
                  <a:pt x="20924" y="264825"/>
                </a:lnTo>
                <a:lnTo>
                  <a:pt x="5614" y="242118"/>
                </a:lnTo>
                <a:lnTo>
                  <a:pt x="0" y="214312"/>
                </a:lnTo>
                <a:lnTo>
                  <a:pt x="0" y="71437"/>
                </a:lnTo>
                <a:lnTo>
                  <a:pt x="5614" y="43631"/>
                </a:lnTo>
                <a:lnTo>
                  <a:pt x="20924" y="20924"/>
                </a:lnTo>
                <a:lnTo>
                  <a:pt x="43631" y="5614"/>
                </a:lnTo>
                <a:lnTo>
                  <a:pt x="71437" y="0"/>
                </a:lnTo>
                <a:lnTo>
                  <a:pt x="142875" y="0"/>
                </a:lnTo>
                <a:lnTo>
                  <a:pt x="170680" y="5614"/>
                </a:lnTo>
                <a:lnTo>
                  <a:pt x="193388" y="20924"/>
                </a:lnTo>
                <a:lnTo>
                  <a:pt x="203362" y="35718"/>
                </a:lnTo>
                <a:lnTo>
                  <a:pt x="71437" y="35718"/>
                </a:lnTo>
                <a:lnTo>
                  <a:pt x="57549" y="38533"/>
                </a:lnTo>
                <a:lnTo>
                  <a:pt x="46194" y="46201"/>
                </a:lnTo>
                <a:lnTo>
                  <a:pt x="38530" y="57557"/>
                </a:lnTo>
                <a:lnTo>
                  <a:pt x="35718" y="71437"/>
                </a:lnTo>
                <a:lnTo>
                  <a:pt x="35718" y="214312"/>
                </a:lnTo>
                <a:lnTo>
                  <a:pt x="214312" y="214312"/>
                </a:lnTo>
                <a:lnTo>
                  <a:pt x="210818" y="231618"/>
                </a:lnTo>
                <a:lnTo>
                  <a:pt x="107156" y="231618"/>
                </a:lnTo>
                <a:lnTo>
                  <a:pt x="99992" y="233063"/>
                </a:lnTo>
                <a:lnTo>
                  <a:pt x="94138" y="237007"/>
                </a:lnTo>
                <a:lnTo>
                  <a:pt x="90191" y="242859"/>
                </a:lnTo>
                <a:lnTo>
                  <a:pt x="88743" y="250031"/>
                </a:lnTo>
                <a:lnTo>
                  <a:pt x="90189" y="257202"/>
                </a:lnTo>
                <a:lnTo>
                  <a:pt x="94135" y="263055"/>
                </a:lnTo>
                <a:lnTo>
                  <a:pt x="99988" y="266998"/>
                </a:lnTo>
                <a:lnTo>
                  <a:pt x="107156" y="268444"/>
                </a:lnTo>
                <a:lnTo>
                  <a:pt x="188020" y="268444"/>
                </a:lnTo>
                <a:lnTo>
                  <a:pt x="170680" y="280135"/>
                </a:lnTo>
                <a:lnTo>
                  <a:pt x="142875" y="285750"/>
                </a:lnTo>
                <a:close/>
              </a:path>
              <a:path extrusionOk="0" h="285750" w="214629">
                <a:moveTo>
                  <a:pt x="214312" y="214312"/>
                </a:moveTo>
                <a:lnTo>
                  <a:pt x="178593" y="214312"/>
                </a:lnTo>
                <a:lnTo>
                  <a:pt x="178593" y="71437"/>
                </a:lnTo>
                <a:lnTo>
                  <a:pt x="175779" y="57557"/>
                </a:lnTo>
                <a:lnTo>
                  <a:pt x="168111" y="46201"/>
                </a:lnTo>
                <a:lnTo>
                  <a:pt x="156755" y="38533"/>
                </a:lnTo>
                <a:lnTo>
                  <a:pt x="142875" y="35718"/>
                </a:lnTo>
                <a:lnTo>
                  <a:pt x="203362" y="35718"/>
                </a:lnTo>
                <a:lnTo>
                  <a:pt x="208698" y="43631"/>
                </a:lnTo>
                <a:lnTo>
                  <a:pt x="214312" y="71437"/>
                </a:lnTo>
                <a:lnTo>
                  <a:pt x="214312" y="214312"/>
                </a:lnTo>
                <a:close/>
              </a:path>
              <a:path extrusionOk="0" h="285750" w="214629">
                <a:moveTo>
                  <a:pt x="188020" y="268444"/>
                </a:moveTo>
                <a:lnTo>
                  <a:pt x="107156" y="268444"/>
                </a:lnTo>
                <a:lnTo>
                  <a:pt x="114324" y="266998"/>
                </a:lnTo>
                <a:lnTo>
                  <a:pt x="120176" y="263055"/>
                </a:lnTo>
                <a:lnTo>
                  <a:pt x="124122" y="257202"/>
                </a:lnTo>
                <a:lnTo>
                  <a:pt x="125569" y="250031"/>
                </a:lnTo>
                <a:lnTo>
                  <a:pt x="124121" y="242859"/>
                </a:lnTo>
                <a:lnTo>
                  <a:pt x="120173" y="237007"/>
                </a:lnTo>
                <a:lnTo>
                  <a:pt x="114320" y="233063"/>
                </a:lnTo>
                <a:lnTo>
                  <a:pt x="107156" y="231618"/>
                </a:lnTo>
                <a:lnTo>
                  <a:pt x="210818" y="231618"/>
                </a:lnTo>
                <a:lnTo>
                  <a:pt x="208698" y="242118"/>
                </a:lnTo>
                <a:lnTo>
                  <a:pt x="193388" y="264825"/>
                </a:lnTo>
                <a:lnTo>
                  <a:pt x="188020" y="2684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titre">
  <p:cSld name="1. titr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7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7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4" name="Google Shape;134;p77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onnes icones">
  <p:cSld name="3 colonnes icone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7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40" name="Google Shape;140;p78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78"/>
          <p:cNvSpPr/>
          <p:nvPr/>
        </p:nvSpPr>
        <p:spPr>
          <a:xfrm>
            <a:off x="681038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78"/>
          <p:cNvSpPr/>
          <p:nvPr/>
        </p:nvSpPr>
        <p:spPr>
          <a:xfrm>
            <a:off x="3838576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p78"/>
          <p:cNvSpPr/>
          <p:nvPr/>
        </p:nvSpPr>
        <p:spPr>
          <a:xfrm>
            <a:off x="6996113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" name="Google Shape;144;p78"/>
          <p:cNvSpPr/>
          <p:nvPr/>
        </p:nvSpPr>
        <p:spPr>
          <a:xfrm>
            <a:off x="4591049" y="3194446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78"/>
          <p:cNvSpPr/>
          <p:nvPr/>
        </p:nvSpPr>
        <p:spPr>
          <a:xfrm>
            <a:off x="7761300" y="3194446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78"/>
          <p:cNvSpPr/>
          <p:nvPr/>
        </p:nvSpPr>
        <p:spPr>
          <a:xfrm>
            <a:off x="1308113" y="3217067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78"/>
          <p:cNvSpPr txBox="1"/>
          <p:nvPr>
            <p:ph idx="1" type="body"/>
          </p:nvPr>
        </p:nvSpPr>
        <p:spPr>
          <a:xfrm>
            <a:off x="681038" y="3360343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8" name="Google Shape;148;p78"/>
          <p:cNvSpPr txBox="1"/>
          <p:nvPr>
            <p:ph idx="2" type="body"/>
          </p:nvPr>
        </p:nvSpPr>
        <p:spPr>
          <a:xfrm>
            <a:off x="3838576" y="3360343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9" name="Google Shape;149;p78"/>
          <p:cNvSpPr txBox="1"/>
          <p:nvPr>
            <p:ph idx="3" type="body"/>
          </p:nvPr>
        </p:nvSpPr>
        <p:spPr>
          <a:xfrm>
            <a:off x="6996112" y="3360342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0" name="Google Shape;150;p78"/>
          <p:cNvSpPr txBox="1"/>
          <p:nvPr>
            <p:ph idx="4" type="body"/>
          </p:nvPr>
        </p:nvSpPr>
        <p:spPr>
          <a:xfrm>
            <a:off x="681038" y="4047729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1" name="Google Shape;151;p78"/>
          <p:cNvSpPr txBox="1"/>
          <p:nvPr>
            <p:ph idx="5" type="body"/>
          </p:nvPr>
        </p:nvSpPr>
        <p:spPr>
          <a:xfrm>
            <a:off x="3838576" y="4047729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2" name="Google Shape;152;p78"/>
          <p:cNvSpPr txBox="1"/>
          <p:nvPr>
            <p:ph idx="6" type="body"/>
          </p:nvPr>
        </p:nvSpPr>
        <p:spPr>
          <a:xfrm>
            <a:off x="6996112" y="4047728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3" name="Google Shape;153;p78"/>
          <p:cNvSpPr/>
          <p:nvPr/>
        </p:nvSpPr>
        <p:spPr>
          <a:xfrm>
            <a:off x="7806112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78"/>
          <p:cNvSpPr/>
          <p:nvPr/>
        </p:nvSpPr>
        <p:spPr>
          <a:xfrm>
            <a:off x="4648576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78"/>
          <p:cNvSpPr/>
          <p:nvPr/>
        </p:nvSpPr>
        <p:spPr>
          <a:xfrm>
            <a:off x="1491038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9"/>
          <p:cNvSpPr txBox="1"/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9"/>
          <p:cNvSpPr txBox="1"/>
          <p:nvPr>
            <p:ph idx="1" type="subTitle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9" name="Google Shape;159;p7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7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7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0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8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80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1"/>
          <p:cNvSpPr txBox="1"/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81"/>
          <p:cNvSpPr txBox="1"/>
          <p:nvPr>
            <p:ph idx="1" type="body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p81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8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81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2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82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82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8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8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8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3"/>
          <p:cNvSpPr txBox="1"/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83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2" name="Google Shape;182;p83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83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4" name="Google Shape;184;p83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83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8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83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4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84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8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4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8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8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6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86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0" name="Google Shape;200;p86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8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8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8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7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87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87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8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8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8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88"/>
          <p:cNvSpPr txBox="1"/>
          <p:nvPr>
            <p:ph idx="1" type="body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8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8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8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9"/>
          <p:cNvSpPr txBox="1"/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89"/>
          <p:cNvSpPr txBox="1"/>
          <p:nvPr>
            <p:ph idx="1" type="body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8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8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8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2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6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6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6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odoo.com/documentation/19.0/developer/reference/backend/orm.html?highlight=command%20link#odoo.fields.Comman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odoo.com/documentation/19.0/developer/reference/backend/data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hyperlink" Target="https://www.odoo.com/documentation/master/applications/essentials/export_import_data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odoo.com/documentation/19.0/developer/reference/backend/testing.html#testing-python-co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odoo.com/documentation/19.0/developer/reference/backend/reports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odoo.com/documentation/master/developer/reference/frontend/qweb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training.localhost/odoo/automation" TargetMode="External"/><Relationship Id="rId4" Type="http://schemas.openxmlformats.org/officeDocument/2006/relationships/hyperlink" Target="https://www.odoo.com/documentation/19.0/developer/reference/backend/actions.html#automated-actions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odoo.com/documentation/19.0/developer/reference/external_rpc_api.html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ithub.com/OCA/rest-framework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/>
              <a:t>Formation Odoo Développeur — Essentiel</a:t>
            </a:r>
            <a:endParaRPr/>
          </a:p>
        </p:txBody>
      </p:sp>
      <p:sp>
        <p:nvSpPr>
          <p:cNvPr id="229" name="Google Shape;229;p2"/>
          <p:cNvSpPr txBox="1"/>
          <p:nvPr>
            <p:ph idx="1" type="body"/>
          </p:nvPr>
        </p:nvSpPr>
        <p:spPr>
          <a:xfrm>
            <a:off x="5019675" y="3648075"/>
            <a:ext cx="47133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fr-FR" sz="1800"/>
              <a:t>Ambient IT</a:t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fr-FR" sz="1800"/>
              <a:t>31 Août - 02 Sept. 2026</a:t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fr-FR" sz="1800"/>
              <a:t>Formateur : Arnaud LAYEC</a:t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fr-FR" sz="1800"/>
              <a:t>Jour 3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Retour sur la Journée 2</a:t>
            </a:r>
            <a:endParaRPr/>
          </a:p>
        </p:txBody>
      </p:sp>
      <p:sp>
        <p:nvSpPr>
          <p:cNvPr id="235" name="Google Shape;235;p3"/>
          <p:cNvSpPr txBox="1"/>
          <p:nvPr/>
        </p:nvSpPr>
        <p:spPr>
          <a:xfrm>
            <a:off x="4588662" y="1900000"/>
            <a:ext cx="48225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Exercices terminés 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Char char="●"/>
            </a:pPr>
            <a:r>
              <a:rPr b="1" i="0" lang="fr-FR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🙋‍♂️🙋‍♀️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Agenda Jour 3</a:t>
            </a:r>
            <a:endParaRPr/>
          </a:p>
        </p:txBody>
      </p:sp>
      <p:graphicFrame>
        <p:nvGraphicFramePr>
          <p:cNvPr id="241" name="Google Shape;241;p4"/>
          <p:cNvGraphicFramePr/>
          <p:nvPr/>
        </p:nvGraphicFramePr>
        <p:xfrm>
          <a:off x="142875" y="976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1369800"/>
                <a:gridCol w="790375"/>
                <a:gridCol w="3588300"/>
                <a:gridCol w="2919675"/>
                <a:gridCol w="1008750"/>
              </a:tblGrid>
              <a:tr h="21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250" u="none" cap="none" strike="noStrike">
                          <a:solidFill>
                            <a:schemeClr val="lt1"/>
                          </a:solidFill>
                        </a:rPr>
                        <a:t>Horaire</a:t>
                      </a:r>
                      <a:endParaRPr b="1" sz="12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250" u="none" cap="none" strike="noStrike">
                          <a:solidFill>
                            <a:schemeClr val="lt1"/>
                          </a:solidFill>
                        </a:rPr>
                        <a:t>Durée</a:t>
                      </a:r>
                      <a:endParaRPr b="1" sz="12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250" u="none" cap="none" strike="noStrike">
                          <a:solidFill>
                            <a:schemeClr val="lt1"/>
                          </a:solidFill>
                        </a:rPr>
                        <a:t>Résumé</a:t>
                      </a:r>
                      <a:endParaRPr b="1" sz="12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250" u="none" cap="none" strike="noStrike">
                          <a:solidFill>
                            <a:schemeClr val="lt1"/>
                          </a:solidFill>
                        </a:rPr>
                        <a:t>Exercice du fil rouge</a:t>
                      </a:r>
                      <a:endParaRPr b="1" sz="12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250" u="none" cap="none" strike="noStrike">
                          <a:solidFill>
                            <a:schemeClr val="lt1"/>
                          </a:solidFill>
                        </a:rPr>
                        <a:t>N° chapitre</a:t>
                      </a:r>
                      <a:endParaRPr b="1" sz="12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09:00 – 09:15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15 min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🎤 Ouverture J3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Tour de table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fr-F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09:15 – 10:15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1h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Sécurité niveau 2 : groupes hiérarchiques, </a:t>
                      </a:r>
                      <a:r>
                        <a:rPr b="1"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ir.rule, check_access()</a:t>
                      </a:r>
                      <a:endParaRPr b="1"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Différencier le bibliothécaire des lecteurs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10:15 – 10:45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30 min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Données Master &amp; Demo : fichiers XML/CSV, imports/exports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Catégories et livres de démo</a:t>
                      </a:r>
                      <a:endParaRPr sz="125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10:45 – 11:00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15 min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☕ Pause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11:00 – 12:30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1h30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Tests unitaires : </a:t>
                      </a:r>
                      <a:r>
                        <a:rPr b="1"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TransactionCase, @tagged</a:t>
                      </a:r>
                      <a:endParaRPr b="1"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Des tests métiers avant la mise en PROD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12:30 – 13:30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1h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🍽️ Déjeuner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13:30 – 15:00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1h30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Rapports PDF QWeb et templating email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Fiche livre imprimable et email aux emprunteurs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15:00 – 15:15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15 min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☕ Pause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15:15 – 1</a:t>
                      </a: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50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Actions automatisées, CRON et action.server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Alerter les adhérents des nouveaux livres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05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 – 16:</a:t>
                      </a: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0 min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API externe &amp; Webservices : XML-RPC / JSON-RPC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16:</a:t>
                      </a: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5 – 16:40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5 min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Déploiement en PROD, administration &amp; maintenance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16:40 – 17:00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20 min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📋 QCM de validation + questionnaire de satisfaction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2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fr-FR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15 (9h15 - 10h15)</a:t>
            </a:r>
            <a:endParaRPr/>
          </a:p>
        </p:txBody>
      </p:sp>
      <p:sp>
        <p:nvSpPr>
          <p:cNvPr id="247" name="Google Shape;247;p5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Sécurité niveau 2 : groupes hiérarchiques, règles de sécurité (ir.rule) et check_access()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🎯 Différencier le gérant des employés de la bibliothèque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ir.rule</a:t>
            </a:r>
            <a:r>
              <a:rPr lang="fr-FR"/>
              <a:t> : principe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53" name="Google Shape;253;p6"/>
          <p:cNvGraphicFramePr/>
          <p:nvPr/>
        </p:nvGraphicFramePr>
        <p:xfrm>
          <a:off x="432950" y="26072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1666050"/>
                <a:gridCol w="7468650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 u="none" cap="none" strike="noStrike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</a:rPr>
                        <a:t>Libellé technique de la règle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model_id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</a:rPr>
                        <a:t>Modèle ciblé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domain_force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</a:rPr>
                        <a:t>Domaine Python évalué pour chaque utilisateur — accède à la variable spéciale user (res.users courant)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</a:rPr>
                        <a:t>Optionnel.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-"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</a:rPr>
                        <a:t>Si vide : règle GLOBALE (s'applique à tout le monde)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-"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</a:rPr>
                        <a:t>Si rempli : règle de groupe(s)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perm_read/write/create/unlink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</a:rPr>
                        <a:t>1 par défaut (les 4 CRUD) — personnalisable indépendemment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6"/>
          <p:cNvSpPr txBox="1"/>
          <p:nvPr/>
        </p:nvSpPr>
        <p:spPr>
          <a:xfrm>
            <a:off x="432950" y="1290900"/>
            <a:ext cx="91347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Rappel (vu chapitre 14) 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plusieurs règles de GROUPE = au moins l'une satisfait (OU) 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plusieurs règles GLOBALES = toutes doivent être satisfaites (ET) 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mélange : les règles GLOBALES doivent être satisfaites (ET entre les GLOBALES et GROUPE) 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 txBox="1"/>
          <p:nvPr/>
        </p:nvSpPr>
        <p:spPr>
          <a:xfrm>
            <a:off x="592423" y="2554233"/>
            <a:ext cx="8544000" cy="3231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Exemple pédagogique : l’utilisateur ne voit que ses propres records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0" name="Google Shape;260;p7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ir.rule : exemple XML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592425" y="2908923"/>
            <a:ext cx="8632500" cy="129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&lt;record id="</a:t>
            </a:r>
            <a:r>
              <a:rPr b="1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library_book_rule_reader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model="ir.rule"&gt;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b="0" i="0" lang="fr-FR" sz="12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Mes propres records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model_id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ref="</a:t>
            </a:r>
            <a:r>
              <a:rPr b="0" i="0" lang="fr-FR" sz="12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model_my_model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domain_force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b="0" i="0" lang="fr-FR" sz="12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[(create_uid, '=', user.id)]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groups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eval="</a:t>
            </a:r>
            <a:r>
              <a:rPr b="0" i="0" lang="fr-FR" sz="12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[(4, ref('group_library_reader'))]</a:t>
            </a: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&lt;/record&gt;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592425" y="4545775"/>
            <a:ext cx="64068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Syntaxe </a:t>
            </a:r>
            <a:r>
              <a:rPr b="0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[(4, …)]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voir documentation </a:t>
            </a:r>
            <a:r>
              <a:rPr b="0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Command.link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fr-FR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https://www.odoo.com/documentation/19.0/developer/reference/backend/orm.html?highlight=command%20link#odoo.fields.Command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592425" y="1129450"/>
            <a:ext cx="86325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 d'usage natifs 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multi-société (company_id)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portail client (ses propres commandes)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CRM (ses opportunités).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check_access() et has_group()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592425" y="2765673"/>
            <a:ext cx="8632500" cy="923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action_something(self):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self.check_access("write")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self.ensure_one()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592425" y="3707625"/>
            <a:ext cx="68163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Lève </a:t>
            </a:r>
            <a:r>
              <a:rPr b="0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AccessError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 l'opération est refusée.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besoin de contourner les accès : utiliser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.sudo()</a:t>
            </a:r>
            <a:endParaRPr b="1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592425" y="1269631"/>
            <a:ext cx="8632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check_access()</a:t>
            </a:r>
            <a:endParaRPr b="1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 appeler explicitement quand une méthode Python contourne l'UI (ex : appelée par un CRON, un webhook, un autre module).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Nouvelle méthode unique qui combine l'ancien duo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check_access_rights()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check_access_rule()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vérifie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ACL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ET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ir.rule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un seul appel.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549275" y="4914286"/>
            <a:ext cx="863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has_group()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592425" y="5349123"/>
            <a:ext cx="8632500" cy="369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self.env.user.has_group(“xml_id”)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9" name="Google Shape;2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83901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 txBox="1"/>
          <p:nvPr/>
        </p:nvSpPr>
        <p:spPr>
          <a:xfrm>
            <a:off x="407363" y="3036651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963325" y="1721450"/>
            <a:ext cx="5860800" cy="13236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Ajouter une règle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ir.rule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un Lecteur ne voit que les livres actifs (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active=True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Vérifier avec un utilisateur de test que la règle s'applique bien (changer d'utilisateur)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2" name="Google Shape;2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00955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 txBox="1"/>
          <p:nvPr/>
        </p:nvSpPr>
        <p:spPr>
          <a:xfrm>
            <a:off x="407363" y="5207199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1963325" y="4281400"/>
            <a:ext cx="5079000" cy="7851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Utiliser 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has_group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dans le wizard : ne prédéfinir le 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borrower_id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pour les Lecteurs, pas pour les Bibliothécaires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4588662" y="1900000"/>
            <a:ext cx="4822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chapter_15_security_v2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16 (10h15 - 10h45)</a:t>
            </a:r>
            <a:endParaRPr/>
          </a:p>
        </p:txBody>
      </p:sp>
      <p:sp>
        <p:nvSpPr>
          <p:cNvPr id="296" name="Google Shape;296;p13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Données Master &amp; Demo : fichiers XML/CSV, imports et exports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🎯 Catégories et livres de démo, module facilement testable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Données XML &amp; CSV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302" name="Google Shape;302;p14"/>
          <p:cNvGraphicFramePr/>
          <p:nvPr/>
        </p:nvGraphicFramePr>
        <p:xfrm>
          <a:off x="432950" y="1453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1720000"/>
                <a:gridCol w="7414700"/>
              </a:tblGrid>
              <a:tr h="39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Concept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data/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Données de configuration/référence — toujours chargées, même en production.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Exemple : catégories de livre de références dans l’industrie du livre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demo/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Données d'exemple — chargées seulement si « Charger les données de démonstration » est coché à la création de la base (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with-demo=all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noupdate="1"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Empêche l'écrasement des records au ré-install/update du module — protège les modifications faites par l'utilisateur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ref(“xml_id”)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Identifiant technique unique pour les champs relationnels — permet de référencer un record depuis un autre fichier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" name="Google Shape;303;p14"/>
          <p:cNvSpPr txBox="1"/>
          <p:nvPr/>
        </p:nvSpPr>
        <p:spPr>
          <a:xfrm>
            <a:off x="385650" y="4766550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https://www.odoo.com/documentation/19.0/developer/reference/backend/data.html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09" name="Google Shape;3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83901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6"/>
          <p:cNvSpPr txBox="1"/>
          <p:nvPr/>
        </p:nvSpPr>
        <p:spPr>
          <a:xfrm>
            <a:off x="407363" y="3036651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1963325" y="1721450"/>
            <a:ext cx="5860800" cy="10773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Créer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data/library_category_data.xml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avec 2-3 catégories par défaut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Créer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demo/library_book_demo.xml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avec quelques livres de démo (en référençant les catégories via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ref()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12" name="Google Shape;3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00955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6"/>
          <p:cNvSpPr txBox="1"/>
          <p:nvPr/>
        </p:nvSpPr>
        <p:spPr>
          <a:xfrm>
            <a:off x="407363" y="5207199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1963325" y="4281400"/>
            <a:ext cx="5860800" cy="15033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Exporter un jeu de données depuis l'UI (sélection de livres &gt; </a:t>
            </a: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Actions &gt; Exporter</a:t>
            </a: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en CSV, le modifier puis le ré-importer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Guide : user docs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sng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https://www.odoo.com/documentation/master/applications/essentials/export_import_data.html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4588662" y="1900000"/>
            <a:ext cx="4822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chapter_16_data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9b149fd4e_0_3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Pause : 15 min</a:t>
            </a:r>
            <a:endParaRPr/>
          </a:p>
        </p:txBody>
      </p:sp>
      <p:sp>
        <p:nvSpPr>
          <p:cNvPr id="326" name="Google Shape;326;g3f9b149fd4e_0_3"/>
          <p:cNvSpPr txBox="1"/>
          <p:nvPr/>
        </p:nvSpPr>
        <p:spPr>
          <a:xfrm>
            <a:off x="285750" y="3170400"/>
            <a:ext cx="30000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10h45 - 11h00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17 (11h00 - 12h30)</a:t>
            </a:r>
            <a:endParaRPr/>
          </a:p>
        </p:txBody>
      </p:sp>
      <p:sp>
        <p:nvSpPr>
          <p:cNvPr id="332" name="Google Shape;332;p19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Tests unitaires : TransactionCase, @tagged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🎯 Des tests métiers avant la mise en PROD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 txBox="1"/>
          <p:nvPr/>
        </p:nvSpPr>
        <p:spPr>
          <a:xfrm>
            <a:off x="603125" y="1294375"/>
            <a:ext cx="6793800" cy="44790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Non-régression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détecter une casse avant qu'un client ne la découvre. En particulier dans de gros projets.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Oser refactorer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un code testé peut être retravaillé sereinement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Documentation vivante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 comportement attendu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Brique indispensable d'une 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 : click-odoo-update)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Convention Odoo : pas de TDD systématique, mais des tests a posteriori indispensables avant toute mise en PROD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mettre dans les tests 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test ne sert pas à vérifier qu’un code fonctionne une 1e fois, mais qu’un code “fonctionne </a:t>
            </a:r>
            <a:r>
              <a:rPr b="1" i="0" lang="fr-FR" sz="15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toujours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après des changements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Tests unitaires de chaque méthode : à proscrire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Idéalement, tout le code doit être couvert/exécuté par les tests (même si technique, et valeur pas forcément vérifiées)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Compromis entre tests métiers versus exécution technique du code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Pourquoi écrire des tests ?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432950" y="5773375"/>
            <a:ext cx="356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https://www.odoo.com/documentation/19.0/developer/reference/backend/testing.html#testing-python-code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TransactionCase : anatomie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345" name="Google Shape;345;p21"/>
          <p:cNvGraphicFramePr/>
          <p:nvPr/>
        </p:nvGraphicFramePr>
        <p:xfrm>
          <a:off x="432950" y="177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2787475"/>
                <a:gridCol w="634722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Élément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 TestX(TransactionCase)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La classe ouvre une Transaction parent pour créer le jeu de données de 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setUpClass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Chaque test tourne dans une Transaction enfant annulée (rollback) après son exécution (réussie ou non)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La Transaction parent est rollbackée à la fin du test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setUpClass(cls)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Jeu de données de test commun à tous les tests, rollbacké seulement à la fin de tous les tests. Toute altération impacte les tests suivants.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setUp(self)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Je de données identique entre les tests, mais réinitialisé avant/pour chaque méthode 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test_*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self.env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Accès ORM classique, dans le contexte du test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Méthodes test_*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1 méthode = 1 scénario, nommage explicite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assertEqual / assertTrue / assertRaises...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Assertions héritées du module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unittest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 standard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6" name="Google Shape;346;p21"/>
          <p:cNvSpPr txBox="1"/>
          <p:nvPr/>
        </p:nvSpPr>
        <p:spPr>
          <a:xfrm>
            <a:off x="432950" y="1055793"/>
            <a:ext cx="913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tests/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à la racine du module — fichier </a:t>
            </a: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tests/__init__.py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chargé automatiquement par le framework si </a:t>
            </a: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--test-enable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passé à la Command Line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32950" y="5782493"/>
            <a:ext cx="9134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practise 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Jouer les tests sur une base vierge, sinon les données peuvent entrer en conflit / influencer les tests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données de tests doivent être définies dans le test (ne pas utiliser les données de démo !)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Exemple : tests sur library.book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432950" y="1181734"/>
            <a:ext cx="913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@tagged("post_install", "-at_install")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convention quasi systématique (les modèles dépendants sont bien chargés).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432950" y="1781904"/>
            <a:ext cx="9134700" cy="2555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odoo.tests import TransactionCase, tagged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@tagged("post_install", "-at_install") 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# Test joué après l’installation de tous les modules, dans le cadre d’une CI/CD</a:t>
            </a:r>
            <a:endParaRPr b="0" i="0" sz="14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TestLibraryBook(TransactionCase):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def setUp(self):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super().setUp()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self.category = ...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def test_create_book(self):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...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432950" y="4632959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Lancer les tests : dans un “</a:t>
            </a: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odoo -u library” (-u ou -i)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432950" y="5033154"/>
            <a:ext cx="9134700" cy="400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odoo -d ma_base_de_test -i library --test-enable --stop-after-init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62" name="Google Shape;3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83901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5"/>
          <p:cNvSpPr txBox="1"/>
          <p:nvPr/>
        </p:nvSpPr>
        <p:spPr>
          <a:xfrm>
            <a:off x="407363" y="3036651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4" name="Google Shape;364;p25"/>
          <p:cNvSpPr txBox="1"/>
          <p:nvPr/>
        </p:nvSpPr>
        <p:spPr>
          <a:xfrm>
            <a:off x="1963325" y="1824775"/>
            <a:ext cx="5860800" cy="13236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Écrire 2 tests sur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library.book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création (vérifier les valeurs par défaut) +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contrainte ISBN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qui doit lever une erreur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Tester la règle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ir.rule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 chapitre 15 : changement d'utilisateur dans le test avec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.with_user(...)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65" name="Google Shape;3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00955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5"/>
          <p:cNvSpPr txBox="1"/>
          <p:nvPr/>
        </p:nvSpPr>
        <p:spPr>
          <a:xfrm>
            <a:off x="407363" y="5207199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1963325" y="4281396"/>
            <a:ext cx="7183800" cy="3231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Tester le wizard d'emprunt (action_confirm)</a:t>
            </a:r>
            <a:endParaRPr b="1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4588662" y="1900000"/>
            <a:ext cx="4822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chapter_17_tests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/>
          <p:nvPr>
            <p:ph idx="1" type="body"/>
          </p:nvPr>
        </p:nvSpPr>
        <p:spPr>
          <a:xfrm>
            <a:off x="209040" y="809625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EMARGEMENT MATINÉE JOUR 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>
            <p:ph type="title"/>
          </p:nvPr>
        </p:nvSpPr>
        <p:spPr>
          <a:xfrm>
            <a:off x="201776" y="2250580"/>
            <a:ext cx="3504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Déjeuner – 1 heure</a:t>
            </a:r>
            <a:endParaRPr/>
          </a:p>
        </p:txBody>
      </p:sp>
      <p:sp>
        <p:nvSpPr>
          <p:cNvPr id="384" name="Google Shape;384;p28"/>
          <p:cNvSpPr txBox="1"/>
          <p:nvPr>
            <p:ph type="title"/>
          </p:nvPr>
        </p:nvSpPr>
        <p:spPr>
          <a:xfrm>
            <a:off x="201776" y="3103955"/>
            <a:ext cx="3504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lang="fr-FR"/>
              <a:t>12h30 - 13h30</a:t>
            </a:r>
            <a:endParaRPr b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18 (13h30 - 15h00)</a:t>
            </a:r>
            <a:endParaRPr/>
          </a:p>
        </p:txBody>
      </p:sp>
      <p:sp>
        <p:nvSpPr>
          <p:cNvPr id="390" name="Google Shape;390;p30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Rapports PDF QWeb et templating email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🎯 Fiche livre imprimable et email aux emprunteurs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ir.actions.report</a:t>
            </a:r>
            <a:r>
              <a:rPr lang="fr-FR"/>
              <a:t> : anatomie de l’action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396" name="Google Shape;396;p31"/>
          <p:cNvGraphicFramePr/>
          <p:nvPr/>
        </p:nvGraphicFramePr>
        <p:xfrm>
          <a:off x="432950" y="31699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2114700"/>
                <a:gridCol w="7020000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Modèle ciblé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report_type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qweb-pdf (le plus courant)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qweb-html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qweb-text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report_name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xml_id du template QWeb (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module.template_id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print_report_name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Nom du fichier PDF généré — expression Python évaluée sur `object`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binding_model_id + binding_type='report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Ajoute l'action au menu «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Imprimer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 » du modèle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7" name="Google Shape;397;p31"/>
          <p:cNvSpPr txBox="1"/>
          <p:nvPr/>
        </p:nvSpPr>
        <p:spPr>
          <a:xfrm>
            <a:off x="432950" y="6089238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https://www.odoo.com/documentation/19.0/developer/reference/backend/reports.html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8" name="Google Shape;398;p31"/>
          <p:cNvSpPr txBox="1"/>
          <p:nvPr/>
        </p:nvSpPr>
        <p:spPr>
          <a:xfrm>
            <a:off x="432950" y="1147225"/>
            <a:ext cx="91347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rapport est composé d’au moins 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action </a:t>
            </a: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ir.actions.report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template </a:t>
            </a: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QWeb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(vue) qui définit la mise en page du rapport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optionnellement (avancé), d’un modèle </a:t>
            </a: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models.AbstractModel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pour personnaliser les données transmises et la logique métier autour du rapport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1"/>
          <p:cNvSpPr txBox="1"/>
          <p:nvPr/>
        </p:nvSpPr>
        <p:spPr>
          <a:xfrm>
            <a:off x="432950" y="2760263"/>
            <a:ext cx="66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Champs de </a:t>
            </a: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ir.actions.report 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Vue QWeb minimale d’un rapport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432950" y="5242783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docs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recordset sélectionné, le multi-records est supporté nativement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2"/>
          <p:cNvSpPr txBox="1"/>
          <p:nvPr/>
        </p:nvSpPr>
        <p:spPr>
          <a:xfrm>
            <a:off x="432950" y="1835750"/>
            <a:ext cx="8792100" cy="2770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&lt;template id="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report_example_minimal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&lt;t t-call="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web.html_container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&lt;t t-foreach="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docs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t-as="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doc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&lt;t t-call="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web.external_layout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&lt;div class="page"&gt;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&lt;!-- Contenu : balises HTML et QWeb --&gt;</a:t>
            </a:r>
            <a:endParaRPr b="0" i="0" sz="14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&lt;/div&gt;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&lt;/t&gt;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&lt;/t&gt;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&lt;/t&gt;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&lt;/template&gt;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9b149fd4e_0_22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Directives QWeb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12" name="Google Shape;412;g3f9b149fd4e_0_221"/>
          <p:cNvGraphicFramePr/>
          <p:nvPr/>
        </p:nvGraphicFramePr>
        <p:xfrm>
          <a:off x="432950" y="17100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2114700"/>
                <a:gridCol w="7020000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Directive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Description &amp; exemple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t-out (ex t-esc)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Affiche une valeur échappée :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&lt;span t-out="doc.name"/&gt;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. t-esc reste supporté mais déprécié.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t-field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Affiche un champ avec formatage automatique selon son type (devise, date localisée...) :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&lt;span t-field="doc.price"/&gt;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t-if / t-elif / t-else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Affichage conditionnel :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&lt;div t-if="doc.state == 'lost'"&gt;Perdu&lt;/div&gt;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t-foreach / t-as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Boucle sur un recordset :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&lt;tr t-foreach="docs" t-as="doc"&gt;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t-call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Inclut un sous-template réutilisable :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 t-call="library.report_header"/&gt;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t-set / t-value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Déclare une variable locale au template :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 t-set="total" t-value="sum(doc.line_ids.mapped('amount'))"/&gt;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t-att-*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Attribut HTML dynamique :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&lt;img t-att-src="doc.image_url"/&gt;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t-raw (déprécié)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Ancien équivalent de t-out sans échappement HTML — à éviter (faille XSS), remplacé par t-out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g3f9b149fd4e_0_221"/>
          <p:cNvSpPr txBox="1"/>
          <p:nvPr/>
        </p:nvSpPr>
        <p:spPr>
          <a:xfrm>
            <a:off x="432950" y="1156475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https://www.odoo.com/documentation/master/developer/reference/frontend/qweb.html</a:t>
            </a: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Templates email :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mail.template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19" name="Google Shape;419;p33"/>
          <p:cNvGraphicFramePr/>
          <p:nvPr/>
        </p:nvGraphicFramePr>
        <p:xfrm>
          <a:off x="385650" y="23369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2406075"/>
                <a:gridCol w="672862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model_id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Modèle associé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subject / email_to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Rendu Qweb inline : 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{{ object.name }}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body_html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Corps HTML, rendu Qweb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email_from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Expéditeur (souvent laissé par défaut)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0" name="Google Shape;420;p33"/>
          <p:cNvSpPr txBox="1"/>
          <p:nvPr/>
        </p:nvSpPr>
        <p:spPr>
          <a:xfrm>
            <a:off x="444150" y="1614250"/>
            <a:ext cx="91347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le record courant.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Déclenché manuellement (bouton « Envoyer par email ») ou automatiquement (→ chapitre 19).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Exemple : template email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6" name="Google Shape;426;p34"/>
          <p:cNvSpPr txBox="1"/>
          <p:nvPr/>
        </p:nvSpPr>
        <p:spPr>
          <a:xfrm>
            <a:off x="432950" y="1292225"/>
            <a:ext cx="9134700" cy="45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&lt;record id="</a:t>
            </a: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email_template_customer_statement</a:t>
            </a: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model="</a:t>
            </a: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mail.template</a:t>
            </a: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name="name"&gt;</a:t>
            </a: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Customer Statement</a:t>
            </a: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name="model_id" ref="</a:t>
            </a: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base.model_res_partner</a:t>
            </a: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name="email_from"&gt;</a:t>
            </a: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{{ object._get_followup_responsible().email_formatted }}</a:t>
            </a: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name="subject"&gt;</a:t>
            </a: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Statement - {{ object.commercial_company_name }}</a:t>
            </a: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name="body_html" type="html"&gt;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&lt;div style="margin: 0px; padding: 0px;"&gt;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&lt;p style="margin: 0px; padding: 0px;"&gt;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&lt;t t-if="object.id != object.commercial_partner_id.id"&gt;Dear &lt;t t-out="object.name or ''"/&gt; (&lt;t t-out="object.commercial_partner_id.name or ''"/&gt;),&lt;/t&gt;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&lt;t t-else=""&gt;Dear &lt;t t-out="object.name or ''"/&gt;,&lt;/t&gt;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&lt;br/&gt;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Please find enclosed the statement of your account.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&lt;br/&gt;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&lt;t t-out="object._get_followup_responsible().name if is_html_empty(object._get_followup_responsible().signature) else object._get_followup_responsible().signature"/&gt;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&lt;/p&gt;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&lt;/div&gt;</a:t>
            </a:r>
            <a:endParaRPr b="0" i="0" sz="13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&lt;/field&gt;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&lt;/record&gt;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32" name="Google Shape;43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02044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5"/>
          <p:cNvSpPr txBox="1"/>
          <p:nvPr/>
        </p:nvSpPr>
        <p:spPr>
          <a:xfrm>
            <a:off x="407363" y="2218089"/>
            <a:ext cx="1667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 1 — Rapport PDF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4" name="Google Shape;434;p35"/>
          <p:cNvSpPr txBox="1"/>
          <p:nvPr/>
        </p:nvSpPr>
        <p:spPr>
          <a:xfrm>
            <a:off x="1963325" y="1020450"/>
            <a:ext cx="7411800" cy="12993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un rapport PDF « Fiche livre » pour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library.book</a:t>
            </a:r>
            <a:endParaRPr b="1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Ajouter un logo, un champ calculé, date de parution, statut, emprunt, …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S’assurer que le rapport PDF fonctionne pour un recordset</a:t>
            </a:r>
            <a:b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(multiples livres) : impression depuis la vue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endParaRPr b="1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35" name="Google Shape;4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2989540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 txBox="1"/>
          <p:nvPr/>
        </p:nvSpPr>
        <p:spPr>
          <a:xfrm>
            <a:off x="407363" y="4165775"/>
            <a:ext cx="1667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 2 — Template email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1963325" y="3429477"/>
            <a:ext cx="7183800" cy="3231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un mail.template associé à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library.book</a:t>
            </a: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(nouveau livre disponible)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5076627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407363" y="6252862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0" name="Google Shape;440;p35"/>
          <p:cNvSpPr txBox="1"/>
          <p:nvPr/>
        </p:nvSpPr>
        <p:spPr>
          <a:xfrm>
            <a:off x="1963325" y="5516564"/>
            <a:ext cx="7183800" cy="8541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Dans le rapport PDF “Fiche livre”, ajouter en entête un paragraphe : “Livres également empruntés par les mêmes personnes”, qui prendra source dans les champ </a:t>
            </a:r>
            <a:r>
              <a:rPr b="1" i="0" lang="fr-FR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borrower_id.borrowed_book_ids</a:t>
            </a:r>
            <a:endParaRPr b="1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6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446" name="Google Shape;446;p36"/>
          <p:cNvSpPr txBox="1"/>
          <p:nvPr/>
        </p:nvSpPr>
        <p:spPr>
          <a:xfrm>
            <a:off x="4588662" y="1900000"/>
            <a:ext cx="4822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chapter_18_reports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7"/>
          <p:cNvSpPr txBox="1"/>
          <p:nvPr>
            <p:ph type="title"/>
          </p:nvPr>
        </p:nvSpPr>
        <p:spPr>
          <a:xfrm>
            <a:off x="240684" y="2289491"/>
            <a:ext cx="69147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Pause – 15 min</a:t>
            </a:r>
            <a:endParaRPr/>
          </a:p>
        </p:txBody>
      </p:sp>
      <p:sp>
        <p:nvSpPr>
          <p:cNvPr id="452" name="Google Shape;452;p37"/>
          <p:cNvSpPr txBox="1"/>
          <p:nvPr>
            <p:ph type="title"/>
          </p:nvPr>
        </p:nvSpPr>
        <p:spPr>
          <a:xfrm>
            <a:off x="240678" y="3104000"/>
            <a:ext cx="42873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lang="fr-FR"/>
              <a:t>15h00 - 15h15</a:t>
            </a:r>
            <a:endParaRPr b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8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19 (15h15 - 16h05)</a:t>
            </a:r>
            <a:endParaRPr/>
          </a:p>
        </p:txBody>
      </p:sp>
      <p:sp>
        <p:nvSpPr>
          <p:cNvPr id="458" name="Google Shape;458;p38"/>
          <p:cNvSpPr txBox="1"/>
          <p:nvPr>
            <p:ph idx="1" type="body"/>
          </p:nvPr>
        </p:nvSpPr>
        <p:spPr>
          <a:xfrm>
            <a:off x="285750" y="3192950"/>
            <a:ext cx="47133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Actions automatisées, CRON et action.server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🎯 Alerter les adhérents des nouveaux livres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3 mécanismes d'automatisation</a:t>
            </a:r>
            <a:endParaRPr/>
          </a:p>
        </p:txBody>
      </p:sp>
      <p:graphicFrame>
        <p:nvGraphicFramePr>
          <p:cNvPr id="464" name="Google Shape;464;p39"/>
          <p:cNvGraphicFramePr/>
          <p:nvPr/>
        </p:nvGraphicFramePr>
        <p:xfrm>
          <a:off x="432950" y="17934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2132100"/>
                <a:gridCol w="3375425"/>
                <a:gridCol w="357787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Modèle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Déclencheur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Cas d'usage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base.automation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Module à installer :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base_automation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Événement sur un modèle (création, modification, valeur de champ, date planifiée)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Email de relance, notification interne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Création depuis l’UI ou via le code : </a:t>
                      </a:r>
                      <a:r>
                        <a:rPr lang="fr-FR" sz="14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https://training.localhost/odoo/automation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 ou bien </a:t>
                      </a:r>
                      <a:r>
                        <a:rPr i="1" lang="fr-FR" sz="1400" u="none" cap="none" strike="noStrike">
                          <a:solidFill>
                            <a:schemeClr val="dk1"/>
                          </a:solidFill>
                        </a:rPr>
                        <a:t>Settings / Technical / Automation / Automation Rules</a:t>
                      </a:r>
                      <a:endParaRPr i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ir.cron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Le temps (récurrence : heure, jour, semaine...)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Nettoyage, synchronisation périodique, rapports automatiques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ir.actions.server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Appelé (bouton, cron, automation, webhook)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Bloc de code Python réutilisable — brique de base des 2 précédents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5" name="Google Shape;465;p39"/>
          <p:cNvSpPr txBox="1"/>
          <p:nvPr/>
        </p:nvSpPr>
        <p:spPr>
          <a:xfrm>
            <a:off x="432950" y="1025750"/>
            <a:ext cx="913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Différence clé : événement (base.automation) vs temps (ir.cron)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9"/>
          <p:cNvSpPr txBox="1"/>
          <p:nvPr/>
        </p:nvSpPr>
        <p:spPr>
          <a:xfrm>
            <a:off x="432950" y="4958275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https://www.odoo.com/documentation/19.0/developer/reference/backend/actions.html#automated-actions</a:t>
            </a: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ir.cron : anatomie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72" name="Google Shape;472;p1"/>
          <p:cNvGraphicFramePr/>
          <p:nvPr/>
        </p:nvGraphicFramePr>
        <p:xfrm>
          <a:off x="432950" y="2073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2155900"/>
                <a:gridCol w="6978800"/>
              </a:tblGrid>
              <a:tr h="42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Nom affiché dans </a:t>
                      </a:r>
                      <a:r>
                        <a:rPr i="1" lang="fr-FR" u="none" cap="none" strike="noStrike">
                          <a:solidFill>
                            <a:schemeClr val="dk1"/>
                          </a:solidFill>
                        </a:rPr>
                        <a:t>Réglages &gt; Technique &gt; Actions planifiées</a:t>
                      </a:r>
                      <a:endParaRPr i="1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model_id + code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Modèle ciblé + code Python exécuté (</a:t>
                      </a: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</a:t>
                      </a: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 = recordset vide du modèle, `</a:t>
                      </a: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env</a:t>
                      </a: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` accessible)</a:t>
                      </a:r>
                      <a:endParaRPr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interval_number + interval_type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Récurrence : ex. 1 + </a:t>
                      </a: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days</a:t>
                      </a: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 (</a:t>
                      </a:r>
                      <a:r>
                        <a:rPr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'minutes', 'hours', 'weeks', 'months'</a:t>
                      </a: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nextcall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Date/heure de la prochaine exécution — recalculée automatiquement après chaque run</a:t>
                      </a:r>
                      <a:endParaRPr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active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Décoché par défaut en dev pour éviter des exécutions non désirées</a:t>
                      </a:r>
                      <a:endParaRPr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3" name="Google Shape;473;p1"/>
          <p:cNvSpPr txBox="1"/>
          <p:nvPr/>
        </p:nvSpPr>
        <p:spPr>
          <a:xfrm>
            <a:off x="432950" y="1290900"/>
            <a:ext cx="913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Exécution manuelle : bouton « </a:t>
            </a:r>
            <a:r>
              <a:rPr b="1" i="0" lang="fr-FR" sz="1400" u="none" cap="none" strike="noStrike">
                <a:solidFill>
                  <a:schemeClr val="dk1"/>
                </a:solidFill>
              </a:rPr>
              <a:t>Exécuter maintenant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» depuis la vue technique — pratique pour déboguer sans attendre le nextcall.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Exemple : ir.cron minimal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9" name="Google Shape;479;p8"/>
          <p:cNvSpPr txBox="1"/>
          <p:nvPr/>
        </p:nvSpPr>
        <p:spPr>
          <a:xfrm>
            <a:off x="432950" y="1835750"/>
            <a:ext cx="8792100" cy="2124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&lt;record id="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ir_cron_library_overdue_reminder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 model="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ir.cron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name="name"&gt;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Bibliothèque : rappel des retards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name="model_id" ref="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model_library_book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name="state"&gt;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name="code"&gt;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model._cron_notify_overdue()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name="interval_number"&gt;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name="interval_type"&gt;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days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name="active"&gt;</a:t>
            </a:r>
            <a:r>
              <a:rPr b="0" i="0" lang="fr-FR" sz="14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&lt;/record&gt;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base.automation : déclencheurs (trigger)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85" name="Google Shape;485;p12"/>
          <p:cNvGraphicFramePr/>
          <p:nvPr/>
        </p:nvGraphicFramePr>
        <p:xfrm>
          <a:off x="432950" y="1723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1666050"/>
                <a:gridCol w="7468650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</a:rPr>
                        <a:t>Trigger</a:t>
                      </a:r>
                      <a:endParaRPr b="1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</a:rPr>
                        <a:t>Déclenchement</a:t>
                      </a:r>
                      <a:endParaRPr b="1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on_create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À la création d'un enregistrement</a:t>
                      </a:r>
                      <a:endParaRPr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on_write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À la modification — filtrable sur des champs précis via </a:t>
                      </a: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trigger_field_ids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on_create_or_write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Combine les deux précédents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on_unlink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À la suppression d'un enregistrement</a:t>
                      </a:r>
                      <a:endParaRPr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on_time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u="none" cap="none" strike="noStrike">
                          <a:solidFill>
                            <a:schemeClr val="dk1"/>
                          </a:solidFill>
                        </a:rPr>
                        <a:t>Planifié sur un champ date/datetime (+ before/after delay) — fonctionne comme un CRON caché</a:t>
                      </a:r>
                      <a:endParaRPr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6" name="Google Shape;486;p12"/>
          <p:cNvSpPr txBox="1"/>
          <p:nvPr/>
        </p:nvSpPr>
        <p:spPr>
          <a:xfrm>
            <a:off x="432950" y="4470200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filter_domain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i="0" lang="fr-FR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filter_pre_domain</a:t>
            </a: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condition sur l'état après/avant modification, en plus du trigger.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92" name="Google Shape;49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83901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1"/>
          <p:cNvSpPr txBox="1"/>
          <p:nvPr/>
        </p:nvSpPr>
        <p:spPr>
          <a:xfrm>
            <a:off x="407363" y="3036651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4" name="Google Shape;494;p41"/>
          <p:cNvSpPr txBox="1"/>
          <p:nvPr/>
        </p:nvSpPr>
        <p:spPr>
          <a:xfrm>
            <a:off x="1963325" y="1721450"/>
            <a:ext cx="5860800" cy="8310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Créer une action automatisée OU un CRON (au choix) : à la création d'un livre, envoyer un email via le </a:t>
            </a:r>
            <a:r>
              <a:rPr b="1" i="0" lang="fr-FR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mail.template</a:t>
            </a: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 chapitre 18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95" name="Google Shape;49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00955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1"/>
          <p:cNvSpPr txBox="1"/>
          <p:nvPr/>
        </p:nvSpPr>
        <p:spPr>
          <a:xfrm>
            <a:off x="407363" y="5207199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7" name="Google Shape;497;p41"/>
          <p:cNvSpPr txBox="1"/>
          <p:nvPr/>
        </p:nvSpPr>
        <p:spPr>
          <a:xfrm>
            <a:off x="1963325" y="4281400"/>
            <a:ext cx="5860800" cy="5541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0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Limiter le déclenchement aux livres d'une catégorie spécifique (condition sur le domain du trigger)</a:t>
            </a:r>
            <a:endParaRPr b="1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2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503" name="Google Shape;503;p42"/>
          <p:cNvSpPr txBox="1"/>
          <p:nvPr/>
        </p:nvSpPr>
        <p:spPr>
          <a:xfrm>
            <a:off x="4588662" y="1900000"/>
            <a:ext cx="4822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chapter_19_automation</a:t>
            </a:r>
            <a:endParaRPr b="1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3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20 (16h05 - 16h25)</a:t>
            </a:r>
            <a:endParaRPr/>
          </a:p>
        </p:txBody>
      </p:sp>
      <p:sp>
        <p:nvSpPr>
          <p:cNvPr id="509" name="Google Shape;509;p43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API externe &amp; Webservices : XML-RPC / JSON-RPC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🎯 Intégrer Odoo avec l'extérieur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XML-RPC / JSON-RPC : principe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15" name="Google Shape;515;p44"/>
          <p:cNvGraphicFramePr/>
          <p:nvPr/>
        </p:nvGraphicFramePr>
        <p:xfrm>
          <a:off x="432950" y="2305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1722500"/>
                <a:gridCol w="7412200"/>
              </a:tblGrid>
              <a:tr h="42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Concept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API RPC standard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Exposée sur tous les modèles — mêmes droits d'accès que l'UI (ACL + ir.rule s'appliquent)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XML-RPC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Protocole historique, toujours supporté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JSON-RPC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Alternative moderne — [V19] les contrôleurs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json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 ont été renommés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jsonrpc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 (même fonctionnement)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Bibliothèques clientes Python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odoorpc, odoo-rpc-client, ou simplement xmlrpc.client (stdlib)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6" name="Google Shape;516;p44"/>
          <p:cNvSpPr txBox="1"/>
          <p:nvPr/>
        </p:nvSpPr>
        <p:spPr>
          <a:xfrm>
            <a:off x="432950" y="1515250"/>
            <a:ext cx="913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Notion de clé API : à privilégier au mot de passe (Paramètres &gt; Mon profil &gt; Sécurité du compte) — révocable individuellement, pas de 2FA à gérer côté script.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7" name="Google Shape;517;p44"/>
          <p:cNvSpPr txBox="1"/>
          <p:nvPr/>
        </p:nvSpPr>
        <p:spPr>
          <a:xfrm>
            <a:off x="432950" y="5357229"/>
            <a:ext cx="91347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Note :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-FR">
                <a:solidFill>
                  <a:schemeClr val="dk1"/>
                </a:solidFill>
              </a:rPr>
              <a:t>activer le paramètre “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web.json.enabled</a:t>
            </a:r>
            <a:r>
              <a:rPr lang="fr-FR">
                <a:solidFill>
                  <a:schemeClr val="dk1"/>
                </a:solidFill>
              </a:rPr>
              <a:t>” (</a:t>
            </a:r>
            <a:r>
              <a:rPr i="1" lang="fr-FR">
                <a:solidFill>
                  <a:schemeClr val="dk1"/>
                </a:solidFill>
              </a:rPr>
              <a:t>Paramètres / Technique / Paramètres système</a:t>
            </a:r>
            <a:r>
              <a:rPr lang="fr-FR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-FR">
                <a:solidFill>
                  <a:schemeClr val="dk1"/>
                </a:solidFill>
              </a:rPr>
              <a:t>remplacer “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odoo</a:t>
            </a:r>
            <a:r>
              <a:rPr lang="fr-FR">
                <a:solidFill>
                  <a:schemeClr val="dk1"/>
                </a:solidFill>
              </a:rPr>
              <a:t>” par “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fr-FR">
                <a:solidFill>
                  <a:schemeClr val="dk1"/>
                </a:solidFill>
              </a:rPr>
              <a:t>” dans l’URL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⇒ affiche toutes les données retournées par l’ORM pour une page donnée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Exemple : script Python externe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3" name="Google Shape;523;p45"/>
          <p:cNvSpPr txBox="1"/>
          <p:nvPr/>
        </p:nvSpPr>
        <p:spPr>
          <a:xfrm>
            <a:off x="432950" y="1426800"/>
            <a:ext cx="87921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 d'usages : script planifié, intégration tierce (site web, logiciel métier), connecteur entre 2 Odoo.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https://www.odoo.com/documentation/19.0/developer/reference/external_rpc_api.html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5"/>
          <p:cNvSpPr txBox="1"/>
          <p:nvPr/>
        </p:nvSpPr>
        <p:spPr>
          <a:xfrm>
            <a:off x="432950" y="2368000"/>
            <a:ext cx="8792100" cy="320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 xmlrpc.client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url, db, username, password = "https://mycompany.odoo.com", "mydb", "admin", "***"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common = xmlrpc.client.ServerProxy(f"{url}/xmlrpc/2/common")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uid = common.authenticate(db, username, password, {})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models = xmlrpc.client.ServerProxy(f"{url}/xmlrpc/2/object")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books = models.execute_kw(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db, uid, password,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"library.book", "search_read",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[[("state", "=", "available")]],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{"fields": ["name", "isbn"]},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9b149fd4e_0_2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Définir de nouveaux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endpoints</a:t>
            </a:r>
            <a:r>
              <a:rPr lang="fr-FR"/>
              <a:t> Odoo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0" name="Google Shape;530;g3f9b149fd4e_0_29"/>
          <p:cNvSpPr txBox="1"/>
          <p:nvPr/>
        </p:nvSpPr>
        <p:spPr>
          <a:xfrm>
            <a:off x="681050" y="1721450"/>
            <a:ext cx="6502800" cy="18162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Deux options majeures 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“Rapide” : méthode native de l’ORM sans “_” ⇒ exposée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“Complet” : Projet OCA </a:t>
            </a:r>
            <a:r>
              <a:rPr b="0" i="0" lang="fr-FR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https://github.com/OCA/rest-framework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maîtrise de la sécurité, les méthodes Odoo ne sont pas exposées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6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21 (16h25 - 16h40)</a:t>
            </a:r>
            <a:endParaRPr/>
          </a:p>
        </p:txBody>
      </p:sp>
      <p:sp>
        <p:nvSpPr>
          <p:cNvPr id="536" name="Google Shape;536;p46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Déploiement en PROD, administration &amp; maintenance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🎯 Maintenir Odoo en PROD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7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Mise en PROD : les briques classiques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42" name="Google Shape;542;p47"/>
          <p:cNvGraphicFramePr/>
          <p:nvPr/>
        </p:nvGraphicFramePr>
        <p:xfrm>
          <a:off x="432950" y="1868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1890600"/>
                <a:gridCol w="7244100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 u="none" cap="none" strike="noStrike">
                          <a:solidFill>
                            <a:schemeClr val="dk1"/>
                          </a:solidFill>
                        </a:rPr>
                        <a:t>Brique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nginx (reverse proxy)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Termine le HTTPS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Sert les fichiers statiques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Répartit vers Odoo (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proxy_mode=True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 dans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odoo.conf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Note : en dev, nous utilisons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traefik</a:t>
                      </a: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 dans l’image Docker à la place de </a:t>
                      </a: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nginx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systemd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Démarre / relance le service au boot, gère les logs (journalctl)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--workers N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Multi-PROCESSUS (pas multi-threading) : N workers HTTP + processus dédiés cron/longpolling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odoo-template</a:t>
                      </a:r>
                      <a:b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-shared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Approche utilisée en formation : conteneurisation, reproductibilité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3" name="Google Shape;543;p47"/>
          <p:cNvSpPr txBox="1"/>
          <p:nvPr/>
        </p:nvSpPr>
        <p:spPr>
          <a:xfrm>
            <a:off x="432950" y="1414400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Écho à la démo « from scratch » du Jour 1 : ce que docky fait sous le capot.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8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Sécurité &amp; administration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49" name="Google Shape;549;p48"/>
          <p:cNvGraphicFramePr/>
          <p:nvPr/>
        </p:nvGraphicFramePr>
        <p:xfrm>
          <a:off x="432950" y="19017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2002650"/>
                <a:gridCol w="7132050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Paramètre / outil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admin_passwd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Protège /web/database/manager — mot de passe fort, jamais le défaut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proxy_mode = True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Fait confiance aux en-têtes X-Forwarded-* du reverse proxy — obligatoire derrière nginx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list_db = False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Cache la liste des bases de données en production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Sentry (module OCA)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Monitoring et remontée d'erreurs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odoo shell / click-odoo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Accès Python direct à l'ORM en ligne de commande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click-odoo-update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Met à jour automatiquement les modules dont le hash a changé — brique CI/CD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0" name="Google Shape;550;p48"/>
          <p:cNvSpPr txBox="1"/>
          <p:nvPr/>
        </p:nvSpPr>
        <p:spPr>
          <a:xfrm>
            <a:off x="432950" y="999775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Odoo ne fait pas de multi-threading à proprement parler : c'est un modèle multi-processus. Doc : https://www.odoo.com/documentation/19.0/administration/on_premise/deploy.html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"/>
          <p:cNvSpPr txBox="1"/>
          <p:nvPr/>
        </p:nvSpPr>
        <p:spPr>
          <a:xfrm>
            <a:off x="603125" y="885775"/>
            <a:ext cx="6849600" cy="50178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Chemin 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nettoie / refactorise d’abord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dans la version d’origine… et donc j’ai des tests vérifiés ou j’en fais, que je valide avec le client : sinon je suis aveugle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 transforme ma BDD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avec OpenUpgrade et/ou mes scripts de migrations custom : par chaque version. Ex pour une 16 → 19 : 16 → 17 puis 17 → 18 puis 18 → 19.</a:t>
            </a:r>
            <a:b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Ces étapes sont automatisées : je devrai le refaire le jour de la bascule.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 scripts customs n’ont 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 besoin de fonctionner sur les versions intermédiaires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(très bonnes nouvelles !), </a:t>
            </a: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uniquement sur la version finale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Ils ne doivent toutefois pas faire planter le lancement dans Odoo dans les versions intermédiaires.</a:t>
            </a:r>
            <a:b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données de ces modules seront ignorées (idle) par Odoo.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Outils 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OpenUpgrade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2 usages : migrer les modules Odoo CE et OCA ; et librairie d’aide à la migration de mes modules custom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Toujours tester en staging</a:t>
            </a:r>
            <a:r>
              <a:rPr b="0" i="0" lang="fr-F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avant la PROD, avec un jeu de données représentatif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Monter de version : méthodologie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9b149fd4e_0_5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Phases de migrations</a:t>
            </a:r>
            <a:endParaRPr/>
          </a:p>
        </p:txBody>
      </p:sp>
      <p:graphicFrame>
        <p:nvGraphicFramePr>
          <p:cNvPr id="562" name="Google Shape;562;g3f9b149fd4e_0_55"/>
          <p:cNvGraphicFramePr/>
          <p:nvPr/>
        </p:nvGraphicFramePr>
        <p:xfrm>
          <a:off x="432950" y="14899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{7C80AF21-1689-4715-899D-E255CA278F0B}</a:tableStyleId>
              </a:tblPr>
              <a:tblGrid>
                <a:gridCol w="2002650"/>
                <a:gridCol w="7132050"/>
              </a:tblGrid>
              <a:tr h="37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Phases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pre-migrate.py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Au tout début de l’upgrade du module.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Les modules précédents sont toujours dans la DB avec leur ancien nom de colonne.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Le nouveau code Python est toutefois chargé : si les champs ont changés de nom, ils sont accessibles uniquement par leur nouveau nom via l’ORM.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post-migrate.py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Juste après l’upgrade du module (et ses dépendances).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Les anciennes données n’ont pas encore été effacées de la BDD.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-"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Les anciens champs du module ne sont plus accessibles par l’ORM ; les nouveaux le sont.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end-migrate.py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Tous les modules sont migrés, les anciennes données ne sont pas encore effacées de la BDD.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9b149fd4e_0_215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Exemple de script de migration d’un module custom</a:t>
            </a:r>
            <a:endParaRPr/>
          </a:p>
        </p:txBody>
      </p:sp>
      <p:sp>
        <p:nvSpPr>
          <p:cNvPr id="568" name="Google Shape;568;g3f9b149fd4e_0_215"/>
          <p:cNvSpPr txBox="1"/>
          <p:nvPr/>
        </p:nvSpPr>
        <p:spPr>
          <a:xfrm>
            <a:off x="604250" y="1527405"/>
            <a:ext cx="8792100" cy="298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odoo import api, SUPERUSER_ID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 logging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_logger = logging.getLogger(__name__)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def migrate(cr, version):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version: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env = api.Environment(cr, SUPERUSER_ID, {})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cr.execute("""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ALTER TABLE my_custom_table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RENAME COLUMN amount TO amount_unitary;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""")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1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Des questions ?</a:t>
            </a:r>
            <a:endParaRPr/>
          </a:p>
        </p:txBody>
      </p:sp>
      <p:sp>
        <p:nvSpPr>
          <p:cNvPr id="574" name="Google Shape;574;p51"/>
          <p:cNvSpPr txBox="1"/>
          <p:nvPr/>
        </p:nvSpPr>
        <p:spPr>
          <a:xfrm>
            <a:off x="4588662" y="1900000"/>
            <a:ext cx="4822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fr-FR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🙋‍♂️🙋‍♀️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3"/>
          <p:cNvSpPr txBox="1"/>
          <p:nvPr>
            <p:ph idx="1" type="body"/>
          </p:nvPr>
        </p:nvSpPr>
        <p:spPr>
          <a:xfrm>
            <a:off x="209040" y="809625"/>
            <a:ext cx="42771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EMARGEMENT FIN DE JOURNÉE 3 / FIN DE FORMATION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0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QCM de validation &amp; Questionnaire de satisfaction</a:t>
            </a:r>
            <a:endParaRPr/>
          </a:p>
        </p:txBody>
      </p:sp>
      <p:sp>
        <p:nvSpPr>
          <p:cNvPr id="585" name="Google Shape;585;p50"/>
          <p:cNvSpPr txBox="1"/>
          <p:nvPr/>
        </p:nvSpPr>
        <p:spPr>
          <a:xfrm>
            <a:off x="4588662" y="1900000"/>
            <a:ext cx="4822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QCM fourni par Ambient IT (5 questions)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⭐ Questionnaire de satisfaction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Émargement fin de formation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2"/>
          <p:cNvSpPr txBox="1"/>
          <p:nvPr>
            <p:ph type="title"/>
          </p:nvPr>
        </p:nvSpPr>
        <p:spPr>
          <a:xfrm>
            <a:off x="289324" y="2299219"/>
            <a:ext cx="4584234" cy="650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Fin de la formation !</a:t>
            </a:r>
            <a:endParaRPr/>
          </a:p>
        </p:txBody>
      </p:sp>
      <p:sp>
        <p:nvSpPr>
          <p:cNvPr id="591" name="Google Shape;591;p52"/>
          <p:cNvSpPr txBox="1"/>
          <p:nvPr/>
        </p:nvSpPr>
        <p:spPr>
          <a:xfrm>
            <a:off x="289324" y="3150000"/>
            <a:ext cx="45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2024-03-11T17:30:13Z</dcterms:created>
  <dc:creator>Laurence SALLER</dc:creator>
</cp:coreProperties>
</file>